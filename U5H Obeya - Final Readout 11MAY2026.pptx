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5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6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7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8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4"/>
    <p:sldMasterId id="2147483772" r:id="rId5"/>
    <p:sldMasterId id="2147483779" r:id="rId6"/>
    <p:sldMasterId id="2147483800" r:id="rId7"/>
    <p:sldMasterId id="2147483819" r:id="rId8"/>
    <p:sldMasterId id="2147483837" r:id="rId9"/>
    <p:sldMasterId id="2147483843" r:id="rId10"/>
    <p:sldMasterId id="2147483864" r:id="rId11"/>
    <p:sldMasterId id="2147483888" r:id="rId12"/>
  </p:sldMasterIdLst>
  <p:notesMasterIdLst>
    <p:notesMasterId r:id="rId41"/>
  </p:notesMasterIdLst>
  <p:sldIdLst>
    <p:sldId id="440" r:id="rId13"/>
    <p:sldId id="327" r:id="rId14"/>
    <p:sldId id="2147483595" r:id="rId15"/>
    <p:sldId id="2147483596" r:id="rId16"/>
    <p:sldId id="2147483647" r:id="rId17"/>
    <p:sldId id="266" r:id="rId18"/>
    <p:sldId id="318" r:id="rId19"/>
    <p:sldId id="261" r:id="rId20"/>
    <p:sldId id="268" r:id="rId21"/>
    <p:sldId id="265" r:id="rId22"/>
    <p:sldId id="2147483597" r:id="rId23"/>
    <p:sldId id="2147483605" r:id="rId24"/>
    <p:sldId id="2147483599" r:id="rId25"/>
    <p:sldId id="267" r:id="rId26"/>
    <p:sldId id="2147483603" r:id="rId27"/>
    <p:sldId id="2147483604" r:id="rId28"/>
    <p:sldId id="269" r:id="rId29"/>
    <p:sldId id="303" r:id="rId30"/>
    <p:sldId id="2147483600" r:id="rId31"/>
    <p:sldId id="508" r:id="rId32"/>
    <p:sldId id="2147483598" r:id="rId33"/>
    <p:sldId id="2147483602" r:id="rId34"/>
    <p:sldId id="326" r:id="rId35"/>
    <p:sldId id="2147483601" r:id="rId36"/>
    <p:sldId id="2147483646" r:id="rId37"/>
    <p:sldId id="270" r:id="rId38"/>
    <p:sldId id="2147483645" r:id="rId39"/>
    <p:sldId id="263" r:id="rId4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5984E-6D9A-BD9C-85A5-789BAFC5A146}" name="Ed Sarrat" initials="" userId="S::ed.sarrat.yk@renesas.com::5a092cd4-02a0-4e54-ab47-a22aeec2bddf" providerId="AD"/>
  <p188:author id="{B588397C-9675-62BB-B353-891063B990EA}" name="Juergen Himmelberg" initials="JH" userId="S::juergen.himmelberg@renesas.com::eed049c7-8398-4067-9288-ee672c46a84a" providerId="AD"/>
  <p188:author id="{8343B7D1-E9CA-B50D-04BF-F8AF48F6D8F5}" name="Alfredo Baratta" initials="AB" userId="S::alfredo.baratta.pz@renesas.com::d7a39868-ad9d-4b57-8252-c3d9246e223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EBE"/>
    <a:srgbClr val="706F6F"/>
    <a:srgbClr val="999998"/>
    <a:srgbClr val="9E9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737420-28D8-4B2C-B66E-BB895E0DDA6A}" v="996" dt="2026-05-13T04:00:34.132"/>
    <p1510:client id="{881D38E2-9D15-4BDD-BD1E-6B5643121A51}" v="2663" dt="2026-05-14T13:06:27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CBA01-7DA4-5E5F-39D8-BC0DA725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8AFFE-FCE0-E034-AB2E-D49C2A976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29DC1-3784-1233-EBD6-F4BCC0ED5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F00F5-F806-2964-D802-3784A6601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37A20C-0A41-4975-BF38-102D39C809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544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F65B6-55CC-95F1-8A28-13C604D3E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45334-DB09-BD19-1DFF-EE84F43DB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2463D-6F7A-F56C-B31D-072B15E04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arch is customer using, planning for 2030?</a:t>
            </a:r>
          </a:p>
          <a:p>
            <a:r>
              <a:rPr lang="en-US"/>
              <a:t>Ask about Audio in zones- AVB vs A2B.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B99D0-A0D1-066C-6327-212FAB3C0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25D16B-934A-4DDA-AA9D-F9317AC24A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021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D75FB-7651-4B1C-2E24-0240F475E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94678-075D-A911-156B-9DA764E09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6A226-3434-6D0F-8F43-77264BC0F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arch is customer using, planning for 2030?</a:t>
            </a:r>
          </a:p>
          <a:p>
            <a:r>
              <a:rPr lang="en-US"/>
              <a:t>Ask about Audio in zones- AVB vs A2B.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83B7C-D632-AB55-8423-8C8F2EC24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25D16B-934A-4DDA-AA9D-F9317AC24A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863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39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88649-04BB-378B-A8DE-9C262620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DA0F8-7F8D-F95D-3D64-0BC1B28F1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8356A-6F00-AB3A-1B6A-8F9543105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6EDE1-B9E1-7C86-EA90-D1AAAB7B0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0F7AF2-A6B3-4536-BDF0-95118E5BAB69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0134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AC759-D268-6D2D-D23D-6EFF688D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E602D-4AE7-3A75-EB42-E33806A79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D22B9-5E65-88D8-A526-008F8EBB3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581AC-63F7-987E-B247-3EFC72D59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0F7AF2-A6B3-4536-BDF0-95118E5BAB69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257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9A942F-B382-4983-B83D-E488D3E0F72E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18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7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875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400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A15355D3-CEB8-489E-88A7-11B56E8745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091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BE3FFBE7-B0B8-40F2-A1F7-6933ED5360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039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A82DFE47-0884-463E-8FD8-434DEC37F45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62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B76D4DD0-4EDD-4DFD-9117-94AB0DE11A6B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330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CE41CD3C-03A4-4769-A3DC-5D30FCB02D61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688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48124AEF-254D-4661-97A8-FC2C4E7C939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4953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2BAE940A-B6B2-4062-A10D-8E38DBE86AC8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3291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D3A74278-5E33-47CA-ADB1-29C6159D03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0299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en-US" altLang="ja-JP" noProof="0"/>
              <a:t>Click to edit Master text styles</a:t>
            </a:r>
          </a:p>
          <a:p>
            <a:pPr lvl="1"/>
            <a:r>
              <a:rPr kumimoji="1" lang="en-US" altLang="ja-JP" noProof="0"/>
              <a:t>Second level</a:t>
            </a:r>
          </a:p>
          <a:p>
            <a:pPr lvl="2"/>
            <a:r>
              <a:rPr kumimoji="1" lang="en-US" altLang="ja-JP" noProof="0"/>
              <a:t>Third level</a:t>
            </a:r>
          </a:p>
          <a:p>
            <a:pPr lvl="3"/>
            <a:r>
              <a:rPr kumimoji="1" lang="en-US" altLang="ja-JP" noProof="0"/>
              <a:t>Fourth level</a:t>
            </a:r>
          </a:p>
          <a:p>
            <a:pPr lvl="4"/>
            <a:r>
              <a:rPr kumimoji="1" lang="en-US" altLang="ja-JP" noProof="0"/>
              <a:t>Fifth level</a:t>
            </a:r>
            <a:endParaRPr kumimoji="1" lang="en-US" noProof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6860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2C5DDBA-90B9-4961-A14B-98B9546E714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1197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en-US" altLang="ja-JP"/>
              <a:t>Click icon to add table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E5422D39-5700-42E9-887F-A2244623264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0067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2457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0298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943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102280"/>
            <a:ext cx="11391056" cy="573683"/>
          </a:xfrm>
        </p:spPr>
        <p:txBody>
          <a:bodyPr wrap="square">
            <a:spAutoFit/>
          </a:bodyPr>
          <a:lstStyle>
            <a:lvl1pPr>
              <a:defRPr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69920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Rechteck 9"/>
          <p:cNvSpPr/>
          <p:nvPr userDrawn="1"/>
        </p:nvSpPr>
        <p:spPr>
          <a:xfrm>
            <a:off x="373188" y="-744"/>
            <a:ext cx="11411443" cy="6156000"/>
          </a:xfrm>
          <a:prstGeom prst="rect">
            <a:avLst/>
          </a:prstGeom>
          <a:solidFill>
            <a:srgbClr val="9D9D9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テキスト プレースホルダー 3"/>
          <p:cNvSpPr txBox="1">
            <a:spLocks/>
          </p:cNvSpPr>
          <p:nvPr userDrawn="1"/>
        </p:nvSpPr>
        <p:spPr>
          <a:xfrm>
            <a:off x="1248208" y="-1"/>
            <a:ext cx="6720000" cy="2592000"/>
          </a:xfrm>
          <a:prstGeom prst="rect">
            <a:avLst/>
          </a:prstGeom>
          <a:solidFill>
            <a:srgbClr val="06418C"/>
          </a:solidFill>
        </p:spPr>
        <p:txBody>
          <a:bodyPr vert="horz" lIns="252000" tIns="252000" rIns="252000" bIns="25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1" sz="3600" b="1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None/>
              <a:defRPr kumimoji="1" sz="20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ja-JP" altLang="en-US" sz="36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プレースホルダー 4"/>
          <p:cNvSpPr txBox="1">
            <a:spLocks/>
          </p:cNvSpPr>
          <p:nvPr userDrawn="1"/>
        </p:nvSpPr>
        <p:spPr>
          <a:xfrm>
            <a:off x="1248208" y="2700000"/>
            <a:ext cx="6720000" cy="1566002"/>
          </a:xfrm>
          <a:prstGeom prst="rect">
            <a:avLst/>
          </a:prstGeom>
          <a:solidFill>
            <a:schemeClr val="bg1"/>
          </a:solidFill>
        </p:spPr>
        <p:txBody>
          <a:bodyPr vert="horz" lIns="252000" tIns="180000" rIns="180000" bIns="180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1" sz="1600" b="0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None/>
              <a:defRPr kumimoji="1" sz="1600" b="0" kern="1200" cap="none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</a:p>
        </p:txBody>
      </p:sp>
      <p:sp>
        <p:nvSpPr>
          <p:cNvPr id="6" name="日付プレースホルダー 3"/>
          <p:cNvSpPr>
            <a:spLocks noGrp="1"/>
          </p:cNvSpPr>
          <p:nvPr>
            <p:ph type="dt" sz="half" idx="11"/>
          </p:nvPr>
        </p:nvSpPr>
        <p:spPr>
          <a:xfrm>
            <a:off x="1487717" y="2726952"/>
            <a:ext cx="2112235" cy="270000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600" baseline="0">
                <a:solidFill>
                  <a:srgbClr val="06418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CD6929C-3E50-42AA-80A3-DA4A18579FAB}" type="datetime3">
              <a:rPr lang="en-US" altLang="ja-JP" smtClean="0"/>
              <a:t>5 June 2026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698419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102280"/>
            <a:ext cx="11391056" cy="573683"/>
          </a:xfrm>
        </p:spPr>
        <p:txBody>
          <a:bodyPr wrap="square">
            <a:sp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64867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0654" y="569005"/>
            <a:ext cx="11540002" cy="481350"/>
          </a:xfrm>
        </p:spPr>
        <p:txBody>
          <a:bodyPr wrap="square" lIns="0" tIns="0" rIns="0" bIns="0" anchor="b" anchorCtr="0">
            <a:sp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E0A42FF3-B3B8-41A2-AEA8-AFD596E71A7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5726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rgbClr val="9D9D9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Textplatzhalter 11"/>
          <p:cNvSpPr txBox="1">
            <a:spLocks/>
          </p:cNvSpPr>
          <p:nvPr userDrawn="1"/>
        </p:nvSpPr>
        <p:spPr>
          <a:xfrm>
            <a:off x="468000" y="1080000"/>
            <a:ext cx="7920000" cy="1628920"/>
          </a:xfrm>
          <a:prstGeom prst="rect">
            <a:avLst/>
          </a:prstGeom>
          <a:solidFill>
            <a:srgbClr val="06418C"/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3600" b="1" kern="1200" cap="all" baseline="0">
                <a:solidFill>
                  <a:schemeClr val="bg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None/>
              <a:defRPr kumimoji="1" sz="2000" b="1" kern="1200" cap="all">
                <a:solidFill>
                  <a:schemeClr val="bg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ja-JP" altLang="en-US" noProof="0"/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93DBF259-0326-4B11-83C2-1193E1BEB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438DE00-DDAF-4112-85F6-497B99D6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36" y="1375337"/>
            <a:ext cx="7464996" cy="541495"/>
          </a:xfrm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175039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Rechteck 5"/>
          <p:cNvSpPr/>
          <p:nvPr userDrawn="1"/>
        </p:nvSpPr>
        <p:spPr>
          <a:xfrm>
            <a:off x="624000" y="540000"/>
            <a:ext cx="11088624" cy="5616000"/>
          </a:xfrm>
          <a:prstGeom prst="rect">
            <a:avLst/>
          </a:prstGeom>
          <a:solidFill>
            <a:srgbClr val="9D9D9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9" name="Textplatzhalter 13"/>
          <p:cNvSpPr txBox="1">
            <a:spLocks/>
          </p:cNvSpPr>
          <p:nvPr userDrawn="1"/>
        </p:nvSpPr>
        <p:spPr>
          <a:xfrm>
            <a:off x="1080000" y="1411759"/>
            <a:ext cx="7040000" cy="300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1" sz="1800" b="1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1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1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1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1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 Narrow" panose="020B0606020202030204" pitchFamily="34" charset="0"/>
                <a:ea typeface="メイリオ" panose="020B0604030504040204" pitchFamily="50" charset="-128"/>
                <a:cs typeface="メイリオ" panose="020B0604030504040204" pitchFamily="50" charset="-128"/>
              </a:rPr>
              <a:t>Renesas.com</a:t>
            </a:r>
            <a:endParaRPr kumimoji="1" lang="ja-JP" altLang="en-US" sz="18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 Narrow" panose="020B0606020202030204" pitchFamily="34" charset="0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7" name="Gerade Verbindung 7">
            <a:extLst>
              <a:ext uri="{FF2B5EF4-FFF2-40B4-BE49-F238E27FC236}">
                <a16:creationId xmlns:a16="http://schemas.microsoft.com/office/drawing/2014/main" id="{D1321CC1-C11E-47B9-8DD2-2362D1F580EC}"/>
              </a:ext>
            </a:extLst>
          </p:cNvPr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6529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09987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5332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82458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388929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A15355D3-CEB8-489E-88A7-11B56E8745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75628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BE3FFBE7-B0B8-40F2-A1F7-6933ED5360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32804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A82DFE47-0884-463E-8FD8-434DEC37F45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9179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B76D4DD0-4EDD-4DFD-9117-94AB0DE11A6B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78561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CE41CD3C-03A4-4769-A3DC-5D30FCB02D61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96752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48124AEF-254D-4661-97A8-FC2C4E7C939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46314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2BAE940A-B6B2-4062-A10D-8E38DBE86AC8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05610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D3A74278-5E33-47CA-ADB1-29C6159D03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10952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en-US" altLang="ja-JP" noProof="0"/>
              <a:t>Click to edit Master text styles</a:t>
            </a:r>
          </a:p>
          <a:p>
            <a:pPr lvl="1"/>
            <a:r>
              <a:rPr kumimoji="1" lang="en-US" altLang="ja-JP" noProof="0"/>
              <a:t>Second level</a:t>
            </a:r>
          </a:p>
          <a:p>
            <a:pPr lvl="2"/>
            <a:r>
              <a:rPr kumimoji="1" lang="en-US" altLang="ja-JP" noProof="0"/>
              <a:t>Third level</a:t>
            </a:r>
          </a:p>
          <a:p>
            <a:pPr lvl="3"/>
            <a:r>
              <a:rPr kumimoji="1" lang="en-US" altLang="ja-JP" noProof="0"/>
              <a:t>Fourth level</a:t>
            </a:r>
          </a:p>
          <a:p>
            <a:pPr lvl="4"/>
            <a:r>
              <a:rPr kumimoji="1" lang="en-US" altLang="ja-JP" noProof="0"/>
              <a:t>Fifth level</a:t>
            </a:r>
            <a:endParaRPr kumimoji="1" lang="en-US" noProof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06076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2C5DDBA-90B9-4961-A14B-98B9546E714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39734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en-US" altLang="ja-JP"/>
              <a:t>Click icon to add table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E5422D39-5700-42E9-887F-A2244623264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396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96255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3012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9083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729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699914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11774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86921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BE3FFBE7-B0B8-40F2-A1F7-6933ED5360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22492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A82DFE47-0884-463E-8FD8-434DEC37F45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883440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B76D4DD0-4EDD-4DFD-9117-94AB0DE11A6B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679608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CE41CD3C-03A4-4769-A3DC-5D30FCB02D61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92984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48124AEF-254D-4661-97A8-FC2C4E7C939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458335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2BAE940A-B6B2-4062-A10D-8E38DBE86AC8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72379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D3A74278-5E33-47CA-ADB1-29C6159D03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340243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ja-JP" altLang="en-US" noProof="0"/>
              <a:t>マスター テキストの書式設定</a:t>
            </a:r>
          </a:p>
          <a:p>
            <a:pPr lvl="1"/>
            <a:r>
              <a:rPr kumimoji="1" lang="ja-JP" altLang="en-US" noProof="0"/>
              <a:t>第 </a:t>
            </a:r>
            <a:r>
              <a:rPr kumimoji="1" lang="en-US" altLang="ja-JP" noProof="0"/>
              <a:t>2 </a:t>
            </a:r>
            <a:r>
              <a:rPr kumimoji="1" lang="ja-JP" altLang="en-US" noProof="0"/>
              <a:t>レベル</a:t>
            </a:r>
          </a:p>
          <a:p>
            <a:pPr lvl="2"/>
            <a:r>
              <a:rPr kumimoji="1" lang="ja-JP" altLang="en-US" noProof="0"/>
              <a:t>第 </a:t>
            </a:r>
            <a:r>
              <a:rPr kumimoji="1" lang="en-US" altLang="ja-JP" noProof="0"/>
              <a:t>3 </a:t>
            </a:r>
            <a:r>
              <a:rPr kumimoji="1" lang="ja-JP" altLang="en-US" noProof="0"/>
              <a:t>レベル</a:t>
            </a:r>
          </a:p>
          <a:p>
            <a:pPr lvl="3"/>
            <a:r>
              <a:rPr kumimoji="1" lang="ja-JP" altLang="en-US" noProof="0"/>
              <a:t>第 </a:t>
            </a:r>
            <a:r>
              <a:rPr kumimoji="1" lang="en-US" altLang="ja-JP" noProof="0"/>
              <a:t>4 </a:t>
            </a:r>
            <a:r>
              <a:rPr kumimoji="1" lang="ja-JP" altLang="en-US" noProof="0"/>
              <a:t>レベル</a:t>
            </a:r>
          </a:p>
          <a:p>
            <a:pPr lvl="4"/>
            <a:r>
              <a:rPr kumimoji="1" lang="ja-JP" altLang="en-US" noProof="0"/>
              <a:t>第 </a:t>
            </a:r>
            <a:r>
              <a:rPr kumimoji="1" lang="en-US" altLang="ja-JP" noProof="0"/>
              <a:t>5 </a:t>
            </a:r>
            <a:r>
              <a:rPr kumimoji="1" lang="ja-JP" altLang="en-US" noProof="0"/>
              <a:t>レベル</a:t>
            </a:r>
            <a:endParaRPr kumimoji="1" lang="en-US" noProof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767794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2C5DDBA-90B9-4961-A14B-98B9546E714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437664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ja-JP" altLang="en-US"/>
              <a:t>表を追加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E5422D39-5700-42E9-887F-A2244623264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220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047854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78807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0991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559831"/>
            <a:ext cx="8520000" cy="4431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2012 Renesas Electronics Europe.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B49C103-21B3-4F8E-8361-C02C0378F7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154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2217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159908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592424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A15355D3-CEB8-489E-88A7-11B56E8745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7525795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BE3FFBE7-B0B8-40F2-A1F7-6933ED5360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53933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A82DFE47-0884-463E-8FD8-434DEC37F45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75753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B76D4DD0-4EDD-4DFD-9117-94AB0DE11A6B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4542948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CE41CD3C-03A4-4769-A3DC-5D30FCB02D61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7560217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48124AEF-254D-4661-97A8-FC2C4E7C939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22789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2BAE940A-B6B2-4062-A10D-8E38DBE86AC8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715135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D3A74278-5E33-47CA-ADB1-29C6159D03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588786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ja-JP" altLang="en-US" noProof="0"/>
              <a:t>マスター テキストの書式設定</a:t>
            </a:r>
          </a:p>
          <a:p>
            <a:pPr lvl="1"/>
            <a:r>
              <a:rPr kumimoji="1" lang="ja-JP" altLang="en-US" noProof="0"/>
              <a:t>第 </a:t>
            </a:r>
            <a:r>
              <a:rPr kumimoji="1" lang="en-US" altLang="ja-JP" noProof="0"/>
              <a:t>2 </a:t>
            </a:r>
            <a:r>
              <a:rPr kumimoji="1" lang="ja-JP" altLang="en-US" noProof="0"/>
              <a:t>レベル</a:t>
            </a:r>
          </a:p>
          <a:p>
            <a:pPr lvl="2"/>
            <a:r>
              <a:rPr kumimoji="1" lang="ja-JP" altLang="en-US" noProof="0"/>
              <a:t>第 </a:t>
            </a:r>
            <a:r>
              <a:rPr kumimoji="1" lang="en-US" altLang="ja-JP" noProof="0"/>
              <a:t>3 </a:t>
            </a:r>
            <a:r>
              <a:rPr kumimoji="1" lang="ja-JP" altLang="en-US" noProof="0"/>
              <a:t>レベル</a:t>
            </a:r>
          </a:p>
          <a:p>
            <a:pPr lvl="3"/>
            <a:r>
              <a:rPr kumimoji="1" lang="ja-JP" altLang="en-US" noProof="0"/>
              <a:t>第 </a:t>
            </a:r>
            <a:r>
              <a:rPr kumimoji="1" lang="en-US" altLang="ja-JP" noProof="0"/>
              <a:t>4 </a:t>
            </a:r>
            <a:r>
              <a:rPr kumimoji="1" lang="ja-JP" altLang="en-US" noProof="0"/>
              <a:t>レベル</a:t>
            </a:r>
          </a:p>
          <a:p>
            <a:pPr lvl="4"/>
            <a:r>
              <a:rPr kumimoji="1" lang="ja-JP" altLang="en-US" noProof="0"/>
              <a:t>第 </a:t>
            </a:r>
            <a:r>
              <a:rPr kumimoji="1" lang="en-US" altLang="ja-JP" noProof="0"/>
              <a:t>5 </a:t>
            </a:r>
            <a:r>
              <a:rPr kumimoji="1" lang="ja-JP" altLang="en-US" noProof="0"/>
              <a:t>レベル</a:t>
            </a:r>
            <a:endParaRPr kumimoji="1" lang="en-US" noProof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58320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2C5DDBA-90B9-4961-A14B-98B9546E714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939376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ja-JP" altLang="en-US"/>
              <a:t>表を追加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E5422D39-5700-42E9-887F-A2244623264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7621289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927641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473635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51395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Rechteck 9"/>
          <p:cNvSpPr/>
          <p:nvPr userDrawn="1"/>
        </p:nvSpPr>
        <p:spPr>
          <a:xfrm>
            <a:off x="373188" y="-744"/>
            <a:ext cx="11411443" cy="6156000"/>
          </a:xfrm>
          <a:prstGeom prst="rect">
            <a:avLst/>
          </a:prstGeom>
          <a:solidFill>
            <a:srgbClr val="9D9D9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テキスト プレースホルダー 3"/>
          <p:cNvSpPr txBox="1">
            <a:spLocks/>
          </p:cNvSpPr>
          <p:nvPr userDrawn="1"/>
        </p:nvSpPr>
        <p:spPr>
          <a:xfrm>
            <a:off x="1248208" y="-1"/>
            <a:ext cx="6720000" cy="2592000"/>
          </a:xfrm>
          <a:prstGeom prst="rect">
            <a:avLst/>
          </a:prstGeom>
          <a:solidFill>
            <a:srgbClr val="06418C"/>
          </a:solidFill>
        </p:spPr>
        <p:txBody>
          <a:bodyPr vert="horz" lIns="252000" tIns="252000" rIns="252000" bIns="25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1" sz="3600" b="1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None/>
              <a:defRPr kumimoji="1" sz="20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ja-JP" altLang="en-US" sz="36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プレースホルダー 4"/>
          <p:cNvSpPr txBox="1">
            <a:spLocks/>
          </p:cNvSpPr>
          <p:nvPr userDrawn="1"/>
        </p:nvSpPr>
        <p:spPr>
          <a:xfrm>
            <a:off x="1248208" y="2700000"/>
            <a:ext cx="6720000" cy="1566002"/>
          </a:xfrm>
          <a:prstGeom prst="rect">
            <a:avLst/>
          </a:prstGeom>
          <a:solidFill>
            <a:schemeClr val="bg1"/>
          </a:solidFill>
        </p:spPr>
        <p:txBody>
          <a:bodyPr vert="horz" lIns="252000" tIns="180000" rIns="180000" bIns="180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1" sz="1600" b="0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None/>
              <a:defRPr kumimoji="1" sz="1600" b="0" kern="1200" cap="none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j-lt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</a:p>
        </p:txBody>
      </p:sp>
      <p:sp>
        <p:nvSpPr>
          <p:cNvPr id="6" name="日付プレースホルダー 3"/>
          <p:cNvSpPr>
            <a:spLocks noGrp="1"/>
          </p:cNvSpPr>
          <p:nvPr>
            <p:ph type="dt" sz="half" idx="11"/>
          </p:nvPr>
        </p:nvSpPr>
        <p:spPr>
          <a:xfrm>
            <a:off x="1487717" y="2726952"/>
            <a:ext cx="2112235" cy="270000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600" baseline="0">
                <a:solidFill>
                  <a:srgbClr val="06418C"/>
                </a:solidFill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F11598BD-D9BC-4240-A662-E139FE06E3A1}" type="datetime4">
              <a:rPr lang="en-US" altLang="ja-JP" smtClean="0"/>
              <a:t>June 5, 2026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8410612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102280"/>
            <a:ext cx="11391056" cy="573683"/>
          </a:xfrm>
        </p:spPr>
        <p:txBody>
          <a:bodyPr wrap="square">
            <a:spAutoFit/>
          </a:bodyPr>
          <a:lstStyle>
            <a:lvl1pPr>
              <a:defRPr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13133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0654" y="569005"/>
            <a:ext cx="11540002" cy="481350"/>
          </a:xfrm>
        </p:spPr>
        <p:txBody>
          <a:bodyPr wrap="square" lIns="0" tIns="0" rIns="0" bIns="0" anchor="b" anchorCtr="0">
            <a:spAutoFit/>
          </a:bodyPr>
          <a:lstStyle>
            <a:lvl1pPr>
              <a:defRPr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E0A42FF3-B3B8-41A2-AEA8-AFD596E71A7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97999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rgbClr val="9D9D9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Textplatzhalter 11"/>
          <p:cNvSpPr txBox="1">
            <a:spLocks/>
          </p:cNvSpPr>
          <p:nvPr userDrawn="1"/>
        </p:nvSpPr>
        <p:spPr>
          <a:xfrm>
            <a:off x="468000" y="1080000"/>
            <a:ext cx="7920000" cy="1628920"/>
          </a:xfrm>
          <a:prstGeom prst="rect">
            <a:avLst/>
          </a:prstGeom>
          <a:solidFill>
            <a:srgbClr val="06418C"/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3600" b="1" kern="1200" cap="all" baseline="0">
                <a:solidFill>
                  <a:schemeClr val="bg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None/>
              <a:defRPr kumimoji="1" sz="2000" b="1" kern="1200" cap="all">
                <a:solidFill>
                  <a:schemeClr val="bg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ja-JP" altLang="en-US" noProof="0">
              <a:latin typeface="+mj-lt"/>
            </a:endParaRP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93DBF259-0326-4B11-83C2-1193E1BEB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438DE00-DDAF-4112-85F6-497B99D6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36" y="1375337"/>
            <a:ext cx="7464996" cy="541495"/>
          </a:xfrm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5145608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Rechteck 5"/>
          <p:cNvSpPr/>
          <p:nvPr userDrawn="1"/>
        </p:nvSpPr>
        <p:spPr>
          <a:xfrm>
            <a:off x="624000" y="540000"/>
            <a:ext cx="11088624" cy="5616000"/>
          </a:xfrm>
          <a:prstGeom prst="rect">
            <a:avLst/>
          </a:prstGeom>
          <a:solidFill>
            <a:srgbClr val="9D9D9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9" name="Textplatzhalter 13"/>
          <p:cNvSpPr txBox="1">
            <a:spLocks/>
          </p:cNvSpPr>
          <p:nvPr userDrawn="1"/>
        </p:nvSpPr>
        <p:spPr>
          <a:xfrm>
            <a:off x="1080000" y="1411759"/>
            <a:ext cx="7040000" cy="300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1" sz="1800" b="1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1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1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1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1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 Narrow" panose="020B0606020202030204" pitchFamily="34" charset="0"/>
                <a:ea typeface="メイリオ" panose="020B0604030504040204" pitchFamily="50" charset="-128"/>
                <a:cs typeface="メイリオ" panose="020B0604030504040204" pitchFamily="50" charset="-128"/>
              </a:rPr>
              <a:t>Renesas.com</a:t>
            </a:r>
            <a:endParaRPr kumimoji="1" lang="ja-JP" altLang="en-US" sz="18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 Narrow" panose="020B0606020202030204" pitchFamily="34" charset="0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7" name="Gerade Verbindung 7">
            <a:extLst>
              <a:ext uri="{FF2B5EF4-FFF2-40B4-BE49-F238E27FC236}">
                <a16:creationId xmlns:a16="http://schemas.microsoft.com/office/drawing/2014/main" id="{D1321CC1-C11E-47B9-8DD2-2362D1F580EC}"/>
              </a:ext>
            </a:extLst>
          </p:cNvPr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98987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890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07190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254073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A15355D3-CEB8-489E-88A7-11B56E8745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075865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BE3FFBE7-B0B8-40F2-A1F7-6933ED5360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7469937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A82DFE47-0884-463E-8FD8-434DEC37F45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045371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B76D4DD0-4EDD-4DFD-9117-94AB0DE11A6B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164604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CE41CD3C-03A4-4769-A3DC-5D30FCB02D61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130798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48124AEF-254D-4661-97A8-FC2C4E7C939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10848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2BAE940A-B6B2-4062-A10D-8E38DBE86AC8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544110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D3A74278-5E33-47CA-ADB1-29C6159D03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210419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en-US" altLang="ja-JP" noProof="0"/>
              <a:t>Click to edit Master text styles</a:t>
            </a:r>
          </a:p>
          <a:p>
            <a:pPr lvl="1"/>
            <a:r>
              <a:rPr kumimoji="1" lang="en-US" altLang="ja-JP" noProof="0"/>
              <a:t>Second level</a:t>
            </a:r>
          </a:p>
          <a:p>
            <a:pPr lvl="2"/>
            <a:r>
              <a:rPr kumimoji="1" lang="en-US" altLang="ja-JP" noProof="0"/>
              <a:t>Third level</a:t>
            </a:r>
          </a:p>
          <a:p>
            <a:pPr lvl="3"/>
            <a:r>
              <a:rPr kumimoji="1" lang="en-US" altLang="ja-JP" noProof="0"/>
              <a:t>Fourth level</a:t>
            </a:r>
          </a:p>
          <a:p>
            <a:pPr lvl="4"/>
            <a:r>
              <a:rPr kumimoji="1" lang="en-US" altLang="ja-JP" noProof="0"/>
              <a:t>Fifth level</a:t>
            </a:r>
            <a:endParaRPr kumimoji="1" lang="en-US" noProof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9305954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2C5DDBA-90B9-4961-A14B-98B9546E714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314008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en-US" altLang="ja-JP"/>
              <a:t>Click icon to add table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E5422D39-5700-42E9-887F-A2244623264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007926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4010692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13286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68511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102280"/>
            <a:ext cx="11391056" cy="573683"/>
          </a:xfrm>
        </p:spPr>
        <p:txBody>
          <a:bodyPr wrap="square">
            <a:spAutoFit/>
          </a:bodyPr>
          <a:lstStyle>
            <a:lvl1pPr>
              <a:defRPr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5">
            <a:extLst>
              <a:ext uri="{FF2B5EF4-FFF2-40B4-BE49-F238E27FC236}">
                <a16:creationId xmlns:a16="http://schemas.microsoft.com/office/drawing/2014/main" id="{A6D1F3D3-D04B-2423-5701-ADB60C6BB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170799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rgbClr val="9D9D9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Textplatzhalter 11"/>
          <p:cNvSpPr txBox="1">
            <a:spLocks/>
          </p:cNvSpPr>
          <p:nvPr userDrawn="1"/>
        </p:nvSpPr>
        <p:spPr>
          <a:xfrm>
            <a:off x="468000" y="1080000"/>
            <a:ext cx="7920000" cy="1628920"/>
          </a:xfrm>
          <a:prstGeom prst="rect">
            <a:avLst/>
          </a:prstGeom>
          <a:solidFill>
            <a:srgbClr val="06418C"/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3600" b="1" kern="1200" cap="all" baseline="0">
                <a:solidFill>
                  <a:schemeClr val="bg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None/>
              <a:defRPr kumimoji="1" sz="2000" b="1" kern="1200" cap="all">
                <a:solidFill>
                  <a:schemeClr val="bg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ja-JP" altLang="en-US" noProof="0">
              <a:latin typeface="+mj-lt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438DE00-DDAF-4112-85F6-497B99D6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36" y="1375337"/>
            <a:ext cx="7464996" cy="541495"/>
          </a:xfrm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5">
            <a:extLst>
              <a:ext uri="{FF2B5EF4-FFF2-40B4-BE49-F238E27FC236}">
                <a16:creationId xmlns:a16="http://schemas.microsoft.com/office/drawing/2014/main" id="{ABF3C1C1-E517-CBB3-1B3F-6F0278E61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7448662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1610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88321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182796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A15355D3-CEB8-489E-88A7-11B56E8745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00762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BE3FFBE7-B0B8-40F2-A1F7-6933ED5360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161301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A82DFE47-0884-463E-8FD8-434DEC37F45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89620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B76D4DD0-4EDD-4DFD-9117-94AB0DE11A6B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8228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CE41CD3C-03A4-4769-A3DC-5D30FCB02D61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279155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48124AEF-254D-4661-97A8-FC2C4E7C939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6525914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2BAE940A-B6B2-4062-A10D-8E38DBE86AC8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648897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D3A74278-5E33-47CA-ADB1-29C6159D03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02792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en-US" altLang="ja-JP" noProof="0"/>
              <a:t>Click to edit Master text styles</a:t>
            </a:r>
          </a:p>
          <a:p>
            <a:pPr lvl="1"/>
            <a:r>
              <a:rPr kumimoji="1" lang="en-US" altLang="ja-JP" noProof="0"/>
              <a:t>Second level</a:t>
            </a:r>
          </a:p>
          <a:p>
            <a:pPr lvl="2"/>
            <a:r>
              <a:rPr kumimoji="1" lang="en-US" altLang="ja-JP" noProof="0"/>
              <a:t>Third level</a:t>
            </a:r>
          </a:p>
          <a:p>
            <a:pPr lvl="3"/>
            <a:r>
              <a:rPr kumimoji="1" lang="en-US" altLang="ja-JP" noProof="0"/>
              <a:t>Fourth level</a:t>
            </a:r>
          </a:p>
          <a:p>
            <a:pPr lvl="4"/>
            <a:r>
              <a:rPr kumimoji="1" lang="en-US" altLang="ja-JP" noProof="0"/>
              <a:t>Fifth level</a:t>
            </a:r>
            <a:endParaRPr kumimoji="1" lang="en-US" noProof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410423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2C5DDBA-90B9-4961-A14B-98B9546E714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508384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en-US" altLang="ja-JP"/>
              <a:t>Click icon to add table</a:t>
            </a:r>
            <a:endParaRPr lang="en-US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E5422D39-5700-42E9-887F-A2244623264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570929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230238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9892750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53891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102280"/>
            <a:ext cx="11391056" cy="573683"/>
          </a:xfrm>
        </p:spPr>
        <p:txBody>
          <a:bodyPr wrap="square">
            <a:spAutoFit/>
          </a:bodyPr>
          <a:lstStyle>
            <a:lvl1pPr>
              <a:defRPr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5">
            <a:extLst>
              <a:ext uri="{FF2B5EF4-FFF2-40B4-BE49-F238E27FC236}">
                <a16:creationId xmlns:a16="http://schemas.microsoft.com/office/drawing/2014/main" id="{A6D1F3D3-D04B-2423-5701-ADB60C6BB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246492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0654" y="569005"/>
            <a:ext cx="11540002" cy="481350"/>
          </a:xfrm>
        </p:spPr>
        <p:txBody>
          <a:bodyPr wrap="square" lIns="0" tIns="0" rIns="0" bIns="0" anchor="b" anchorCtr="0">
            <a:spAutoFit/>
          </a:bodyPr>
          <a:lstStyle>
            <a:lvl1pPr>
              <a:defRPr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E0A42FF3-B3B8-41A2-AEA8-AFD596E71A7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5">
            <a:extLst>
              <a:ext uri="{FF2B5EF4-FFF2-40B4-BE49-F238E27FC236}">
                <a16:creationId xmlns:a16="http://schemas.microsoft.com/office/drawing/2014/main" id="{A812E0D4-198E-4FF7-187E-9CE317D78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9573875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2470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35F32B1-41AB-E7BC-A967-C12E30965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>
            <a:noAutofit/>
          </a:bodyPr>
          <a:lstStyle>
            <a:lvl1pPr>
              <a:lnSpc>
                <a:spcPct val="11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en-US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6568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01041403-969F-3F1E-9622-C3C149344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>
            <a:noAutofit/>
          </a:bodyPr>
          <a:lstStyle>
            <a:lvl1pPr>
              <a:lnSpc>
                <a:spcPct val="11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024715428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658193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119171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D9643BA8-4253-9510-250A-81C12951E56B}"/>
              </a:ext>
            </a:extLst>
          </p:cNvPr>
          <p:cNvCxnSpPr>
            <a:cxnSpLocks/>
          </p:cNvCxnSpPr>
          <p:nvPr userDrawn="1"/>
        </p:nvCxnSpPr>
        <p:spPr>
          <a:xfrm>
            <a:off x="461899" y="595840"/>
            <a:ext cx="2400562" cy="0"/>
          </a:xfrm>
          <a:prstGeom prst="line">
            <a:avLst/>
          </a:prstGeom>
          <a:ln w="38100">
            <a:solidFill>
              <a:srgbClr val="797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62959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114143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B3406BE-2CBC-E74F-DEDF-71BB6B6D1D25}"/>
              </a:ext>
            </a:extLst>
          </p:cNvPr>
          <p:cNvCxnSpPr>
            <a:cxnSpLocks/>
          </p:cNvCxnSpPr>
          <p:nvPr userDrawn="1"/>
        </p:nvCxnSpPr>
        <p:spPr>
          <a:xfrm>
            <a:off x="461899" y="595840"/>
            <a:ext cx="2400562" cy="0"/>
          </a:xfrm>
          <a:prstGeom prst="line">
            <a:avLst/>
          </a:prstGeom>
          <a:ln w="38100">
            <a:solidFill>
              <a:srgbClr val="797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61838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114143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891DCD5-16A5-0AF0-EC0F-41C96D7B4B62}"/>
              </a:ext>
            </a:extLst>
          </p:cNvPr>
          <p:cNvCxnSpPr>
            <a:cxnSpLocks/>
          </p:cNvCxnSpPr>
          <p:nvPr userDrawn="1"/>
        </p:nvCxnSpPr>
        <p:spPr>
          <a:xfrm>
            <a:off x="461899" y="595840"/>
            <a:ext cx="2400562" cy="0"/>
          </a:xfrm>
          <a:prstGeom prst="line">
            <a:avLst/>
          </a:prstGeom>
          <a:ln w="38100">
            <a:solidFill>
              <a:srgbClr val="797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37296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114143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48E2F79-12BD-099C-B011-0E4A58E0CEB5}"/>
              </a:ext>
            </a:extLst>
          </p:cNvPr>
          <p:cNvCxnSpPr>
            <a:cxnSpLocks/>
          </p:cNvCxnSpPr>
          <p:nvPr userDrawn="1"/>
        </p:nvCxnSpPr>
        <p:spPr>
          <a:xfrm>
            <a:off x="461899" y="595840"/>
            <a:ext cx="2400562" cy="0"/>
          </a:xfrm>
          <a:prstGeom prst="line">
            <a:avLst/>
          </a:prstGeom>
          <a:ln w="38100">
            <a:solidFill>
              <a:srgbClr val="797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97514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114143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9FF4059-57BD-5BFD-F6C8-D9CACAF57F0B}"/>
              </a:ext>
            </a:extLst>
          </p:cNvPr>
          <p:cNvCxnSpPr>
            <a:cxnSpLocks/>
          </p:cNvCxnSpPr>
          <p:nvPr userDrawn="1"/>
        </p:nvCxnSpPr>
        <p:spPr>
          <a:xfrm>
            <a:off x="461899" y="595840"/>
            <a:ext cx="2400562" cy="0"/>
          </a:xfrm>
          <a:prstGeom prst="line">
            <a:avLst/>
          </a:prstGeom>
          <a:ln w="38100">
            <a:solidFill>
              <a:srgbClr val="797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6031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114143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6710C43-7D83-D1D9-63D4-84A2B03B8D3F}"/>
              </a:ext>
            </a:extLst>
          </p:cNvPr>
          <p:cNvCxnSpPr>
            <a:cxnSpLocks/>
          </p:cNvCxnSpPr>
          <p:nvPr userDrawn="1"/>
        </p:nvCxnSpPr>
        <p:spPr>
          <a:xfrm>
            <a:off x="461899" y="595840"/>
            <a:ext cx="2400562" cy="0"/>
          </a:xfrm>
          <a:prstGeom prst="line">
            <a:avLst/>
          </a:prstGeom>
          <a:ln w="38100">
            <a:solidFill>
              <a:srgbClr val="797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74572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114143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9F37FC7-B76D-39BA-276D-9A543819D318}"/>
              </a:ext>
            </a:extLst>
          </p:cNvPr>
          <p:cNvCxnSpPr>
            <a:cxnSpLocks/>
          </p:cNvCxnSpPr>
          <p:nvPr userDrawn="1"/>
        </p:nvCxnSpPr>
        <p:spPr>
          <a:xfrm>
            <a:off x="461899" y="595840"/>
            <a:ext cx="2400562" cy="0"/>
          </a:xfrm>
          <a:prstGeom prst="line">
            <a:avLst/>
          </a:prstGeom>
          <a:ln w="38100">
            <a:solidFill>
              <a:srgbClr val="797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57858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114143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849BB71-F8A5-B680-55D9-6A710FF5FA1A}"/>
              </a:ext>
            </a:extLst>
          </p:cNvPr>
          <p:cNvCxnSpPr>
            <a:cxnSpLocks/>
          </p:cNvCxnSpPr>
          <p:nvPr userDrawn="1"/>
        </p:nvCxnSpPr>
        <p:spPr>
          <a:xfrm>
            <a:off x="461899" y="595840"/>
            <a:ext cx="2400562" cy="0"/>
          </a:xfrm>
          <a:prstGeom prst="line">
            <a:avLst/>
          </a:prstGeom>
          <a:ln w="38100">
            <a:solidFill>
              <a:srgbClr val="797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6931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ja-JP" altLang="en-US" noProof="0"/>
              <a:t>マスター テキストの書式設定</a:t>
            </a:r>
          </a:p>
          <a:p>
            <a:pPr lvl="1"/>
            <a:r>
              <a:rPr kumimoji="1" lang="ja-JP" altLang="en-US" noProof="0"/>
              <a:t>第 </a:t>
            </a:r>
            <a:r>
              <a:rPr kumimoji="1" lang="en-US" altLang="ja-JP" noProof="0"/>
              <a:t>2 </a:t>
            </a:r>
            <a:r>
              <a:rPr kumimoji="1" lang="ja-JP" altLang="en-US" noProof="0"/>
              <a:t>レベル</a:t>
            </a:r>
          </a:p>
          <a:p>
            <a:pPr lvl="2"/>
            <a:r>
              <a:rPr kumimoji="1" lang="ja-JP" altLang="en-US" noProof="0"/>
              <a:t>第 </a:t>
            </a:r>
            <a:r>
              <a:rPr kumimoji="1" lang="en-US" altLang="ja-JP" noProof="0"/>
              <a:t>3 </a:t>
            </a:r>
            <a:r>
              <a:rPr kumimoji="1" lang="ja-JP" altLang="en-US" noProof="0"/>
              <a:t>レベル</a:t>
            </a:r>
          </a:p>
          <a:p>
            <a:pPr lvl="3"/>
            <a:r>
              <a:rPr kumimoji="1" lang="ja-JP" altLang="en-US" noProof="0"/>
              <a:t>第 </a:t>
            </a:r>
            <a:r>
              <a:rPr kumimoji="1" lang="en-US" altLang="ja-JP" noProof="0"/>
              <a:t>4 </a:t>
            </a:r>
            <a:r>
              <a:rPr kumimoji="1" lang="ja-JP" altLang="en-US" noProof="0"/>
              <a:t>レベル</a:t>
            </a:r>
          </a:p>
          <a:p>
            <a:pPr lvl="4"/>
            <a:r>
              <a:rPr kumimoji="1" lang="ja-JP" altLang="en-US" noProof="0"/>
              <a:t>第 </a:t>
            </a:r>
            <a:r>
              <a:rPr kumimoji="1" lang="en-US" altLang="ja-JP" noProof="0"/>
              <a:t>5 </a:t>
            </a:r>
            <a:r>
              <a:rPr kumimoji="1" lang="ja-JP" altLang="en-US" noProof="0"/>
              <a:t>レベル</a:t>
            </a:r>
            <a:endParaRPr kumimoji="1" lang="en-US" noProof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595102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114143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DC2C27D-D217-DA4B-D678-4E63872209BF}"/>
              </a:ext>
            </a:extLst>
          </p:cNvPr>
          <p:cNvCxnSpPr>
            <a:cxnSpLocks/>
          </p:cNvCxnSpPr>
          <p:nvPr userDrawn="1"/>
        </p:nvCxnSpPr>
        <p:spPr>
          <a:xfrm>
            <a:off x="461899" y="595840"/>
            <a:ext cx="2400562" cy="0"/>
          </a:xfrm>
          <a:prstGeom prst="line">
            <a:avLst/>
          </a:prstGeom>
          <a:ln w="38100">
            <a:solidFill>
              <a:srgbClr val="797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66716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114143"/>
            <a:ext cx="11232000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ja-JP" altLang="en-US"/>
              <a:t>表を追加</a:t>
            </a:r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47485E4B-93A8-7711-A90F-0944364F3184}"/>
              </a:ext>
            </a:extLst>
          </p:cNvPr>
          <p:cNvCxnSpPr>
            <a:cxnSpLocks/>
          </p:cNvCxnSpPr>
          <p:nvPr userDrawn="1"/>
        </p:nvCxnSpPr>
        <p:spPr>
          <a:xfrm>
            <a:off x="461899" y="595840"/>
            <a:ext cx="2400562" cy="0"/>
          </a:xfrm>
          <a:prstGeom prst="line">
            <a:avLst/>
          </a:prstGeom>
          <a:ln w="38100">
            <a:solidFill>
              <a:srgbClr val="797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0300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2DEBF08-D663-D428-1E76-227AE7DFE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1079998"/>
            <a:ext cx="7920000" cy="1501200"/>
          </a:xfrm>
          <a:solidFill>
            <a:schemeClr val="tx2"/>
          </a:solidFill>
        </p:spPr>
        <p:txBody>
          <a:bodyPr lIns="252000" tIns="180000" rIns="180000" bIns="180000" anchor="t" anchorCtr="0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24395804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B49693B3-EE11-6374-2E3F-298569FF6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1079997"/>
            <a:ext cx="7920000" cy="1501200"/>
          </a:xfrm>
          <a:solidFill>
            <a:schemeClr val="tx2"/>
          </a:solidFill>
        </p:spPr>
        <p:txBody>
          <a:bodyPr lIns="252000" tIns="180000" rIns="180000" bIns="180000" anchor="t" anchorCtr="0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36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68617918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020651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209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image" Target="../media/image1.gif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1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69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9.xml"/><Relationship Id="rId7" Type="http://schemas.openxmlformats.org/officeDocument/2006/relationships/image" Target="../media/image1.gif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94.xml"/><Relationship Id="rId18" Type="http://schemas.openxmlformats.org/officeDocument/2006/relationships/slideLayout" Target="../slideLayouts/slideLayout99.xml"/><Relationship Id="rId3" Type="http://schemas.openxmlformats.org/officeDocument/2006/relationships/slideLayout" Target="../slideLayouts/slideLayout84.xml"/><Relationship Id="rId21" Type="http://schemas.openxmlformats.org/officeDocument/2006/relationships/image" Target="../media/image1.gif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20" Type="http://schemas.openxmlformats.org/officeDocument/2006/relationships/theme" Target="../theme/theme7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1.xml"/><Relationship Id="rId19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13.xml"/><Relationship Id="rId1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03.xml"/><Relationship Id="rId21" Type="http://schemas.openxmlformats.org/officeDocument/2006/relationships/theme" Target="../theme/theme8.xml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0.xml"/><Relationship Id="rId19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14.xml"/><Relationship Id="rId22" Type="http://schemas.openxmlformats.org/officeDocument/2006/relationships/image" Target="../media/image1.gi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slideLayout" Target="../slideLayouts/slideLayout133.xml"/><Relationship Id="rId1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2.xml"/><Relationship Id="rId17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22.xml"/><Relationship Id="rId16" Type="http://schemas.openxmlformats.org/officeDocument/2006/relationships/slideLayout" Target="../slideLayouts/slideLayout136.xml"/><Relationship Id="rId20" Type="http://schemas.openxmlformats.org/officeDocument/2006/relationships/image" Target="../media/image1.gif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0.xml"/><Relationship Id="rId19" Type="http://schemas.openxmlformats.org/officeDocument/2006/relationships/theme" Target="../theme/theme9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Relationship Id="rId14" Type="http://schemas.openxmlformats.org/officeDocument/2006/relationships/slideLayout" Target="../slideLayouts/slideLayout1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err="1"/>
              <a:t>Textmasterformat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2"/>
            <a:r>
              <a:rPr lang="en-US" noProof="0" err="1"/>
              <a:t>Dritte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3"/>
            <a:r>
              <a:rPr lang="en-US" noProof="0" err="1"/>
              <a:t>Vierte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4"/>
            <a:r>
              <a:rPr lang="en-US" noProof="0" err="1"/>
              <a:t>Fünfte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>
            <a:cxnSpLocks/>
          </p:cNvCxnSpPr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9">
            <a:extLst>
              <a:ext uri="{FF2B5EF4-FFF2-40B4-BE49-F238E27FC236}">
                <a16:creationId xmlns:a16="http://schemas.microsoft.com/office/drawing/2014/main" id="{29F131B3-70D8-4212-9318-49432C1DE818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>
              <a:latin typeface="+mj-lt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4BF021D-3B93-18B9-E1A1-842FFACFCEAA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5185" y="6435022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5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68" r:id="rId9"/>
    <p:sldLayoutId id="2147483745" r:id="rId10"/>
    <p:sldLayoutId id="2147483746" r:id="rId11"/>
    <p:sldLayoutId id="2147483769" r:id="rId12"/>
    <p:sldLayoutId id="2147483747" r:id="rId13"/>
    <p:sldLayoutId id="2147483748" r:id="rId14"/>
    <p:sldLayoutId id="2147483771" r:id="rId15"/>
    <p:sldLayoutId id="2147483750" r:id="rId16"/>
    <p:sldLayoutId id="2147483751" r:id="rId17"/>
    <p:sldLayoutId id="2147483885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7" orient="horz" pos="890" userDrawn="1">
          <p15:clr>
            <a:srgbClr val="F26B43"/>
          </p15:clr>
        </p15:guide>
        <p15:guide id="8" orient="horz" pos="618" userDrawn="1">
          <p15:clr>
            <a:srgbClr val="F26B43"/>
          </p15:clr>
        </p15:guide>
        <p15:guide id="9" orient="horz" pos="346" userDrawn="1">
          <p15:clr>
            <a:srgbClr val="F26B43"/>
          </p15:clr>
        </p15:guide>
        <p15:guide id="10" orient="horz" pos="4201" userDrawn="1">
          <p15:clr>
            <a:srgbClr val="F26B43"/>
          </p15:clr>
        </p15:guide>
        <p15:guide id="11" orient="horz" pos="709" userDrawn="1">
          <p15:clr>
            <a:srgbClr val="F26B43"/>
          </p15:clr>
        </p15:guide>
        <p15:guide id="12" orient="horz" pos="3984" userDrawn="1">
          <p15:clr>
            <a:srgbClr val="F26B43"/>
          </p15:clr>
        </p15:guide>
        <p15:guide id="13" pos="529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09600" y="102280"/>
            <a:ext cx="11155200" cy="446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9" name="Gerade Verbindung 15"/>
          <p:cNvCxnSpPr/>
          <p:nvPr userDrawn="1"/>
        </p:nvCxnSpPr>
        <p:spPr>
          <a:xfrm>
            <a:off x="624000" y="6453336"/>
            <a:ext cx="11140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7"/>
          <p:cNvSpPr txBox="1"/>
          <p:nvPr userDrawn="1"/>
        </p:nvSpPr>
        <p:spPr>
          <a:xfrm>
            <a:off x="615491" y="6597353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800" b="1">
                <a:solidFill>
                  <a:srgbClr val="06418C"/>
                </a:solidFill>
                <a:latin typeface="Arial Narrow" panose="020B0606020202030204" pitchFamily="34" charset="0"/>
              </a:rPr>
              <a:t>© 20</a:t>
            </a:r>
            <a:r>
              <a:rPr kumimoji="0" lang="en-US" altLang="ja-JP" sz="800" b="1">
                <a:solidFill>
                  <a:srgbClr val="06418C"/>
                </a:solidFill>
                <a:latin typeface="Arial Narrow" panose="020B0606020202030204" pitchFamily="34" charset="0"/>
              </a:rPr>
              <a:t>24</a:t>
            </a:r>
            <a:r>
              <a:rPr kumimoji="0" lang="en-US" sz="800" b="1">
                <a:solidFill>
                  <a:srgbClr val="06418C"/>
                </a:solidFill>
                <a:latin typeface="Arial Narrow" panose="020B0606020202030204" pitchFamily="34" charset="0"/>
              </a:rPr>
              <a:t> Renesas Electronics Corporation. All rights reserved. </a:t>
            </a:r>
            <a:endParaRPr kumimoji="0" lang="en-US" sz="800">
              <a:solidFill>
                <a:srgbClr val="06418C"/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5DD12B36-E003-16F3-7358-6FC2354CCBE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5185" y="6507030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</p:sldLayoutIdLst>
  <p:hf hdr="0" ft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kumimoji="1" sz="3200" b="1" kern="1200" baseline="0">
          <a:solidFill>
            <a:srgbClr val="06418C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ct val="20000"/>
        </a:spcBef>
        <a:buClr>
          <a:srgbClr val="4650A0"/>
        </a:buClr>
        <a:buFont typeface="Wingdings" pitchFamily="2" charset="2"/>
        <a:buChar char="n"/>
        <a:defRPr kumimoji="1" sz="2000" kern="1200" baseline="0">
          <a:solidFill>
            <a:schemeClr val="tx1"/>
          </a:solidFill>
          <a:latin typeface="Verdana" pitchFamily="34" charset="0"/>
          <a:ea typeface="HGP創英角ｺﾞｼｯｸUB" pitchFamily="50" charset="-128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Clr>
          <a:srgbClr val="4650A0"/>
        </a:buClr>
        <a:buFont typeface="Wingdings" pitchFamily="2" charset="2"/>
        <a:buChar char="l"/>
        <a:defRPr kumimoji="1" sz="1800" kern="1200" baseline="0">
          <a:solidFill>
            <a:schemeClr val="tx1"/>
          </a:solidFill>
          <a:latin typeface="Verdana" pitchFamily="34" charset="0"/>
          <a:ea typeface="HGP創英角ｺﾞｼｯｸUB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Verdana" pitchFamily="34" charset="0"/>
        <a:buChar char="−"/>
        <a:defRPr kumimoji="1" sz="1800" kern="1200" baseline="0">
          <a:solidFill>
            <a:schemeClr val="tx1"/>
          </a:solidFill>
          <a:latin typeface="Verdana" pitchFamily="34" charset="0"/>
          <a:ea typeface="HGP創英角ｺﾞｼｯｸUB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Verdana" pitchFamily="34" charset="0"/>
        <a:buChar char="−"/>
        <a:defRPr kumimoji="1" sz="1800" kern="1200" baseline="0">
          <a:solidFill>
            <a:schemeClr val="tx1"/>
          </a:solidFill>
          <a:latin typeface="Verdana" pitchFamily="34" charset="0"/>
          <a:ea typeface="HGP創英角ｺﾞｼｯｸUB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Verdana" pitchFamily="34" charset="0"/>
        <a:buChar char="−"/>
        <a:defRPr kumimoji="1" sz="1800" kern="1200" baseline="0">
          <a:solidFill>
            <a:schemeClr val="tx1"/>
          </a:solidFill>
          <a:latin typeface="Verdana" pitchFamily="34" charset="0"/>
          <a:ea typeface="HGP創英角ｺﾞｼｯｸUB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err="1"/>
              <a:t>Textmasterformat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2"/>
            <a:r>
              <a:rPr lang="en-US" noProof="0" err="1"/>
              <a:t>Dritte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3"/>
            <a:r>
              <a:rPr lang="en-US" noProof="0" err="1"/>
              <a:t>Vierte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4"/>
            <a:r>
              <a:rPr lang="en-US" noProof="0" err="1"/>
              <a:t>Fünfte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B6F52389-0864-8040-1B81-41431B92237E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5185" y="6435022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1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>
          <p15:clr>
            <a:srgbClr val="F26B43"/>
          </p15:clr>
        </p15:guide>
        <p15:guide id="7" orient="horz" pos="890">
          <p15:clr>
            <a:srgbClr val="F26B43"/>
          </p15:clr>
        </p15:guide>
        <p15:guide id="8" orient="horz" pos="618">
          <p15:clr>
            <a:srgbClr val="F26B43"/>
          </p15:clr>
        </p15:guide>
        <p15:guide id="9" orient="horz" pos="34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709">
          <p15:clr>
            <a:srgbClr val="F26B43"/>
          </p15:clr>
        </p15:guide>
        <p15:guide id="12" orient="horz" pos="3984">
          <p15:clr>
            <a:srgbClr val="F26B43"/>
          </p15:clr>
        </p15:guide>
        <p15:guide id="13" pos="529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err="1"/>
              <a:t>Textmasterformat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2"/>
            <a:r>
              <a:rPr lang="en-US" noProof="0" err="1"/>
              <a:t>Dritte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3"/>
            <a:r>
              <a:rPr lang="en-US" noProof="0" err="1"/>
              <a:t>Vierte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4"/>
            <a:r>
              <a:rPr lang="en-US" noProof="0" err="1"/>
              <a:t>Fünfte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2024 Renesas Electronics Corporation. All rights reserved. </a:t>
            </a:r>
            <a:endParaRPr lang="en-US" sz="8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>
            <a:cxnSpLocks/>
          </p:cNvCxnSpPr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9">
            <a:extLst>
              <a:ext uri="{FF2B5EF4-FFF2-40B4-BE49-F238E27FC236}">
                <a16:creationId xmlns:a16="http://schemas.microsoft.com/office/drawing/2014/main" id="{29F131B3-70D8-4212-9318-49432C1DE818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>
              <a:latin typeface="+mj-lt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4BF021D-3B93-18B9-E1A1-842FFACFCEAA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5185" y="6435022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15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>
          <p15:clr>
            <a:srgbClr val="F26B43"/>
          </p15:clr>
        </p15:guide>
        <p15:guide id="7" orient="horz" pos="890">
          <p15:clr>
            <a:srgbClr val="F26B43"/>
          </p15:clr>
        </p15:guide>
        <p15:guide id="8" orient="horz" pos="618">
          <p15:clr>
            <a:srgbClr val="F26B43"/>
          </p15:clr>
        </p15:guide>
        <p15:guide id="9" orient="horz" pos="34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709">
          <p15:clr>
            <a:srgbClr val="F26B43"/>
          </p15:clr>
        </p15:guide>
        <p15:guide id="12" orient="horz" pos="3984">
          <p15:clr>
            <a:srgbClr val="F26B43"/>
          </p15:clr>
        </p15:guide>
        <p15:guide id="13" pos="529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err="1"/>
              <a:t>Textmasterformat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2"/>
            <a:r>
              <a:rPr lang="en-US" noProof="0" err="1"/>
              <a:t>Dritte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3"/>
            <a:r>
              <a:rPr lang="en-US" noProof="0" err="1"/>
              <a:t>Vierte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4"/>
            <a:r>
              <a:rPr lang="en-US" noProof="0" err="1"/>
              <a:t>Fünfte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>
            <a:cxnSpLocks/>
          </p:cNvCxnSpPr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9">
            <a:extLst>
              <a:ext uri="{FF2B5EF4-FFF2-40B4-BE49-F238E27FC236}">
                <a16:creationId xmlns:a16="http://schemas.microsoft.com/office/drawing/2014/main" id="{29F131B3-70D8-4212-9318-49432C1DE818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>
              <a:latin typeface="+mj-lt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4BF021D-3B93-18B9-E1A1-842FFACFCEAA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5185" y="6435022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7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  <p:sldLayoutId id="2147483836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>
          <p15:clr>
            <a:srgbClr val="F26B43"/>
          </p15:clr>
        </p15:guide>
        <p15:guide id="7" orient="horz" pos="890">
          <p15:clr>
            <a:srgbClr val="F26B43"/>
          </p15:clr>
        </p15:guide>
        <p15:guide id="8" orient="horz" pos="618">
          <p15:clr>
            <a:srgbClr val="F26B43"/>
          </p15:clr>
        </p15:guide>
        <p15:guide id="9" orient="horz" pos="34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709">
          <p15:clr>
            <a:srgbClr val="F26B43"/>
          </p15:clr>
        </p15:guide>
        <p15:guide id="12" orient="horz" pos="3984">
          <p15:clr>
            <a:srgbClr val="F26B43"/>
          </p15:clr>
        </p15:guide>
        <p15:guide id="13" pos="529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09600" y="102280"/>
            <a:ext cx="11155200" cy="446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5999989" y="6509981"/>
            <a:ext cx="623392" cy="219600"/>
          </a:xfrm>
          <a:prstGeom prst="rect">
            <a:avLst/>
          </a:prstGeom>
        </p:spPr>
        <p:txBody>
          <a:bodyPr vert="horz" wrap="none" lIns="36000" tIns="36000" rIns="36000" bIns="36000" rtlCol="0" anchor="t" anchorCtr="0"/>
          <a:lstStyle>
            <a:lvl1pPr algn="ctr">
              <a:defRPr sz="900" baseline="0">
                <a:solidFill>
                  <a:srgbClr val="06418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9" name="Gerade Verbindung 15"/>
          <p:cNvCxnSpPr/>
          <p:nvPr userDrawn="1"/>
        </p:nvCxnSpPr>
        <p:spPr>
          <a:xfrm>
            <a:off x="624000" y="6453336"/>
            <a:ext cx="11140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7"/>
          <p:cNvSpPr txBox="1"/>
          <p:nvPr userDrawn="1"/>
        </p:nvSpPr>
        <p:spPr>
          <a:xfrm>
            <a:off x="615491" y="6597353"/>
            <a:ext cx="248465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800" b="1">
                <a:solidFill>
                  <a:srgbClr val="06418C"/>
                </a:solidFill>
                <a:latin typeface="Arial Narrow" panose="020B0606020202030204" pitchFamily="34" charset="0"/>
              </a:rPr>
              <a:t>© 20</a:t>
            </a:r>
            <a:r>
              <a:rPr kumimoji="0" lang="en-US" altLang="ja-JP" sz="800" b="1">
                <a:solidFill>
                  <a:srgbClr val="06418C"/>
                </a:solidFill>
                <a:latin typeface="Arial Narrow" panose="020B0606020202030204" pitchFamily="34" charset="0"/>
              </a:rPr>
              <a:t>25</a:t>
            </a:r>
            <a:r>
              <a:rPr kumimoji="0" lang="en-US" sz="800" b="1">
                <a:solidFill>
                  <a:srgbClr val="06418C"/>
                </a:solidFill>
                <a:latin typeface="Arial Narrow" panose="020B0606020202030204" pitchFamily="34" charset="0"/>
              </a:rPr>
              <a:t> Renesas Electronics Corporation. All rights reserved. </a:t>
            </a:r>
            <a:endParaRPr kumimoji="0" lang="en-US" sz="800">
              <a:solidFill>
                <a:srgbClr val="06418C"/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EC22DAE9-7EBC-E16D-CBFD-FAAC0862EA0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5185" y="6507030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6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</p:sldLayoutIdLst>
  <p:hf hdr="0" ft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kumimoji="1" sz="3200" b="1" kern="1200" baseline="0">
          <a:solidFill>
            <a:srgbClr val="06418C"/>
          </a:solidFill>
          <a:latin typeface="+mj-lt"/>
          <a:ea typeface="メイリオ" panose="020B0604030504040204" pitchFamily="50" charset="-128"/>
          <a:cs typeface="メイリオ" panose="020B0604030504040204" pitchFamily="50" charset="-128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ct val="20000"/>
        </a:spcBef>
        <a:buClr>
          <a:srgbClr val="4650A0"/>
        </a:buClr>
        <a:buFont typeface="Wingdings" pitchFamily="2" charset="2"/>
        <a:buChar char="n"/>
        <a:defRPr kumimoji="1" sz="2000" kern="1200" baseline="0">
          <a:solidFill>
            <a:schemeClr val="tx1"/>
          </a:solidFill>
          <a:latin typeface="Verdana" pitchFamily="34" charset="0"/>
          <a:ea typeface="HGP創英角ｺﾞｼｯｸUB" pitchFamily="50" charset="-128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Clr>
          <a:srgbClr val="4650A0"/>
        </a:buClr>
        <a:buFont typeface="Wingdings" pitchFamily="2" charset="2"/>
        <a:buChar char="l"/>
        <a:defRPr kumimoji="1" sz="1800" kern="1200" baseline="0">
          <a:solidFill>
            <a:schemeClr val="tx1"/>
          </a:solidFill>
          <a:latin typeface="Verdana" pitchFamily="34" charset="0"/>
          <a:ea typeface="HGP創英角ｺﾞｼｯｸUB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Verdana" pitchFamily="34" charset="0"/>
        <a:buChar char="−"/>
        <a:defRPr kumimoji="1" sz="1800" kern="1200" baseline="0">
          <a:solidFill>
            <a:schemeClr val="tx1"/>
          </a:solidFill>
          <a:latin typeface="Verdana" pitchFamily="34" charset="0"/>
          <a:ea typeface="HGP創英角ｺﾞｼｯｸUB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Verdana" pitchFamily="34" charset="0"/>
        <a:buChar char="−"/>
        <a:defRPr kumimoji="1" sz="1800" kern="1200" baseline="0">
          <a:solidFill>
            <a:schemeClr val="tx1"/>
          </a:solidFill>
          <a:latin typeface="Verdana" pitchFamily="34" charset="0"/>
          <a:ea typeface="HGP創英角ｺﾞｼｯｸUB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Verdana" pitchFamily="34" charset="0"/>
        <a:buChar char="−"/>
        <a:defRPr kumimoji="1" sz="1800" kern="1200" baseline="0">
          <a:solidFill>
            <a:schemeClr val="tx1"/>
          </a:solidFill>
          <a:latin typeface="Verdana" pitchFamily="34" charset="0"/>
          <a:ea typeface="HGP創英角ｺﾞｼｯｸUB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err="1"/>
              <a:t>Textmasterformat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2"/>
            <a:r>
              <a:rPr lang="en-US" noProof="0" err="1"/>
              <a:t>Dritte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3"/>
            <a:r>
              <a:rPr lang="en-US" noProof="0" err="1"/>
              <a:t>Vierte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4"/>
            <a:r>
              <a:rPr lang="en-US" noProof="0" err="1"/>
              <a:t>Fünfte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>
            <a:cxnSpLocks/>
          </p:cNvCxnSpPr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9">
            <a:extLst>
              <a:ext uri="{FF2B5EF4-FFF2-40B4-BE49-F238E27FC236}">
                <a16:creationId xmlns:a16="http://schemas.microsoft.com/office/drawing/2014/main" id="{29F131B3-70D8-4212-9318-49432C1DE818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>
              <a:latin typeface="+mj-lt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4BF021D-3B93-18B9-E1A1-842FFACFCEAA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5185" y="6435022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93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  <p:sldLayoutId id="2147483861" r:id="rId18"/>
    <p:sldLayoutId id="2147483863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>
          <p15:clr>
            <a:srgbClr val="F26B43"/>
          </p15:clr>
        </p15:guide>
        <p15:guide id="7" orient="horz" pos="890">
          <p15:clr>
            <a:srgbClr val="F26B43"/>
          </p15:clr>
        </p15:guide>
        <p15:guide id="8" orient="horz" pos="618">
          <p15:clr>
            <a:srgbClr val="F26B43"/>
          </p15:clr>
        </p15:guide>
        <p15:guide id="9" orient="horz" pos="34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709">
          <p15:clr>
            <a:srgbClr val="F26B43"/>
          </p15:clr>
        </p15:guide>
        <p15:guide id="12" orient="horz" pos="3984">
          <p15:clr>
            <a:srgbClr val="F26B43"/>
          </p15:clr>
        </p15:guide>
        <p15:guide id="13" pos="5292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err="1"/>
              <a:t>Textmasterformat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2"/>
            <a:r>
              <a:rPr lang="en-US" noProof="0" err="1"/>
              <a:t>Dritte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3"/>
            <a:r>
              <a:rPr lang="en-US" noProof="0" err="1"/>
              <a:t>Vierte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4"/>
            <a:r>
              <a:rPr lang="en-US" noProof="0" err="1"/>
              <a:t>Fünfte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>
            <a:cxnSpLocks/>
          </p:cNvCxnSpPr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9">
            <a:extLst>
              <a:ext uri="{FF2B5EF4-FFF2-40B4-BE49-F238E27FC236}">
                <a16:creationId xmlns:a16="http://schemas.microsoft.com/office/drawing/2014/main" id="{29F131B3-70D8-4212-9318-49432C1DE818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>
              <a:latin typeface="+mj-lt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4BF021D-3B93-18B9-E1A1-842FFACFCEAA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5185" y="6435022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92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  <p:sldLayoutId id="2147483882" r:id="rId18"/>
    <p:sldLayoutId id="2147483883" r:id="rId19"/>
    <p:sldLayoutId id="2147483884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>
          <p15:clr>
            <a:srgbClr val="F26B43"/>
          </p15:clr>
        </p15:guide>
        <p15:guide id="7" orient="horz" pos="890">
          <p15:clr>
            <a:srgbClr val="F26B43"/>
          </p15:clr>
        </p15:guide>
        <p15:guide id="8" orient="horz" pos="618">
          <p15:clr>
            <a:srgbClr val="F26B43"/>
          </p15:clr>
        </p15:guide>
        <p15:guide id="9" orient="horz" pos="34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709">
          <p15:clr>
            <a:srgbClr val="F26B43"/>
          </p15:clr>
        </p15:guide>
        <p15:guide id="12" orient="horz" pos="3984">
          <p15:clr>
            <a:srgbClr val="F26B43"/>
          </p15:clr>
        </p15:guide>
        <p15:guide id="13" pos="5292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err="1"/>
              <a:t>Textmasterformat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2"/>
            <a:r>
              <a:rPr lang="en-US" noProof="0" err="1"/>
              <a:t>Dritte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3"/>
            <a:r>
              <a:rPr lang="en-US" noProof="0" err="1"/>
              <a:t>Vierte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4"/>
            <a:r>
              <a:rPr lang="en-US" noProof="0" err="1"/>
              <a:t>Fünfte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2026 Renesas Electronics Corporation. All rights reserved. </a:t>
            </a:r>
            <a:endParaRPr lang="en-US" sz="8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>
            <a:cxnSpLocks/>
          </p:cNvCxnSpPr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9">
            <a:extLst>
              <a:ext uri="{FF2B5EF4-FFF2-40B4-BE49-F238E27FC236}">
                <a16:creationId xmlns:a16="http://schemas.microsoft.com/office/drawing/2014/main" id="{29F131B3-70D8-4212-9318-49432C1DE818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>
              <a:latin typeface="+mj-lt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4BF021D-3B93-18B9-E1A1-842FFACFCEAA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185" y="6435022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8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  <p:sldLayoutId id="214748390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>
          <p15:clr>
            <a:srgbClr val="F26B43"/>
          </p15:clr>
        </p15:guide>
        <p15:guide id="7" orient="horz" pos="890">
          <p15:clr>
            <a:srgbClr val="F26B43"/>
          </p15:clr>
        </p15:guide>
        <p15:guide id="8" orient="horz" pos="618">
          <p15:clr>
            <a:srgbClr val="F26B43"/>
          </p15:clr>
        </p15:guide>
        <p15:guide id="9" orient="horz" pos="34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709">
          <p15:clr>
            <a:srgbClr val="F26B43"/>
          </p15:clr>
        </p15:guide>
        <p15:guide id="12" orient="horz" pos="3984">
          <p15:clr>
            <a:srgbClr val="F26B43"/>
          </p15:clr>
        </p15:guide>
        <p15:guide id="13" pos="52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svg"/><Relationship Id="rId18" Type="http://schemas.microsoft.com/office/2007/relationships/hdphoto" Target="../media/hdphoto5.wdp"/><Relationship Id="rId3" Type="http://schemas.openxmlformats.org/officeDocument/2006/relationships/image" Target="../media/image3.png"/><Relationship Id="rId7" Type="http://schemas.openxmlformats.org/officeDocument/2006/relationships/image" Target="../media/image5.sv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20.xml"/><Relationship Id="rId6" Type="http://schemas.microsoft.com/office/2007/relationships/hdphoto" Target="../media/hdphoto2.wdp"/><Relationship Id="rId11" Type="http://schemas.microsoft.com/office/2007/relationships/hdphoto" Target="../media/hdphoto4.wdp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microsoft.com/office/2007/relationships/hdphoto" Target="../media/hdphoto3.wdp"/><Relationship Id="rId1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renesasgroup.sharepoint.com/:x:/r/sites/HPC-MCU-MD/Shared%20Documents/Department-Groups/BizDev%20RegMarketing/MCU%20Strategy/BizDev%20RegMkt/HMBBU/Strategy/U5H%20Obeya%20PJ/Working%20Files/Customers/U5H%20Zone%20Heatmap%20and%20Target%20Programs%20Apr2026.xlsx?d=wabaffdd8347341c586f15bdcc17275c2&amp;csf=1&amp;web=1&amp;e=EPslzI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9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9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renesasgroup.sharepoint.com/:p:/s/HPC-MCU-MD/IQD8EsK-kVz4T6rgs0jTD2JWAeaMMaYG--8MUU4oXSWXssQ?email=ed.sarrat.yk%40renesas.com&amp;e=1ES6G8" TargetMode="External"/><Relationship Id="rId1" Type="http://schemas.openxmlformats.org/officeDocument/2006/relationships/slideLayout" Target="../slideLayouts/slideLayout10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renesasgroup.sharepoint.com/:x:/r/sites/HPC-MCU-MD/_layouts/15/Doc.aspx?sourcedoc=%7B6F5D9956-9A56-4ECF-9B0D-9254759F8A08%7D&amp;file=Economic_Valuation_Estimation_U5H.xlsx&amp;action=default&amp;mobileredirect=true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renesasgroup.sharepoint.com/:x:/r/sites/HPC-MCU-MD/Shared%20Documents/Department-Groups/BizDev%20RegMarketing/MCU%20Strategy/BizDev%20RegMkt/HMBBU/Strategy/U5H%20Obeya%20PJ/DCP/Cost%20Estimation/cogs_U5Hx_for_internal_case_study_r11.xlsx?d=wd592d8249cbd483bac73491c7d2cebcd&amp;csf=1&amp;web=1&amp;e=N4NX0e" TargetMode="External"/><Relationship Id="rId1" Type="http://schemas.openxmlformats.org/officeDocument/2006/relationships/slideLayout" Target="../slideLayouts/slideLayout1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ja-JP" cap="all"/>
              <a:t>u5H</a:t>
            </a:r>
            <a:r>
              <a:rPr lang="en-US" altLang="ja-JP"/>
              <a:t> </a:t>
            </a:r>
            <a:r>
              <a:rPr lang="en-US" altLang="ja-JP" err="1"/>
              <a:t>Obeya</a:t>
            </a:r>
            <a:endParaRPr lang="en-US" altLang="ja-JP"/>
          </a:p>
          <a:p>
            <a:r>
              <a:rPr kumimoji="1" lang="en-US" altLang="ja-JP" cap="all"/>
              <a:t>Final readout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1102179"/>
          </a:xfrm>
        </p:spPr>
        <p:txBody>
          <a:bodyPr>
            <a:spAutoFit/>
          </a:bodyPr>
          <a:lstStyle/>
          <a:p>
            <a:r>
              <a:rPr lang="en-US"/>
              <a:t>May 13, 2026</a:t>
            </a:r>
          </a:p>
          <a:p>
            <a:r>
              <a:rPr lang="en-US"/>
              <a:t>Ed Sarrat, Alfredo Baratta, Juergen Himmelberg</a:t>
            </a:r>
          </a:p>
        </p:txBody>
      </p:sp>
    </p:spTree>
    <p:extLst>
      <p:ext uri="{BB962C8B-B14F-4D97-AF65-F5344CB8AC3E}">
        <p14:creationId xmlns:p14="http://schemas.microsoft.com/office/powerpoint/2010/main" val="2716823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4E87-AE49-3751-3305-062635466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OBEYA Final Readout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50099-F759-2E7C-B03A-C6169325D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53602"/>
          </a:xfrm>
        </p:spPr>
        <p:txBody>
          <a:bodyPr/>
          <a:lstStyle/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 err="1"/>
              <a:t>Obeya</a:t>
            </a:r>
            <a:r>
              <a:rPr lang="en-US" dirty="0"/>
              <a:t> mission and outcome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Target Market</a:t>
            </a:r>
          </a:p>
          <a:p>
            <a:pPr marL="520700" lvl="1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 dirty="0"/>
              <a:t>Market size, top down / bottom up, OEM heatmap</a:t>
            </a:r>
          </a:p>
          <a:p>
            <a:pPr marL="520700" lvl="1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 dirty="0"/>
              <a:t>Key market requirements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Competitive Position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Product Spec: review of technical features and rationale for selection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New IP required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Schedule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Device Price, Cost, and GM% (update ongoing)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Next steps / remaining items</a:t>
            </a:r>
          </a:p>
        </p:txBody>
      </p:sp>
    </p:spTree>
    <p:extLst>
      <p:ext uri="{BB962C8B-B14F-4D97-AF65-F5344CB8AC3E}">
        <p14:creationId xmlns:p14="http://schemas.microsoft.com/office/powerpoint/2010/main" val="3664984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EC8D27-BA0A-1633-B309-E75CF9A5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609538"/>
            <a:ext cx="11244575" cy="443198"/>
          </a:xfrm>
        </p:spPr>
        <p:txBody>
          <a:bodyPr/>
          <a:lstStyle/>
          <a:p>
            <a:r>
              <a:rPr lang="en-US" altLang="ja-JP"/>
              <a:t>U5Hx </a:t>
            </a:r>
            <a:r>
              <a:rPr lang="en-US" altLang="ja-JP" err="1"/>
              <a:t>Obeya</a:t>
            </a:r>
            <a:r>
              <a:rPr lang="en-US" altLang="ja-JP"/>
              <a:t>- original Mission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A11E5A-A87C-E08E-31B9-12CC45B8A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24991"/>
            <a:ext cx="5551800" cy="5170646"/>
          </a:xfr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ja-JP" b="1"/>
              <a:t>Mission: Define U5H Product Family Specification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ja-JP" b="1"/>
              <a:t>Goal: </a:t>
            </a:r>
          </a:p>
          <a:p>
            <a:pPr marL="285750" lvl="1" indent="-285750">
              <a:lnSpc>
                <a:spcPct val="100000"/>
              </a:lnSpc>
              <a:spcAft>
                <a:spcPts val="0"/>
              </a:spcAft>
            </a:pPr>
            <a:r>
              <a:rPr lang="en-US" sz="1400"/>
              <a:t>Define the U5H family specification by end Q126:</a:t>
            </a:r>
          </a:p>
          <a:p>
            <a:pPr marL="463550" lvl="1" indent="-285750">
              <a:lnSpc>
                <a:spcPct val="100000"/>
              </a:lnSpc>
              <a:spcAft>
                <a:spcPts val="0"/>
              </a:spcAft>
            </a:pPr>
            <a:r>
              <a:rPr lang="en-US" sz="1400"/>
              <a:t>Driven by market input across global OEMs and leading T1s</a:t>
            </a:r>
          </a:p>
          <a:p>
            <a:pPr marL="463550" lvl="1" indent="-285750">
              <a:lnSpc>
                <a:spcPct val="100000"/>
              </a:lnSpc>
              <a:spcAft>
                <a:spcPts val="0"/>
              </a:spcAft>
            </a:pPr>
            <a:r>
              <a:rPr lang="en-US" sz="1400"/>
              <a:t>Clear differentiation strategy vs competition</a:t>
            </a:r>
          </a:p>
          <a:p>
            <a:pPr marL="463550" lvl="1" indent="-285750">
              <a:lnSpc>
                <a:spcPct val="100000"/>
              </a:lnSpc>
              <a:spcAft>
                <a:spcPts val="0"/>
              </a:spcAft>
            </a:pPr>
            <a:r>
              <a:rPr lang="en-US" sz="1400" b="1"/>
              <a:t>Target 55% Family Gross Margin (Price vs Cost)</a:t>
            </a:r>
          </a:p>
          <a:p>
            <a:pPr marL="463550" lvl="1" indent="-285750">
              <a:lnSpc>
                <a:spcPct val="100000"/>
              </a:lnSpc>
              <a:spcAft>
                <a:spcPts val="0"/>
              </a:spcAft>
            </a:pPr>
            <a:r>
              <a:rPr lang="en-US" sz="1400" b="1"/>
              <a:t>LTV/Total Dev Cost ratio- target of 15:1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ja-JP" b="1"/>
              <a:t>Challenges:</a:t>
            </a: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1400"/>
              <a:t>Competitive solutions first to market (IFX TC4, ST Stellar, NXP S32K5)</a:t>
            </a: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1400"/>
              <a:t>OEM zone adoption plans are dynamic</a:t>
            </a: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1400"/>
              <a:t>Internal- fast feedback loop between market needs, price, and cost</a:t>
            </a: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1400"/>
              <a:t>Schedule- U5H design start mid 2026, </a:t>
            </a:r>
            <a:r>
              <a:rPr lang="en-US" sz="1400" b="1"/>
              <a:t>finalize spec by end Q126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ja-JP" b="1"/>
              <a:t>Scope: </a:t>
            </a: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ja-JP" sz="1400" b="1"/>
              <a:t>In Scope: </a:t>
            </a:r>
            <a:r>
              <a:rPr lang="en-US" altLang="ja-JP" sz="1400"/>
              <a:t>adjustments to memory size/ratio, core selection and performance, features</a:t>
            </a: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ja-JP" sz="1400" b="1"/>
              <a:t>Out of Scope: </a:t>
            </a:r>
            <a:r>
              <a:rPr lang="en-US" altLang="ja-JP" sz="1400"/>
              <a:t>process change</a:t>
            </a:r>
          </a:p>
          <a:p>
            <a:pPr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</a:pPr>
            <a:endParaRPr lang="en-US" altLang="ja-JP" b="1"/>
          </a:p>
          <a:p>
            <a:pPr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</a:pPr>
            <a:r>
              <a:rPr lang="en-US" altLang="ja-JP" b="1"/>
              <a:t>Expected Outcome:</a:t>
            </a: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ja-JP" sz="1400"/>
              <a:t>U5H Family Specification, confirmed OEM interest, validated </a:t>
            </a:r>
            <a:r>
              <a:rPr lang="en-US" altLang="ja-JP" sz="1400" err="1"/>
              <a:t>featureset</a:t>
            </a:r>
            <a:r>
              <a:rPr lang="en-US" altLang="ja-JP" sz="1400"/>
              <a:t>, price targets, cost models, business case</a:t>
            </a:r>
          </a:p>
          <a:p>
            <a:pPr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</a:pPr>
            <a:endParaRPr lang="en-US" altLang="ja-JP" b="1"/>
          </a:p>
          <a:p>
            <a:pPr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</a:pPr>
            <a:endParaRPr lang="ja-JP" altLang="en-US" sz="140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29A88EA-7D5B-11A8-0C9C-A7830A85BEC4}"/>
              </a:ext>
            </a:extLst>
          </p:cNvPr>
          <p:cNvSpPr txBox="1">
            <a:spLocks/>
          </p:cNvSpPr>
          <p:nvPr/>
        </p:nvSpPr>
        <p:spPr>
          <a:xfrm>
            <a:off x="6221085" y="1426624"/>
            <a:ext cx="4789800" cy="26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Team Members</a:t>
            </a:r>
            <a:endParaRPr kumimoji="1" lang="ja-JP" altLang="en-US" sz="16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94D380-8395-3250-D19F-6EC575164D41}"/>
              </a:ext>
            </a:extLst>
          </p:cNvPr>
          <p:cNvGraphicFramePr>
            <a:graphicFrameLocks noGrp="1"/>
          </p:cNvGraphicFramePr>
          <p:nvPr/>
        </p:nvGraphicFramePr>
        <p:xfrm>
          <a:off x="6202394" y="1752600"/>
          <a:ext cx="5644514" cy="32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180503020"/>
                    </a:ext>
                  </a:extLst>
                </a:gridCol>
                <a:gridCol w="2139314">
                  <a:extLst>
                    <a:ext uri="{9D8B030D-6E8A-4147-A177-3AD203B41FA5}">
                      <a16:colId xmlns:a16="http://schemas.microsoft.com/office/drawing/2014/main" val="157649419"/>
                    </a:ext>
                  </a:extLst>
                </a:gridCol>
              </a:tblGrid>
              <a:tr h="217320">
                <a:tc>
                  <a:txBody>
                    <a:bodyPr/>
                    <a:lstStyle/>
                    <a:p>
                      <a:r>
                        <a:rPr lang="en-US" sz="120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98532"/>
                  </a:ext>
                </a:extLst>
              </a:tr>
              <a:tr h="293784">
                <a:tc>
                  <a:txBody>
                    <a:bodyPr/>
                    <a:lstStyle/>
                    <a:p>
                      <a:r>
                        <a:rPr lang="en-US" sz="1200"/>
                        <a:t>Project 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Satoshi Yoshida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42665"/>
                  </a:ext>
                </a:extLst>
              </a:tr>
              <a:tr h="293784">
                <a:tc>
                  <a:txBody>
                    <a:bodyPr/>
                    <a:lstStyle/>
                    <a:p>
                      <a:r>
                        <a:rPr lang="en-US" sz="1200" b="0" err="1"/>
                        <a:t>Obeya</a:t>
                      </a:r>
                      <a:r>
                        <a:rPr lang="en-US" sz="1200" b="0"/>
                        <a:t> (War Room) PJ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Ed Sarrat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002103"/>
                  </a:ext>
                </a:extLst>
              </a:tr>
              <a:tr h="293784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Product Marketing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Juergen Himmelberg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7710"/>
                  </a:ext>
                </a:extLst>
              </a:tr>
              <a:tr h="293784">
                <a:tc>
                  <a:txBody>
                    <a:bodyPr/>
                    <a:lstStyle/>
                    <a:p>
                      <a:r>
                        <a:rPr lang="en-US" sz="1200" b="0"/>
                        <a:t>MCU Strategy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Brooke Williams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161178"/>
                  </a:ext>
                </a:extLst>
              </a:tr>
              <a:tr h="293784">
                <a:tc>
                  <a:txBody>
                    <a:bodyPr/>
                    <a:lstStyle/>
                    <a:p>
                      <a:r>
                        <a:rPr lang="en-US" altLang="ja-JP" sz="1200" b="0"/>
                        <a:t>Global BD Lead </a:t>
                      </a:r>
                      <a:endParaRPr lang="en-US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Ed Sarrat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443104"/>
                  </a:ext>
                </a:extLst>
              </a:tr>
              <a:tr h="293784">
                <a:tc>
                  <a:txBody>
                    <a:bodyPr/>
                    <a:lstStyle/>
                    <a:p>
                      <a:r>
                        <a:rPr lang="en-US" sz="1200" b="0"/>
                        <a:t>System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Alfredo Baratta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767465"/>
                  </a:ext>
                </a:extLst>
              </a:tr>
              <a:tr h="293784">
                <a:tc>
                  <a:txBody>
                    <a:bodyPr/>
                    <a:lstStyle/>
                    <a:p>
                      <a:r>
                        <a:rPr lang="en-US" sz="1200" b="0"/>
                        <a:t>System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Stefan Singer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163309"/>
                  </a:ext>
                </a:extLst>
              </a:tr>
              <a:tr h="293784">
                <a:tc>
                  <a:txBody>
                    <a:bodyPr/>
                    <a:lstStyle/>
                    <a:p>
                      <a:r>
                        <a:rPr lang="en-US" sz="1200" b="0"/>
                        <a:t>Chip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Kshitij Bajaj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678569"/>
                  </a:ext>
                </a:extLst>
              </a:tr>
              <a:tr h="293784">
                <a:tc>
                  <a:txBody>
                    <a:bodyPr/>
                    <a:lstStyle/>
                    <a:p>
                      <a:r>
                        <a:rPr lang="en-US" sz="1200" b="0"/>
                        <a:t>Design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Assigned as part of DCP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940202"/>
                  </a:ext>
                </a:extLst>
              </a:tr>
              <a:tr h="293784">
                <a:tc>
                  <a:txBody>
                    <a:bodyPr/>
                    <a:lstStyle/>
                    <a:p>
                      <a:r>
                        <a:rPr lang="en-US" sz="1200" b="0"/>
                        <a:t>Business Case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Tomoki Maesaki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301945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5A6974-06D8-15EA-7CEE-D2F3DB499AC5}"/>
              </a:ext>
            </a:extLst>
          </p:cNvPr>
          <p:cNvSpPr/>
          <p:nvPr/>
        </p:nvSpPr>
        <p:spPr>
          <a:xfrm>
            <a:off x="329184" y="1424991"/>
            <a:ext cx="5551800" cy="1117041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270923-726B-08F9-1951-59523E4578D0}"/>
              </a:ext>
            </a:extLst>
          </p:cNvPr>
          <p:cNvSpPr/>
          <p:nvPr/>
        </p:nvSpPr>
        <p:spPr>
          <a:xfrm>
            <a:off x="293883" y="2574087"/>
            <a:ext cx="5551800" cy="416001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C3DFFA-E298-A391-3F9F-5EF0D95B9242}"/>
              </a:ext>
            </a:extLst>
          </p:cNvPr>
          <p:cNvSpPr/>
          <p:nvPr/>
        </p:nvSpPr>
        <p:spPr>
          <a:xfrm>
            <a:off x="6055100" y="712382"/>
            <a:ext cx="5791807" cy="525248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err="1"/>
              <a:t>Obeya</a:t>
            </a:r>
            <a:r>
              <a:rPr lang="en-US" i="1"/>
              <a:t> Mission: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/>
              <a:t>Define a market based U5H family specification with clear competitive differentiation strategy</a:t>
            </a:r>
          </a:p>
          <a:p>
            <a:endParaRPr lang="en-US" i="1"/>
          </a:p>
          <a:p>
            <a:r>
              <a:rPr lang="en-US" i="1" err="1"/>
              <a:t>Obeya</a:t>
            </a:r>
            <a:r>
              <a:rPr lang="en-US" i="1"/>
              <a:t> Activities: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/>
              <a:t>twice weekly cross-functional team meetings BD, Prod Mktg, Design, Systems Apps, Systems Arch, Strategy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/>
              <a:t>&gt;20 T1 customer meetings for spec input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/>
              <a:t>10 OEM customer meetings for spec input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i="1"/>
          </a:p>
          <a:p>
            <a:r>
              <a:rPr lang="en-US" i="1" err="1"/>
              <a:t>Obeya</a:t>
            </a:r>
            <a:r>
              <a:rPr lang="en-US" i="1"/>
              <a:t> Result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/>
              <a:t>Successful in defining U5H Spec with clear competitive differentiation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/>
              <a:t>Continued challenges on cost / GM% and schedule</a:t>
            </a:r>
          </a:p>
        </p:txBody>
      </p:sp>
    </p:spTree>
    <p:extLst>
      <p:ext uri="{BB962C8B-B14F-4D97-AF65-F5344CB8AC3E}">
        <p14:creationId xmlns:p14="http://schemas.microsoft.com/office/powerpoint/2010/main" val="411008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4C8C2-95CD-62F1-02C6-3DC5A646F5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964065"/>
          </a:xfrm>
        </p:spPr>
        <p:txBody>
          <a:bodyPr/>
          <a:lstStyle/>
          <a:p>
            <a:r>
              <a:rPr lang="en-US"/>
              <a:t>Target Market</a:t>
            </a:r>
          </a:p>
        </p:txBody>
      </p:sp>
    </p:spTree>
    <p:extLst>
      <p:ext uri="{BB962C8B-B14F-4D97-AF65-F5344CB8AC3E}">
        <p14:creationId xmlns:p14="http://schemas.microsoft.com/office/powerpoint/2010/main" val="217075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4FADA-9E6A-0DFE-9144-3EAAB3E5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65">
            <a:extLst>
              <a:ext uri="{FF2B5EF4-FFF2-40B4-BE49-F238E27FC236}">
                <a16:creationId xmlns:a16="http://schemas.microsoft.com/office/drawing/2014/main" id="{DF5C7D8C-610F-C9A4-A7BB-0ECE33622AC6}"/>
              </a:ext>
            </a:extLst>
          </p:cNvPr>
          <p:cNvSpPr/>
          <p:nvPr/>
        </p:nvSpPr>
        <p:spPr>
          <a:xfrm>
            <a:off x="184140" y="4753041"/>
            <a:ext cx="8560517" cy="1559447"/>
          </a:xfrm>
          <a:prstGeom prst="rect">
            <a:avLst/>
          </a:prstGeom>
          <a:gradFill>
            <a:gsLst>
              <a:gs pos="1835">
                <a:srgbClr val="F3F7F5"/>
              </a:gs>
              <a:gs pos="30000">
                <a:srgbClr val="FFFF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90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505684A-C658-D63E-AD44-772AE2D04619}"/>
              </a:ext>
            </a:extLst>
          </p:cNvPr>
          <p:cNvSpPr/>
          <p:nvPr/>
        </p:nvSpPr>
        <p:spPr>
          <a:xfrm>
            <a:off x="180144" y="1766414"/>
            <a:ext cx="8564513" cy="1336104"/>
          </a:xfrm>
          <a:prstGeom prst="rect">
            <a:avLst/>
          </a:prstGeom>
          <a:gradFill>
            <a:gsLst>
              <a:gs pos="80000">
                <a:srgbClr val="365986"/>
              </a:gs>
              <a:gs pos="0">
                <a:schemeClr val="bg1"/>
              </a:gs>
              <a:gs pos="100000">
                <a:schemeClr val="tx2">
                  <a:lumMod val="75000"/>
                </a:schemeClr>
              </a:gs>
              <a:gs pos="3000">
                <a:schemeClr val="bg1"/>
              </a:gs>
            </a:gsLst>
            <a:lin ang="90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289F2C5-3A08-7646-47D7-2C9FEC38D24D}"/>
              </a:ext>
            </a:extLst>
          </p:cNvPr>
          <p:cNvSpPr/>
          <p:nvPr/>
        </p:nvSpPr>
        <p:spPr>
          <a:xfrm>
            <a:off x="180144" y="3179569"/>
            <a:ext cx="8564513" cy="1509110"/>
          </a:xfrm>
          <a:prstGeom prst="rect">
            <a:avLst/>
          </a:prstGeom>
          <a:gradFill>
            <a:gsLst>
              <a:gs pos="47000">
                <a:schemeClr val="bg1"/>
              </a:gs>
              <a:gs pos="2752">
                <a:schemeClr val="accent1">
                  <a:lumMod val="5000"/>
                  <a:lumOff val="95000"/>
                </a:schemeClr>
              </a:gs>
              <a:gs pos="71000">
                <a:schemeClr val="tx2">
                  <a:lumMod val="40000"/>
                  <a:lumOff val="60000"/>
                </a:schemeClr>
              </a:gs>
            </a:gsLst>
            <a:lin ang="90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9DA7A-67F3-5A39-F5F4-A6D433E0A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871" y="35385"/>
            <a:ext cx="11282361" cy="886397"/>
          </a:xfrm>
        </p:spPr>
        <p:txBody>
          <a:bodyPr anchor="t"/>
          <a:lstStyle/>
          <a:p>
            <a:r>
              <a:rPr lang="en-US" sz="4000"/>
              <a:t>Renesas R-C</a:t>
            </a:r>
            <a:r>
              <a:rPr lang="en-US" sz="4000" cap="none"/>
              <a:t>ar</a:t>
            </a:r>
            <a:r>
              <a:rPr lang="en-US" sz="4000"/>
              <a:t> U5</a:t>
            </a:r>
            <a:r>
              <a:rPr lang="en-US" sz="4000" cap="none"/>
              <a:t>x</a:t>
            </a:r>
            <a:br>
              <a:rPr lang="en-US" sz="4000"/>
            </a:br>
            <a:r>
              <a:rPr lang="en-US" sz="2400" b="0" u="sng"/>
              <a:t>ARM-based</a:t>
            </a:r>
            <a:r>
              <a:rPr lang="en-US" sz="2400" b="0"/>
              <a:t> family covering New E/E Architecture</a:t>
            </a:r>
            <a:endParaRPr lang="en-US" sz="2396" b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C8478DD-A493-8445-9B2A-F128C36FEB1B}"/>
              </a:ext>
            </a:extLst>
          </p:cNvPr>
          <p:cNvSpPr txBox="1"/>
          <p:nvPr/>
        </p:nvSpPr>
        <p:spPr>
          <a:xfrm>
            <a:off x="196871" y="3314126"/>
            <a:ext cx="2029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Zones &amp; DCU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Physical &amp; Logical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aggregators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79EDA04-C79C-E582-8BF8-E81D9EE0711F}"/>
              </a:ext>
            </a:extLst>
          </p:cNvPr>
          <p:cNvSpPr txBox="1"/>
          <p:nvPr/>
        </p:nvSpPr>
        <p:spPr>
          <a:xfrm>
            <a:off x="180144" y="1754896"/>
            <a:ext cx="18845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Central Computers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3A57639-4DC8-A2C7-6D4E-8F141A60DE90}"/>
              </a:ext>
            </a:extLst>
          </p:cNvPr>
          <p:cNvSpPr txBox="1"/>
          <p:nvPr/>
        </p:nvSpPr>
        <p:spPr>
          <a:xfrm>
            <a:off x="261397" y="4953394"/>
            <a:ext cx="1889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>
                    <a:lumMod val="75000"/>
                  </a:srgbClr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Smart Actuation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>
                    <a:lumMod val="75000"/>
                  </a:srgbClr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Mission Critical ECUs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>
                    <a:lumMod val="75000"/>
                  </a:srgbClr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Hard real time actuation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C3C3B">
                  <a:lumMod val="75000"/>
                </a:srgbClr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grpSp>
        <p:nvGrpSpPr>
          <p:cNvPr id="97" name="Graphic 51" descr="Left Brain outline">
            <a:extLst>
              <a:ext uri="{FF2B5EF4-FFF2-40B4-BE49-F238E27FC236}">
                <a16:creationId xmlns:a16="http://schemas.microsoft.com/office/drawing/2014/main" id="{F1AE2D0A-CA74-E8A9-4B50-365E0BF6BD18}"/>
              </a:ext>
            </a:extLst>
          </p:cNvPr>
          <p:cNvGrpSpPr/>
          <p:nvPr/>
        </p:nvGrpSpPr>
        <p:grpSpPr>
          <a:xfrm>
            <a:off x="786228" y="2499380"/>
            <a:ext cx="535134" cy="436446"/>
            <a:chOff x="1043405" y="2484200"/>
            <a:chExt cx="438004" cy="360884"/>
          </a:xfrm>
          <a:solidFill>
            <a:schemeClr val="bg1"/>
          </a:solidFill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2C0E304-764C-CB3D-EA3B-BD83DB33BC99}"/>
                </a:ext>
              </a:extLst>
            </p:cNvPr>
            <p:cNvSpPr/>
            <p:nvPr/>
          </p:nvSpPr>
          <p:spPr>
            <a:xfrm>
              <a:off x="1310715" y="2484200"/>
              <a:ext cx="170694" cy="356099"/>
            </a:xfrm>
            <a:custGeom>
              <a:avLst/>
              <a:gdLst>
                <a:gd name="connsiteX0" fmla="*/ 48786 w 170694"/>
                <a:gd name="connsiteY0" fmla="*/ 11011 h 356099"/>
                <a:gd name="connsiteX1" fmla="*/ 86384 w 170694"/>
                <a:gd name="connsiteY1" fmla="*/ 46280 h 356099"/>
                <a:gd name="connsiteX2" fmla="*/ 86901 w 170694"/>
                <a:gd name="connsiteY2" fmla="*/ 54159 h 356099"/>
                <a:gd name="connsiteX3" fmla="*/ 94526 w 170694"/>
                <a:gd name="connsiteY3" fmla="*/ 56202 h 356099"/>
                <a:gd name="connsiteX4" fmla="*/ 95479 w 170694"/>
                <a:gd name="connsiteY4" fmla="*/ 56466 h 356099"/>
                <a:gd name="connsiteX5" fmla="*/ 119181 w 170694"/>
                <a:gd name="connsiteY5" fmla="*/ 100340 h 356099"/>
                <a:gd name="connsiteX6" fmla="*/ 116527 w 170694"/>
                <a:gd name="connsiteY6" fmla="*/ 109260 h 356099"/>
                <a:gd name="connsiteX7" fmla="*/ 124874 w 170694"/>
                <a:gd name="connsiteY7" fmla="*/ 113367 h 356099"/>
                <a:gd name="connsiteX8" fmla="*/ 128177 w 170694"/>
                <a:gd name="connsiteY8" fmla="*/ 115173 h 356099"/>
                <a:gd name="connsiteX9" fmla="*/ 143494 w 170694"/>
                <a:gd name="connsiteY9" fmla="*/ 176792 h 356099"/>
                <a:gd name="connsiteX10" fmla="*/ 138979 w 170694"/>
                <a:gd name="connsiteY10" fmla="*/ 184290 h 356099"/>
                <a:gd name="connsiteX11" fmla="*/ 145267 w 170694"/>
                <a:gd name="connsiteY11" fmla="*/ 190380 h 356099"/>
                <a:gd name="connsiteX12" fmla="*/ 146276 w 170694"/>
                <a:gd name="connsiteY12" fmla="*/ 257481 h 356099"/>
                <a:gd name="connsiteX13" fmla="*/ 131965 w 170694"/>
                <a:gd name="connsiteY13" fmla="*/ 267585 h 356099"/>
                <a:gd name="connsiteX14" fmla="*/ 125534 w 170694"/>
                <a:gd name="connsiteY14" fmla="*/ 270525 h 356099"/>
                <a:gd name="connsiteX15" fmla="*/ 125534 w 170694"/>
                <a:gd name="connsiteY15" fmla="*/ 278090 h 356099"/>
                <a:gd name="connsiteX16" fmla="*/ 83152 w 170694"/>
                <a:gd name="connsiteY16" fmla="*/ 320737 h 356099"/>
                <a:gd name="connsiteX17" fmla="*/ 73842 w 170694"/>
                <a:gd name="connsiteY17" fmla="*/ 319735 h 356099"/>
                <a:gd name="connsiteX18" fmla="*/ 63998 w 170694"/>
                <a:gd name="connsiteY18" fmla="*/ 317577 h 356099"/>
                <a:gd name="connsiteX19" fmla="*/ 60975 w 170694"/>
                <a:gd name="connsiteY19" fmla="*/ 327173 h 356099"/>
                <a:gd name="connsiteX20" fmla="*/ 28925 w 170694"/>
                <a:gd name="connsiteY20" fmla="*/ 343914 h 356099"/>
                <a:gd name="connsiteX21" fmla="*/ 11011 w 170694"/>
                <a:gd name="connsiteY21" fmla="*/ 319520 h 356099"/>
                <a:gd name="connsiteX22" fmla="*/ 11011 w 170694"/>
                <a:gd name="connsiteY22" fmla="*/ 48797 h 356099"/>
                <a:gd name="connsiteX23" fmla="*/ 46247 w 170694"/>
                <a:gd name="connsiteY23" fmla="*/ 11099 h 356099"/>
                <a:gd name="connsiteX24" fmla="*/ 48764 w 170694"/>
                <a:gd name="connsiteY24" fmla="*/ 11011 h 356099"/>
                <a:gd name="connsiteX25" fmla="*/ 48764 w 170694"/>
                <a:gd name="connsiteY25" fmla="*/ 0 h 356099"/>
                <a:gd name="connsiteX26" fmla="*/ 45526 w 170694"/>
                <a:gd name="connsiteY26" fmla="*/ 110 h 356099"/>
                <a:gd name="connsiteX27" fmla="*/ 0 w 170694"/>
                <a:gd name="connsiteY27" fmla="*/ 48808 h 356099"/>
                <a:gd name="connsiteX28" fmla="*/ 0 w 170694"/>
                <a:gd name="connsiteY28" fmla="*/ 319520 h 356099"/>
                <a:gd name="connsiteX29" fmla="*/ 36580 w 170694"/>
                <a:gd name="connsiteY29" fmla="*/ 356100 h 356099"/>
                <a:gd name="connsiteX30" fmla="*/ 36580 w 170694"/>
                <a:gd name="connsiteY30" fmla="*/ 356100 h 356099"/>
                <a:gd name="connsiteX31" fmla="*/ 71485 w 170694"/>
                <a:gd name="connsiteY31" fmla="*/ 330476 h 356099"/>
                <a:gd name="connsiteX32" fmla="*/ 135300 w 170694"/>
                <a:gd name="connsiteY32" fmla="*/ 289588 h 356099"/>
                <a:gd name="connsiteX33" fmla="*/ 136540 w 170694"/>
                <a:gd name="connsiteY33" fmla="*/ 278057 h 356099"/>
                <a:gd name="connsiteX34" fmla="*/ 136540 w 170694"/>
                <a:gd name="connsiteY34" fmla="*/ 277573 h 356099"/>
                <a:gd name="connsiteX35" fmla="*/ 165382 w 170694"/>
                <a:gd name="connsiteY35" fmla="*/ 200093 h 356099"/>
                <a:gd name="connsiteX36" fmla="*/ 152919 w 170694"/>
                <a:gd name="connsiteY36" fmla="*/ 182446 h 356099"/>
                <a:gd name="connsiteX37" fmla="*/ 133853 w 170694"/>
                <a:gd name="connsiteY37" fmla="*/ 105714 h 356099"/>
                <a:gd name="connsiteX38" fmla="*/ 129730 w 170694"/>
                <a:gd name="connsiteY38" fmla="*/ 103462 h 356099"/>
                <a:gd name="connsiteX39" fmla="*/ 98638 w 170694"/>
                <a:gd name="connsiteY39" fmla="*/ 45921 h 356099"/>
                <a:gd name="connsiteX40" fmla="*/ 98623 w 170694"/>
                <a:gd name="connsiteY40" fmla="*/ 45917 h 356099"/>
                <a:gd name="connsiteX41" fmla="*/ 97367 w 170694"/>
                <a:gd name="connsiteY41" fmla="*/ 45565 h 356099"/>
                <a:gd name="connsiteX42" fmla="*/ 48780 w 170694"/>
                <a:gd name="connsiteY42" fmla="*/ 0 h 356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0694" h="356099">
                  <a:moveTo>
                    <a:pt x="48786" y="11011"/>
                  </a:moveTo>
                  <a:cubicBezTo>
                    <a:pt x="68635" y="11071"/>
                    <a:pt x="85057" y="26475"/>
                    <a:pt x="86384" y="46280"/>
                  </a:cubicBezTo>
                  <a:lnTo>
                    <a:pt x="86901" y="54159"/>
                  </a:lnTo>
                  <a:lnTo>
                    <a:pt x="94526" y="56202"/>
                  </a:lnTo>
                  <a:lnTo>
                    <a:pt x="95479" y="56466"/>
                  </a:lnTo>
                  <a:cubicBezTo>
                    <a:pt x="114128" y="62050"/>
                    <a:pt x="124734" y="81682"/>
                    <a:pt x="119181" y="100340"/>
                  </a:cubicBezTo>
                  <a:lnTo>
                    <a:pt x="116527" y="109260"/>
                  </a:lnTo>
                  <a:lnTo>
                    <a:pt x="124874" y="113367"/>
                  </a:lnTo>
                  <a:cubicBezTo>
                    <a:pt x="125975" y="113917"/>
                    <a:pt x="127103" y="114523"/>
                    <a:pt x="128177" y="115173"/>
                  </a:cubicBezTo>
                  <a:cubicBezTo>
                    <a:pt x="149395" y="127979"/>
                    <a:pt x="156246" y="155542"/>
                    <a:pt x="143494" y="176792"/>
                  </a:cubicBezTo>
                  <a:lnTo>
                    <a:pt x="138979" y="184290"/>
                  </a:lnTo>
                  <a:lnTo>
                    <a:pt x="145267" y="190380"/>
                  </a:lnTo>
                  <a:cubicBezTo>
                    <a:pt x="164075" y="208630"/>
                    <a:pt x="164526" y="238673"/>
                    <a:pt x="146276" y="257481"/>
                  </a:cubicBezTo>
                  <a:cubicBezTo>
                    <a:pt x="142174" y="261708"/>
                    <a:pt x="137321" y="265135"/>
                    <a:pt x="131965" y="267585"/>
                  </a:cubicBezTo>
                  <a:lnTo>
                    <a:pt x="125534" y="270525"/>
                  </a:lnTo>
                  <a:lnTo>
                    <a:pt x="125534" y="278090"/>
                  </a:lnTo>
                  <a:cubicBezTo>
                    <a:pt x="125608" y="301570"/>
                    <a:pt x="106633" y="320664"/>
                    <a:pt x="83152" y="320737"/>
                  </a:cubicBezTo>
                  <a:cubicBezTo>
                    <a:pt x="80021" y="320747"/>
                    <a:pt x="76899" y="320411"/>
                    <a:pt x="73842" y="319735"/>
                  </a:cubicBezTo>
                  <a:lnTo>
                    <a:pt x="63998" y="317577"/>
                  </a:lnTo>
                  <a:lnTo>
                    <a:pt x="60975" y="327173"/>
                  </a:lnTo>
                  <a:cubicBezTo>
                    <a:pt x="56748" y="340646"/>
                    <a:pt x="42398" y="348141"/>
                    <a:pt x="28925" y="343914"/>
                  </a:cubicBezTo>
                  <a:cubicBezTo>
                    <a:pt x="18266" y="340569"/>
                    <a:pt x="11012" y="330692"/>
                    <a:pt x="11011" y="319520"/>
                  </a:cubicBezTo>
                  <a:lnTo>
                    <a:pt x="11011" y="48797"/>
                  </a:lnTo>
                  <a:cubicBezTo>
                    <a:pt x="11023" y="28923"/>
                    <a:pt x="26420" y="12451"/>
                    <a:pt x="46247" y="11099"/>
                  </a:cubicBezTo>
                  <a:cubicBezTo>
                    <a:pt x="47090" y="11039"/>
                    <a:pt x="47932" y="11011"/>
                    <a:pt x="48764" y="11011"/>
                  </a:cubicBezTo>
                  <a:moveTo>
                    <a:pt x="48764" y="0"/>
                  </a:moveTo>
                  <a:cubicBezTo>
                    <a:pt x="47692" y="0"/>
                    <a:pt x="46612" y="37"/>
                    <a:pt x="45526" y="110"/>
                  </a:cubicBezTo>
                  <a:cubicBezTo>
                    <a:pt x="19887" y="1805"/>
                    <a:pt x="-32" y="23113"/>
                    <a:pt x="0" y="48808"/>
                  </a:cubicBezTo>
                  <a:lnTo>
                    <a:pt x="0" y="319520"/>
                  </a:lnTo>
                  <a:cubicBezTo>
                    <a:pt x="3" y="339721"/>
                    <a:pt x="16378" y="356097"/>
                    <a:pt x="36580" y="356100"/>
                  </a:cubicBezTo>
                  <a:lnTo>
                    <a:pt x="36580" y="356100"/>
                  </a:lnTo>
                  <a:cubicBezTo>
                    <a:pt x="52562" y="356099"/>
                    <a:pt x="66695" y="345724"/>
                    <a:pt x="71485" y="330476"/>
                  </a:cubicBezTo>
                  <a:cubicBezTo>
                    <a:pt x="100398" y="336807"/>
                    <a:pt x="128969" y="318501"/>
                    <a:pt x="135300" y="289588"/>
                  </a:cubicBezTo>
                  <a:cubicBezTo>
                    <a:pt x="136129" y="285800"/>
                    <a:pt x="136545" y="281934"/>
                    <a:pt x="136540" y="278057"/>
                  </a:cubicBezTo>
                  <a:lnTo>
                    <a:pt x="136540" y="277573"/>
                  </a:lnTo>
                  <a:cubicBezTo>
                    <a:pt x="165900" y="264142"/>
                    <a:pt x="178813" y="229453"/>
                    <a:pt x="165382" y="200093"/>
                  </a:cubicBezTo>
                  <a:cubicBezTo>
                    <a:pt x="162360" y="193488"/>
                    <a:pt x="158134" y="187503"/>
                    <a:pt x="152919" y="182446"/>
                  </a:cubicBezTo>
                  <a:cubicBezTo>
                    <a:pt x="168839" y="155991"/>
                    <a:pt x="160304" y="121641"/>
                    <a:pt x="133853" y="105714"/>
                  </a:cubicBezTo>
                  <a:cubicBezTo>
                    <a:pt x="132510" y="104910"/>
                    <a:pt x="131134" y="104156"/>
                    <a:pt x="129730" y="103462"/>
                  </a:cubicBezTo>
                  <a:cubicBezTo>
                    <a:pt x="137033" y="78987"/>
                    <a:pt x="123113" y="53225"/>
                    <a:pt x="98638" y="45921"/>
                  </a:cubicBezTo>
                  <a:cubicBezTo>
                    <a:pt x="98633" y="45920"/>
                    <a:pt x="98628" y="45919"/>
                    <a:pt x="98623" y="45917"/>
                  </a:cubicBezTo>
                  <a:cubicBezTo>
                    <a:pt x="98204" y="45790"/>
                    <a:pt x="97786" y="45675"/>
                    <a:pt x="97367" y="45565"/>
                  </a:cubicBezTo>
                  <a:cubicBezTo>
                    <a:pt x="95692" y="19954"/>
                    <a:pt x="74445" y="29"/>
                    <a:pt x="48780" y="0"/>
                  </a:cubicBezTo>
                  <a:close/>
                </a:path>
              </a:pathLst>
            </a:custGeom>
            <a:grpFill/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751B790-0A7D-38F9-1388-E429B33D7605}"/>
                </a:ext>
              </a:extLst>
            </p:cNvPr>
            <p:cNvSpPr/>
            <p:nvPr/>
          </p:nvSpPr>
          <p:spPr>
            <a:xfrm>
              <a:off x="1118022" y="2484222"/>
              <a:ext cx="170669" cy="356095"/>
            </a:xfrm>
            <a:custGeom>
              <a:avLst/>
              <a:gdLst>
                <a:gd name="connsiteX0" fmla="*/ 121912 w 170669"/>
                <a:gd name="connsiteY0" fmla="*/ 11011 h 356095"/>
                <a:gd name="connsiteX1" fmla="*/ 159659 w 170669"/>
                <a:gd name="connsiteY1" fmla="*/ 48786 h 356095"/>
                <a:gd name="connsiteX2" fmla="*/ 159659 w 170669"/>
                <a:gd name="connsiteY2" fmla="*/ 319476 h 356095"/>
                <a:gd name="connsiteX3" fmla="*/ 134060 w 170669"/>
                <a:gd name="connsiteY3" fmla="*/ 345003 h 356095"/>
                <a:gd name="connsiteX4" fmla="*/ 109717 w 170669"/>
                <a:gd name="connsiteY4" fmla="*/ 327129 h 356095"/>
                <a:gd name="connsiteX5" fmla="*/ 106689 w 170669"/>
                <a:gd name="connsiteY5" fmla="*/ 317538 h 356095"/>
                <a:gd name="connsiteX6" fmla="*/ 96861 w 170669"/>
                <a:gd name="connsiteY6" fmla="*/ 319691 h 356095"/>
                <a:gd name="connsiteX7" fmla="*/ 87694 w 170669"/>
                <a:gd name="connsiteY7" fmla="*/ 320682 h 356095"/>
                <a:gd name="connsiteX8" fmla="*/ 45141 w 170669"/>
                <a:gd name="connsiteY8" fmla="*/ 278085 h 356095"/>
                <a:gd name="connsiteX9" fmla="*/ 45141 w 170669"/>
                <a:gd name="connsiteY9" fmla="*/ 278035 h 356095"/>
                <a:gd name="connsiteX10" fmla="*/ 45141 w 170669"/>
                <a:gd name="connsiteY10" fmla="*/ 270476 h 356095"/>
                <a:gd name="connsiteX11" fmla="*/ 38705 w 170669"/>
                <a:gd name="connsiteY11" fmla="*/ 267536 h 356095"/>
                <a:gd name="connsiteX12" fmla="*/ 15257 w 170669"/>
                <a:gd name="connsiteY12" fmla="*/ 204690 h 356095"/>
                <a:gd name="connsiteX13" fmla="*/ 25392 w 170669"/>
                <a:gd name="connsiteY13" fmla="*/ 190330 h 356095"/>
                <a:gd name="connsiteX14" fmla="*/ 31674 w 170669"/>
                <a:gd name="connsiteY14" fmla="*/ 184241 h 356095"/>
                <a:gd name="connsiteX15" fmla="*/ 27160 w 170669"/>
                <a:gd name="connsiteY15" fmla="*/ 176748 h 356095"/>
                <a:gd name="connsiteX16" fmla="*/ 25343 w 170669"/>
                <a:gd name="connsiteY16" fmla="*/ 173444 h 356095"/>
                <a:gd name="connsiteX17" fmla="*/ 45802 w 170669"/>
                <a:gd name="connsiteY17" fmla="*/ 113323 h 356095"/>
                <a:gd name="connsiteX18" fmla="*/ 54137 w 170669"/>
                <a:gd name="connsiteY18" fmla="*/ 109215 h 356095"/>
                <a:gd name="connsiteX19" fmla="*/ 51489 w 170669"/>
                <a:gd name="connsiteY19" fmla="*/ 100318 h 356095"/>
                <a:gd name="connsiteX20" fmla="*/ 51214 w 170669"/>
                <a:gd name="connsiteY20" fmla="*/ 99349 h 356095"/>
                <a:gd name="connsiteX21" fmla="*/ 76149 w 170669"/>
                <a:gd name="connsiteY21" fmla="*/ 56185 h 356095"/>
                <a:gd name="connsiteX22" fmla="*/ 83774 w 170669"/>
                <a:gd name="connsiteY22" fmla="*/ 54148 h 356095"/>
                <a:gd name="connsiteX23" fmla="*/ 84292 w 170669"/>
                <a:gd name="connsiteY23" fmla="*/ 46275 h 356095"/>
                <a:gd name="connsiteX24" fmla="*/ 121912 w 170669"/>
                <a:gd name="connsiteY24" fmla="*/ 11039 h 356095"/>
                <a:gd name="connsiteX25" fmla="*/ 121912 w 170669"/>
                <a:gd name="connsiteY25" fmla="*/ 28 h 356095"/>
                <a:gd name="connsiteX26" fmla="*/ 121912 w 170669"/>
                <a:gd name="connsiteY26" fmla="*/ 28 h 356095"/>
                <a:gd name="connsiteX27" fmla="*/ 73308 w 170669"/>
                <a:gd name="connsiteY27" fmla="*/ 45559 h 356095"/>
                <a:gd name="connsiteX28" fmla="*/ 40576 w 170669"/>
                <a:gd name="connsiteY28" fmla="*/ 102183 h 356095"/>
                <a:gd name="connsiteX29" fmla="*/ 40582 w 170669"/>
                <a:gd name="connsiteY29" fmla="*/ 102207 h 356095"/>
                <a:gd name="connsiteX30" fmla="*/ 40940 w 170669"/>
                <a:gd name="connsiteY30" fmla="*/ 103468 h 356095"/>
                <a:gd name="connsiteX31" fmla="*/ 15493 w 170669"/>
                <a:gd name="connsiteY31" fmla="*/ 178311 h 356095"/>
                <a:gd name="connsiteX32" fmla="*/ 17756 w 170669"/>
                <a:gd name="connsiteY32" fmla="*/ 182452 h 356095"/>
                <a:gd name="connsiteX33" fmla="*/ 16489 w 170669"/>
                <a:gd name="connsiteY33" fmla="*/ 265092 h 356095"/>
                <a:gd name="connsiteX34" fmla="*/ 34130 w 170669"/>
                <a:gd name="connsiteY34" fmla="*/ 277551 h 356095"/>
                <a:gd name="connsiteX35" fmla="*/ 34130 w 170669"/>
                <a:gd name="connsiteY35" fmla="*/ 278035 h 356095"/>
                <a:gd name="connsiteX36" fmla="*/ 87661 w 170669"/>
                <a:gd name="connsiteY36" fmla="*/ 331693 h 356095"/>
                <a:gd name="connsiteX37" fmla="*/ 87727 w 170669"/>
                <a:gd name="connsiteY37" fmla="*/ 331693 h 356095"/>
                <a:gd name="connsiteX38" fmla="*/ 99196 w 170669"/>
                <a:gd name="connsiteY38" fmla="*/ 330449 h 356095"/>
                <a:gd name="connsiteX39" fmla="*/ 145033 w 170669"/>
                <a:gd name="connsiteY39" fmla="*/ 354412 h 356095"/>
                <a:gd name="connsiteX40" fmla="*/ 170670 w 170669"/>
                <a:gd name="connsiteY40" fmla="*/ 319498 h 356095"/>
                <a:gd name="connsiteX41" fmla="*/ 170670 w 170669"/>
                <a:gd name="connsiteY41" fmla="*/ 48786 h 356095"/>
                <a:gd name="connsiteX42" fmla="*/ 121912 w 170669"/>
                <a:gd name="connsiteY42" fmla="*/ 0 h 35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0669" h="356095">
                  <a:moveTo>
                    <a:pt x="121912" y="11011"/>
                  </a:moveTo>
                  <a:cubicBezTo>
                    <a:pt x="142756" y="11045"/>
                    <a:pt x="159640" y="27942"/>
                    <a:pt x="159659" y="48786"/>
                  </a:cubicBezTo>
                  <a:lnTo>
                    <a:pt x="159659" y="319476"/>
                  </a:lnTo>
                  <a:cubicBezTo>
                    <a:pt x="159639" y="333594"/>
                    <a:pt x="148178" y="345023"/>
                    <a:pt x="134060" y="345003"/>
                  </a:cubicBezTo>
                  <a:cubicBezTo>
                    <a:pt x="122917" y="344987"/>
                    <a:pt x="113068" y="337756"/>
                    <a:pt x="109717" y="327129"/>
                  </a:cubicBezTo>
                  <a:lnTo>
                    <a:pt x="106689" y="317538"/>
                  </a:lnTo>
                  <a:lnTo>
                    <a:pt x="96861" y="319691"/>
                  </a:lnTo>
                  <a:cubicBezTo>
                    <a:pt x="93850" y="320350"/>
                    <a:pt x="90777" y="320683"/>
                    <a:pt x="87694" y="320682"/>
                  </a:cubicBezTo>
                  <a:cubicBezTo>
                    <a:pt x="64181" y="320670"/>
                    <a:pt x="45129" y="301598"/>
                    <a:pt x="45141" y="278085"/>
                  </a:cubicBezTo>
                  <a:cubicBezTo>
                    <a:pt x="45141" y="278068"/>
                    <a:pt x="45141" y="278052"/>
                    <a:pt x="45141" y="278035"/>
                  </a:cubicBezTo>
                  <a:lnTo>
                    <a:pt x="45141" y="270476"/>
                  </a:lnTo>
                  <a:lnTo>
                    <a:pt x="38705" y="267536"/>
                  </a:lnTo>
                  <a:cubicBezTo>
                    <a:pt x="14876" y="256657"/>
                    <a:pt x="4377" y="228520"/>
                    <a:pt x="15257" y="204690"/>
                  </a:cubicBezTo>
                  <a:cubicBezTo>
                    <a:pt x="17711" y="199314"/>
                    <a:pt x="21149" y="194443"/>
                    <a:pt x="25392" y="190330"/>
                  </a:cubicBezTo>
                  <a:lnTo>
                    <a:pt x="31674" y="184241"/>
                  </a:lnTo>
                  <a:lnTo>
                    <a:pt x="27160" y="176748"/>
                  </a:lnTo>
                  <a:cubicBezTo>
                    <a:pt x="26510" y="175647"/>
                    <a:pt x="25899" y="174546"/>
                    <a:pt x="25343" y="173444"/>
                  </a:cubicBezTo>
                  <a:cubicBezTo>
                    <a:pt x="14412" y="151191"/>
                    <a:pt x="23566" y="124289"/>
                    <a:pt x="45802" y="113323"/>
                  </a:cubicBezTo>
                  <a:lnTo>
                    <a:pt x="54137" y="109215"/>
                  </a:lnTo>
                  <a:lnTo>
                    <a:pt x="51489" y="100318"/>
                  </a:lnTo>
                  <a:cubicBezTo>
                    <a:pt x="51396" y="99999"/>
                    <a:pt x="51302" y="99680"/>
                    <a:pt x="51214" y="99349"/>
                  </a:cubicBezTo>
                  <a:cubicBezTo>
                    <a:pt x="46209" y="80548"/>
                    <a:pt x="57361" y="61242"/>
                    <a:pt x="76149" y="56185"/>
                  </a:cubicBezTo>
                  <a:lnTo>
                    <a:pt x="83774" y="54148"/>
                  </a:lnTo>
                  <a:lnTo>
                    <a:pt x="84292" y="46275"/>
                  </a:lnTo>
                  <a:cubicBezTo>
                    <a:pt x="85647" y="26479"/>
                    <a:pt x="102070" y="11097"/>
                    <a:pt x="121912" y="11039"/>
                  </a:cubicBezTo>
                  <a:moveTo>
                    <a:pt x="121912" y="28"/>
                  </a:moveTo>
                  <a:lnTo>
                    <a:pt x="121912" y="28"/>
                  </a:lnTo>
                  <a:cubicBezTo>
                    <a:pt x="96250" y="42"/>
                    <a:pt x="74996" y="19953"/>
                    <a:pt x="73308" y="45559"/>
                  </a:cubicBezTo>
                  <a:cubicBezTo>
                    <a:pt x="48633" y="52157"/>
                    <a:pt x="33978" y="77508"/>
                    <a:pt x="40576" y="102183"/>
                  </a:cubicBezTo>
                  <a:cubicBezTo>
                    <a:pt x="40578" y="102191"/>
                    <a:pt x="40580" y="102199"/>
                    <a:pt x="40582" y="102207"/>
                  </a:cubicBezTo>
                  <a:cubicBezTo>
                    <a:pt x="40693" y="102631"/>
                    <a:pt x="40814" y="103049"/>
                    <a:pt x="40940" y="103468"/>
                  </a:cubicBezTo>
                  <a:cubicBezTo>
                    <a:pt x="13251" y="117113"/>
                    <a:pt x="1860" y="150616"/>
                    <a:pt x="15493" y="178311"/>
                  </a:cubicBezTo>
                  <a:cubicBezTo>
                    <a:pt x="16187" y="179728"/>
                    <a:pt x="16941" y="181108"/>
                    <a:pt x="17756" y="182452"/>
                  </a:cubicBezTo>
                  <a:cubicBezTo>
                    <a:pt x="-5414" y="204922"/>
                    <a:pt x="-5982" y="241921"/>
                    <a:pt x="16489" y="265092"/>
                  </a:cubicBezTo>
                  <a:cubicBezTo>
                    <a:pt x="21544" y="270305"/>
                    <a:pt x="27526" y="274530"/>
                    <a:pt x="34130" y="277551"/>
                  </a:cubicBezTo>
                  <a:lnTo>
                    <a:pt x="34130" y="278035"/>
                  </a:lnTo>
                  <a:cubicBezTo>
                    <a:pt x="34096" y="307634"/>
                    <a:pt x="58062" y="331657"/>
                    <a:pt x="87661" y="331693"/>
                  </a:cubicBezTo>
                  <a:lnTo>
                    <a:pt x="87727" y="331693"/>
                  </a:lnTo>
                  <a:cubicBezTo>
                    <a:pt x="91584" y="331693"/>
                    <a:pt x="95429" y="331275"/>
                    <a:pt x="99196" y="330449"/>
                  </a:cubicBezTo>
                  <a:cubicBezTo>
                    <a:pt x="105236" y="349724"/>
                    <a:pt x="125759" y="360452"/>
                    <a:pt x="145033" y="354412"/>
                  </a:cubicBezTo>
                  <a:cubicBezTo>
                    <a:pt x="160292" y="349629"/>
                    <a:pt x="170676" y="335489"/>
                    <a:pt x="170670" y="319498"/>
                  </a:cubicBezTo>
                  <a:lnTo>
                    <a:pt x="170670" y="48786"/>
                  </a:lnTo>
                  <a:cubicBezTo>
                    <a:pt x="170676" y="21850"/>
                    <a:pt x="148847" y="9"/>
                    <a:pt x="121912" y="0"/>
                  </a:cubicBezTo>
                  <a:close/>
                </a:path>
              </a:pathLst>
            </a:custGeom>
            <a:grpFill/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9053815-F0F0-A201-1F73-722E741AFE79}"/>
                </a:ext>
              </a:extLst>
            </p:cNvPr>
            <p:cNvSpPr/>
            <p:nvPr/>
          </p:nvSpPr>
          <p:spPr>
            <a:xfrm>
              <a:off x="1109049" y="2484559"/>
              <a:ext cx="37216" cy="37013"/>
            </a:xfrm>
            <a:custGeom>
              <a:avLst/>
              <a:gdLst>
                <a:gd name="connsiteX0" fmla="*/ 31690 w 37216"/>
                <a:gd name="connsiteY0" fmla="*/ 37014 h 37013"/>
                <a:gd name="connsiteX1" fmla="*/ 27836 w 37216"/>
                <a:gd name="connsiteY1" fmla="*/ 35417 h 37013"/>
                <a:gd name="connsiteX2" fmla="*/ 1696 w 37216"/>
                <a:gd name="connsiteY2" fmla="*/ 9480 h 37013"/>
                <a:gd name="connsiteX3" fmla="*/ 1531 w 37216"/>
                <a:gd name="connsiteY3" fmla="*/ 1696 h 37013"/>
                <a:gd name="connsiteX4" fmla="*/ 9316 w 37216"/>
                <a:gd name="connsiteY4" fmla="*/ 1531 h 37013"/>
                <a:gd name="connsiteX5" fmla="*/ 9447 w 37216"/>
                <a:gd name="connsiteY5" fmla="*/ 1662 h 37013"/>
                <a:gd name="connsiteX6" fmla="*/ 35588 w 37216"/>
                <a:gd name="connsiteY6" fmla="*/ 27599 h 37013"/>
                <a:gd name="connsiteX7" fmla="*/ 35620 w 37216"/>
                <a:gd name="connsiteY7" fmla="*/ 35385 h 37013"/>
                <a:gd name="connsiteX8" fmla="*/ 31734 w 37216"/>
                <a:gd name="connsiteY8" fmla="*/ 37014 h 3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216" h="37013">
                  <a:moveTo>
                    <a:pt x="31690" y="37014"/>
                  </a:moveTo>
                  <a:cubicBezTo>
                    <a:pt x="30246" y="37008"/>
                    <a:pt x="28862" y="36434"/>
                    <a:pt x="27836" y="35417"/>
                  </a:cubicBezTo>
                  <a:lnTo>
                    <a:pt x="1696" y="9480"/>
                  </a:lnTo>
                  <a:cubicBezTo>
                    <a:pt x="-500" y="7376"/>
                    <a:pt x="-573" y="3891"/>
                    <a:pt x="1531" y="1696"/>
                  </a:cubicBezTo>
                  <a:cubicBezTo>
                    <a:pt x="3636" y="-500"/>
                    <a:pt x="7121" y="-573"/>
                    <a:pt x="9316" y="1531"/>
                  </a:cubicBezTo>
                  <a:cubicBezTo>
                    <a:pt x="9360" y="1574"/>
                    <a:pt x="9405" y="1618"/>
                    <a:pt x="9447" y="1662"/>
                  </a:cubicBezTo>
                  <a:lnTo>
                    <a:pt x="35588" y="27599"/>
                  </a:lnTo>
                  <a:cubicBezTo>
                    <a:pt x="37747" y="29740"/>
                    <a:pt x="37761" y="33226"/>
                    <a:pt x="35620" y="35385"/>
                  </a:cubicBezTo>
                  <a:cubicBezTo>
                    <a:pt x="34592" y="36422"/>
                    <a:pt x="33194" y="37008"/>
                    <a:pt x="31734" y="37014"/>
                  </a:cubicBezTo>
                  <a:close/>
                </a:path>
              </a:pathLst>
            </a:custGeom>
            <a:grpFill/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E41FB4F-E75F-D931-8DD1-DDA846962788}"/>
                </a:ext>
              </a:extLst>
            </p:cNvPr>
            <p:cNvSpPr/>
            <p:nvPr/>
          </p:nvSpPr>
          <p:spPr>
            <a:xfrm>
              <a:off x="1062129" y="2565087"/>
              <a:ext cx="48486" cy="26919"/>
            </a:xfrm>
            <a:custGeom>
              <a:avLst/>
              <a:gdLst>
                <a:gd name="connsiteX0" fmla="*/ 42972 w 48486"/>
                <a:gd name="connsiteY0" fmla="*/ 26919 h 26919"/>
                <a:gd name="connsiteX1" fmla="*/ 40825 w 48486"/>
                <a:gd name="connsiteY1" fmla="*/ 26479 h 26919"/>
                <a:gd name="connsiteX2" fmla="*/ 3287 w 48486"/>
                <a:gd name="connsiteY2" fmla="*/ 10545 h 26919"/>
                <a:gd name="connsiteX3" fmla="*/ 469 w 48486"/>
                <a:gd name="connsiteY3" fmla="*/ 3287 h 26919"/>
                <a:gd name="connsiteX4" fmla="*/ 7587 w 48486"/>
                <a:gd name="connsiteY4" fmla="*/ 409 h 26919"/>
                <a:gd name="connsiteX5" fmla="*/ 45125 w 48486"/>
                <a:gd name="connsiteY5" fmla="*/ 16343 h 26919"/>
                <a:gd name="connsiteX6" fmla="*/ 48050 w 48486"/>
                <a:gd name="connsiteY6" fmla="*/ 23558 h 26919"/>
                <a:gd name="connsiteX7" fmla="*/ 42972 w 48486"/>
                <a:gd name="connsiteY7" fmla="*/ 26919 h 26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486" h="26919">
                  <a:moveTo>
                    <a:pt x="42972" y="26919"/>
                  </a:moveTo>
                  <a:cubicBezTo>
                    <a:pt x="42234" y="26917"/>
                    <a:pt x="41504" y="26768"/>
                    <a:pt x="40825" y="26479"/>
                  </a:cubicBezTo>
                  <a:lnTo>
                    <a:pt x="3287" y="10545"/>
                  </a:lnTo>
                  <a:cubicBezTo>
                    <a:pt x="505" y="9319"/>
                    <a:pt x="-757" y="6070"/>
                    <a:pt x="469" y="3287"/>
                  </a:cubicBezTo>
                  <a:cubicBezTo>
                    <a:pt x="1671" y="559"/>
                    <a:pt x="4827" y="-717"/>
                    <a:pt x="7587" y="409"/>
                  </a:cubicBezTo>
                  <a:lnTo>
                    <a:pt x="45125" y="16343"/>
                  </a:lnTo>
                  <a:cubicBezTo>
                    <a:pt x="47925" y="17527"/>
                    <a:pt x="49235" y="20758"/>
                    <a:pt x="48050" y="23558"/>
                  </a:cubicBezTo>
                  <a:cubicBezTo>
                    <a:pt x="47188" y="25598"/>
                    <a:pt x="45187" y="26922"/>
                    <a:pt x="42972" y="26919"/>
                  </a:cubicBezTo>
                  <a:close/>
                </a:path>
              </a:pathLst>
            </a:custGeom>
            <a:grpFill/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0D127FC5-F0D6-38AD-0A9E-B4BD05AFEC2F}"/>
                </a:ext>
              </a:extLst>
            </p:cNvPr>
            <p:cNvSpPr/>
            <p:nvPr/>
          </p:nvSpPr>
          <p:spPr>
            <a:xfrm>
              <a:off x="1043405" y="2658569"/>
              <a:ext cx="50057" cy="11011"/>
            </a:xfrm>
            <a:custGeom>
              <a:avLst/>
              <a:gdLst>
                <a:gd name="connsiteX0" fmla="*/ 44552 w 50057"/>
                <a:gd name="connsiteY0" fmla="*/ 11011 h 11011"/>
                <a:gd name="connsiteX1" fmla="*/ 5506 w 50057"/>
                <a:gd name="connsiteY1" fmla="*/ 11011 h 11011"/>
                <a:gd name="connsiteX2" fmla="*/ 0 w 50057"/>
                <a:gd name="connsiteY2" fmla="*/ 5506 h 11011"/>
                <a:gd name="connsiteX3" fmla="*/ 5506 w 50057"/>
                <a:gd name="connsiteY3" fmla="*/ 0 h 11011"/>
                <a:gd name="connsiteX4" fmla="*/ 44552 w 50057"/>
                <a:gd name="connsiteY4" fmla="*/ 0 h 11011"/>
                <a:gd name="connsiteX5" fmla="*/ 50057 w 50057"/>
                <a:gd name="connsiteY5" fmla="*/ 5506 h 11011"/>
                <a:gd name="connsiteX6" fmla="*/ 44552 w 50057"/>
                <a:gd name="connsiteY6" fmla="*/ 11011 h 11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057" h="11011">
                  <a:moveTo>
                    <a:pt x="44552" y="11011"/>
                  </a:moveTo>
                  <a:lnTo>
                    <a:pt x="5506" y="11011"/>
                  </a:lnTo>
                  <a:cubicBezTo>
                    <a:pt x="2465" y="11011"/>
                    <a:pt x="0" y="8546"/>
                    <a:pt x="0" y="5506"/>
                  </a:cubicBezTo>
                  <a:cubicBezTo>
                    <a:pt x="0" y="2465"/>
                    <a:pt x="2465" y="0"/>
                    <a:pt x="5506" y="0"/>
                  </a:cubicBezTo>
                  <a:lnTo>
                    <a:pt x="44552" y="0"/>
                  </a:lnTo>
                  <a:cubicBezTo>
                    <a:pt x="47592" y="0"/>
                    <a:pt x="50057" y="2465"/>
                    <a:pt x="50057" y="5506"/>
                  </a:cubicBezTo>
                  <a:cubicBezTo>
                    <a:pt x="50057" y="8546"/>
                    <a:pt x="47592" y="11011"/>
                    <a:pt x="44552" y="11011"/>
                  </a:cubicBezTo>
                  <a:close/>
                </a:path>
              </a:pathLst>
            </a:custGeom>
            <a:grpFill/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060AEDA-AA8A-9765-87AF-45797ACAFECE}"/>
                </a:ext>
              </a:extLst>
            </p:cNvPr>
            <p:cNvSpPr/>
            <p:nvPr/>
          </p:nvSpPr>
          <p:spPr>
            <a:xfrm>
              <a:off x="1053723" y="2740575"/>
              <a:ext cx="43094" cy="25459"/>
            </a:xfrm>
            <a:custGeom>
              <a:avLst/>
              <a:gdLst>
                <a:gd name="connsiteX0" fmla="*/ 5510 w 43094"/>
                <a:gd name="connsiteY0" fmla="*/ 25459 h 25459"/>
                <a:gd name="connsiteX1" fmla="*/ 0 w 43094"/>
                <a:gd name="connsiteY1" fmla="*/ 19958 h 25459"/>
                <a:gd name="connsiteX2" fmla="*/ 3247 w 43094"/>
                <a:gd name="connsiteY2" fmla="*/ 14932 h 25459"/>
                <a:gd name="connsiteX3" fmla="*/ 35246 w 43094"/>
                <a:gd name="connsiteY3" fmla="*/ 524 h 25459"/>
                <a:gd name="connsiteX4" fmla="*/ 42571 w 43094"/>
                <a:gd name="connsiteY4" fmla="*/ 3165 h 25459"/>
                <a:gd name="connsiteX5" fmla="*/ 39929 w 43094"/>
                <a:gd name="connsiteY5" fmla="*/ 10490 h 25459"/>
                <a:gd name="connsiteX6" fmla="*/ 39772 w 43094"/>
                <a:gd name="connsiteY6" fmla="*/ 10561 h 25459"/>
                <a:gd name="connsiteX7" fmla="*/ 7773 w 43094"/>
                <a:gd name="connsiteY7" fmla="*/ 24969 h 25459"/>
                <a:gd name="connsiteX8" fmla="*/ 5510 w 43094"/>
                <a:gd name="connsiteY8" fmla="*/ 25459 h 25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94" h="25459">
                  <a:moveTo>
                    <a:pt x="5510" y="25459"/>
                  </a:moveTo>
                  <a:cubicBezTo>
                    <a:pt x="2469" y="25462"/>
                    <a:pt x="2" y="22999"/>
                    <a:pt x="0" y="19958"/>
                  </a:cubicBezTo>
                  <a:cubicBezTo>
                    <a:pt x="-2" y="17789"/>
                    <a:pt x="1270" y="15822"/>
                    <a:pt x="3247" y="14932"/>
                  </a:cubicBezTo>
                  <a:lnTo>
                    <a:pt x="35246" y="524"/>
                  </a:lnTo>
                  <a:cubicBezTo>
                    <a:pt x="37998" y="-769"/>
                    <a:pt x="41278" y="413"/>
                    <a:pt x="42571" y="3165"/>
                  </a:cubicBezTo>
                  <a:cubicBezTo>
                    <a:pt x="43864" y="5917"/>
                    <a:pt x="42681" y="9197"/>
                    <a:pt x="39929" y="10490"/>
                  </a:cubicBezTo>
                  <a:cubicBezTo>
                    <a:pt x="39877" y="10514"/>
                    <a:pt x="39825" y="10538"/>
                    <a:pt x="39772" y="10561"/>
                  </a:cubicBezTo>
                  <a:lnTo>
                    <a:pt x="7773" y="24969"/>
                  </a:lnTo>
                  <a:cubicBezTo>
                    <a:pt x="7062" y="25291"/>
                    <a:pt x="6291" y="25458"/>
                    <a:pt x="5510" y="25459"/>
                  </a:cubicBezTo>
                  <a:close/>
                </a:path>
              </a:pathLst>
            </a:custGeom>
            <a:grpFill/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865A8A2-24FE-C833-66D2-E194F89663D7}"/>
                </a:ext>
              </a:extLst>
            </p:cNvPr>
            <p:cNvSpPr/>
            <p:nvPr/>
          </p:nvSpPr>
          <p:spPr>
            <a:xfrm>
              <a:off x="1107192" y="2810569"/>
              <a:ext cx="35650" cy="34515"/>
            </a:xfrm>
            <a:custGeom>
              <a:avLst/>
              <a:gdLst>
                <a:gd name="connsiteX0" fmla="*/ 5501 w 35650"/>
                <a:gd name="connsiteY0" fmla="*/ 34515 h 34515"/>
                <a:gd name="connsiteX1" fmla="*/ 0 w 35650"/>
                <a:gd name="connsiteY1" fmla="*/ 29004 h 34515"/>
                <a:gd name="connsiteX2" fmla="*/ 1702 w 35650"/>
                <a:gd name="connsiteY2" fmla="*/ 25029 h 34515"/>
                <a:gd name="connsiteX3" fmla="*/ 26324 w 35650"/>
                <a:gd name="connsiteY3" fmla="*/ 1531 h 34515"/>
                <a:gd name="connsiteX4" fmla="*/ 34120 w 35650"/>
                <a:gd name="connsiteY4" fmla="*/ 1701 h 34515"/>
                <a:gd name="connsiteX5" fmla="*/ 33949 w 35650"/>
                <a:gd name="connsiteY5" fmla="*/ 9497 h 34515"/>
                <a:gd name="connsiteX6" fmla="*/ 9328 w 35650"/>
                <a:gd name="connsiteY6" fmla="*/ 32996 h 34515"/>
                <a:gd name="connsiteX7" fmla="*/ 5501 w 35650"/>
                <a:gd name="connsiteY7" fmla="*/ 34515 h 34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650" h="34515">
                  <a:moveTo>
                    <a:pt x="5501" y="34515"/>
                  </a:moveTo>
                  <a:cubicBezTo>
                    <a:pt x="2460" y="34512"/>
                    <a:pt x="-2" y="32045"/>
                    <a:pt x="0" y="29004"/>
                  </a:cubicBezTo>
                  <a:cubicBezTo>
                    <a:pt x="2" y="27503"/>
                    <a:pt x="617" y="26067"/>
                    <a:pt x="1702" y="25029"/>
                  </a:cubicBezTo>
                  <a:lnTo>
                    <a:pt x="26324" y="1531"/>
                  </a:lnTo>
                  <a:cubicBezTo>
                    <a:pt x="28524" y="-575"/>
                    <a:pt x="32014" y="-499"/>
                    <a:pt x="34120" y="1701"/>
                  </a:cubicBezTo>
                  <a:cubicBezTo>
                    <a:pt x="36226" y="3901"/>
                    <a:pt x="36149" y="7391"/>
                    <a:pt x="33949" y="9497"/>
                  </a:cubicBezTo>
                  <a:lnTo>
                    <a:pt x="9328" y="32996"/>
                  </a:lnTo>
                  <a:cubicBezTo>
                    <a:pt x="8296" y="33978"/>
                    <a:pt x="6925" y="34522"/>
                    <a:pt x="5501" y="34515"/>
                  </a:cubicBezTo>
                  <a:close/>
                </a:path>
              </a:pathLst>
            </a:custGeom>
            <a:grpFill/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ABA488A-4312-0330-60CC-BB31F8FFF12F}"/>
                </a:ext>
              </a:extLst>
            </p:cNvPr>
            <p:cNvSpPr/>
            <p:nvPr/>
          </p:nvSpPr>
          <p:spPr>
            <a:xfrm>
              <a:off x="1180198" y="2583219"/>
              <a:ext cx="78510" cy="78571"/>
            </a:xfrm>
            <a:custGeom>
              <a:avLst/>
              <a:gdLst>
                <a:gd name="connsiteX0" fmla="*/ 43329 w 78510"/>
                <a:gd name="connsiteY0" fmla="*/ 78571 h 78571"/>
                <a:gd name="connsiteX1" fmla="*/ 37273 w 78510"/>
                <a:gd name="connsiteY1" fmla="*/ 72157 h 78571"/>
                <a:gd name="connsiteX2" fmla="*/ 34421 w 78510"/>
                <a:gd name="connsiteY2" fmla="*/ 71876 h 78571"/>
                <a:gd name="connsiteX3" fmla="*/ 27264 w 78510"/>
                <a:gd name="connsiteY3" fmla="*/ 76936 h 78571"/>
                <a:gd name="connsiteX4" fmla="*/ 14348 w 78510"/>
                <a:gd name="connsiteY4" fmla="*/ 69982 h 78571"/>
                <a:gd name="connsiteX5" fmla="*/ 14673 w 78510"/>
                <a:gd name="connsiteY5" fmla="*/ 61107 h 78571"/>
                <a:gd name="connsiteX6" fmla="*/ 12889 w 78510"/>
                <a:gd name="connsiteY6" fmla="*/ 58905 h 78571"/>
                <a:gd name="connsiteX7" fmla="*/ 4234 w 78510"/>
                <a:gd name="connsiteY7" fmla="*/ 57440 h 78571"/>
                <a:gd name="connsiteX8" fmla="*/ 0 w 78510"/>
                <a:gd name="connsiteY8" fmla="*/ 43440 h 78571"/>
                <a:gd name="connsiteX9" fmla="*/ 6409 w 78510"/>
                <a:gd name="connsiteY9" fmla="*/ 37383 h 78571"/>
                <a:gd name="connsiteX10" fmla="*/ 6684 w 78510"/>
                <a:gd name="connsiteY10" fmla="*/ 34564 h 78571"/>
                <a:gd name="connsiteX11" fmla="*/ 1531 w 78510"/>
                <a:gd name="connsiteY11" fmla="*/ 27341 h 78571"/>
                <a:gd name="connsiteX12" fmla="*/ 8556 w 78510"/>
                <a:gd name="connsiteY12" fmla="*/ 14403 h 78571"/>
                <a:gd name="connsiteX13" fmla="*/ 17365 w 78510"/>
                <a:gd name="connsiteY13" fmla="*/ 14667 h 78571"/>
                <a:gd name="connsiteX14" fmla="*/ 19611 w 78510"/>
                <a:gd name="connsiteY14" fmla="*/ 12867 h 78571"/>
                <a:gd name="connsiteX15" fmla="*/ 21109 w 78510"/>
                <a:gd name="connsiteY15" fmla="*/ 4234 h 78571"/>
                <a:gd name="connsiteX16" fmla="*/ 35087 w 78510"/>
                <a:gd name="connsiteY16" fmla="*/ 0 h 78571"/>
                <a:gd name="connsiteX17" fmla="*/ 41144 w 78510"/>
                <a:gd name="connsiteY17" fmla="*/ 6365 h 78571"/>
                <a:gd name="connsiteX18" fmla="*/ 44007 w 78510"/>
                <a:gd name="connsiteY18" fmla="*/ 6651 h 78571"/>
                <a:gd name="connsiteX19" fmla="*/ 51197 w 78510"/>
                <a:gd name="connsiteY19" fmla="*/ 1608 h 78571"/>
                <a:gd name="connsiteX20" fmla="*/ 64086 w 78510"/>
                <a:gd name="connsiteY20" fmla="*/ 8539 h 78571"/>
                <a:gd name="connsiteX21" fmla="*/ 63816 w 78510"/>
                <a:gd name="connsiteY21" fmla="*/ 17348 h 78571"/>
                <a:gd name="connsiteX22" fmla="*/ 65616 w 78510"/>
                <a:gd name="connsiteY22" fmla="*/ 19551 h 78571"/>
                <a:gd name="connsiteX23" fmla="*/ 74277 w 78510"/>
                <a:gd name="connsiteY23" fmla="*/ 21021 h 78571"/>
                <a:gd name="connsiteX24" fmla="*/ 78511 w 78510"/>
                <a:gd name="connsiteY24" fmla="*/ 35032 h 78571"/>
                <a:gd name="connsiteX25" fmla="*/ 72085 w 78510"/>
                <a:gd name="connsiteY25" fmla="*/ 41089 h 78571"/>
                <a:gd name="connsiteX26" fmla="*/ 71777 w 78510"/>
                <a:gd name="connsiteY26" fmla="*/ 44029 h 78571"/>
                <a:gd name="connsiteX27" fmla="*/ 76826 w 78510"/>
                <a:gd name="connsiteY27" fmla="*/ 51186 h 78571"/>
                <a:gd name="connsiteX28" fmla="*/ 69834 w 78510"/>
                <a:gd name="connsiteY28" fmla="*/ 64086 h 78571"/>
                <a:gd name="connsiteX29" fmla="*/ 61063 w 78510"/>
                <a:gd name="connsiteY29" fmla="*/ 63827 h 78571"/>
                <a:gd name="connsiteX30" fmla="*/ 58828 w 78510"/>
                <a:gd name="connsiteY30" fmla="*/ 65660 h 78571"/>
                <a:gd name="connsiteX31" fmla="*/ 57292 w 78510"/>
                <a:gd name="connsiteY31" fmla="*/ 74337 h 78571"/>
                <a:gd name="connsiteX32" fmla="*/ 42047 w 78510"/>
                <a:gd name="connsiteY32" fmla="*/ 61140 h 78571"/>
                <a:gd name="connsiteX33" fmla="*/ 46671 w 78510"/>
                <a:gd name="connsiteY33" fmla="*/ 66051 h 78571"/>
                <a:gd name="connsiteX34" fmla="*/ 47635 w 78510"/>
                <a:gd name="connsiteY34" fmla="*/ 65765 h 78571"/>
                <a:gd name="connsiteX35" fmla="*/ 48791 w 78510"/>
                <a:gd name="connsiteY35" fmla="*/ 59103 h 78571"/>
                <a:gd name="connsiteX36" fmla="*/ 50856 w 78510"/>
                <a:gd name="connsiteY36" fmla="*/ 57798 h 78571"/>
                <a:gd name="connsiteX37" fmla="*/ 54924 w 78510"/>
                <a:gd name="connsiteY37" fmla="*/ 54456 h 78571"/>
                <a:gd name="connsiteX38" fmla="*/ 56620 w 78510"/>
                <a:gd name="connsiteY38" fmla="*/ 52678 h 78571"/>
                <a:gd name="connsiteX39" fmla="*/ 63359 w 78510"/>
                <a:gd name="connsiteY39" fmla="*/ 52882 h 78571"/>
                <a:gd name="connsiteX40" fmla="*/ 63843 w 78510"/>
                <a:gd name="connsiteY40" fmla="*/ 51984 h 78571"/>
                <a:gd name="connsiteX41" fmla="*/ 59945 w 78510"/>
                <a:gd name="connsiteY41" fmla="*/ 46479 h 78571"/>
                <a:gd name="connsiteX42" fmla="*/ 60496 w 78510"/>
                <a:gd name="connsiteY42" fmla="*/ 44062 h 78571"/>
                <a:gd name="connsiteX43" fmla="*/ 61047 w 78510"/>
                <a:gd name="connsiteY43" fmla="*/ 38771 h 78571"/>
                <a:gd name="connsiteX44" fmla="*/ 61008 w 78510"/>
                <a:gd name="connsiteY44" fmla="*/ 36337 h 78571"/>
                <a:gd name="connsiteX45" fmla="*/ 65908 w 78510"/>
                <a:gd name="connsiteY45" fmla="*/ 31729 h 78571"/>
                <a:gd name="connsiteX46" fmla="*/ 65622 w 78510"/>
                <a:gd name="connsiteY46" fmla="*/ 30777 h 78571"/>
                <a:gd name="connsiteX47" fmla="*/ 58960 w 78510"/>
                <a:gd name="connsiteY47" fmla="*/ 29675 h 78571"/>
                <a:gd name="connsiteX48" fmla="*/ 57650 w 78510"/>
                <a:gd name="connsiteY48" fmla="*/ 27589 h 78571"/>
                <a:gd name="connsiteX49" fmla="*/ 54346 w 78510"/>
                <a:gd name="connsiteY49" fmla="*/ 23520 h 78571"/>
                <a:gd name="connsiteX50" fmla="*/ 52579 w 78510"/>
                <a:gd name="connsiteY50" fmla="*/ 21824 h 78571"/>
                <a:gd name="connsiteX51" fmla="*/ 52788 w 78510"/>
                <a:gd name="connsiteY51" fmla="*/ 15052 h 78571"/>
                <a:gd name="connsiteX52" fmla="*/ 51880 w 78510"/>
                <a:gd name="connsiteY52" fmla="*/ 14562 h 78571"/>
                <a:gd name="connsiteX53" fmla="*/ 46374 w 78510"/>
                <a:gd name="connsiteY53" fmla="*/ 18416 h 78571"/>
                <a:gd name="connsiteX54" fmla="*/ 44001 w 78510"/>
                <a:gd name="connsiteY54" fmla="*/ 17866 h 78571"/>
                <a:gd name="connsiteX55" fmla="*/ 38765 w 78510"/>
                <a:gd name="connsiteY55" fmla="*/ 17348 h 78571"/>
                <a:gd name="connsiteX56" fmla="*/ 36332 w 78510"/>
                <a:gd name="connsiteY56" fmla="*/ 17398 h 78571"/>
                <a:gd name="connsiteX57" fmla="*/ 31718 w 78510"/>
                <a:gd name="connsiteY57" fmla="*/ 12525 h 78571"/>
                <a:gd name="connsiteX58" fmla="*/ 30749 w 78510"/>
                <a:gd name="connsiteY58" fmla="*/ 12817 h 78571"/>
                <a:gd name="connsiteX59" fmla="*/ 29587 w 78510"/>
                <a:gd name="connsiteY59" fmla="*/ 19518 h 78571"/>
                <a:gd name="connsiteX60" fmla="*/ 27473 w 78510"/>
                <a:gd name="connsiteY60" fmla="*/ 20822 h 78571"/>
                <a:gd name="connsiteX61" fmla="*/ 23382 w 78510"/>
                <a:gd name="connsiteY61" fmla="*/ 24098 h 78571"/>
                <a:gd name="connsiteX62" fmla="*/ 21692 w 78510"/>
                <a:gd name="connsiteY62" fmla="*/ 25832 h 78571"/>
                <a:gd name="connsiteX63" fmla="*/ 14964 w 78510"/>
                <a:gd name="connsiteY63" fmla="*/ 25634 h 78571"/>
                <a:gd name="connsiteX64" fmla="*/ 14458 w 78510"/>
                <a:gd name="connsiteY64" fmla="*/ 26565 h 78571"/>
                <a:gd name="connsiteX65" fmla="*/ 18383 w 78510"/>
                <a:gd name="connsiteY65" fmla="*/ 32070 h 78571"/>
                <a:gd name="connsiteX66" fmla="*/ 17833 w 78510"/>
                <a:gd name="connsiteY66" fmla="*/ 34460 h 78571"/>
                <a:gd name="connsiteX67" fmla="*/ 17321 w 78510"/>
                <a:gd name="connsiteY67" fmla="*/ 39701 h 78571"/>
                <a:gd name="connsiteX68" fmla="*/ 17376 w 78510"/>
                <a:gd name="connsiteY68" fmla="*/ 42151 h 78571"/>
                <a:gd name="connsiteX69" fmla="*/ 12459 w 78510"/>
                <a:gd name="connsiteY69" fmla="*/ 46781 h 78571"/>
                <a:gd name="connsiteX70" fmla="*/ 12746 w 78510"/>
                <a:gd name="connsiteY70" fmla="*/ 47728 h 78571"/>
                <a:gd name="connsiteX71" fmla="*/ 19396 w 78510"/>
                <a:gd name="connsiteY71" fmla="*/ 48830 h 78571"/>
                <a:gd name="connsiteX72" fmla="*/ 20712 w 78510"/>
                <a:gd name="connsiteY72" fmla="*/ 50916 h 78571"/>
                <a:gd name="connsiteX73" fmla="*/ 24016 w 78510"/>
                <a:gd name="connsiteY73" fmla="*/ 54985 h 78571"/>
                <a:gd name="connsiteX74" fmla="*/ 25794 w 78510"/>
                <a:gd name="connsiteY74" fmla="*/ 56697 h 78571"/>
                <a:gd name="connsiteX75" fmla="*/ 25596 w 78510"/>
                <a:gd name="connsiteY75" fmla="*/ 63535 h 78571"/>
                <a:gd name="connsiteX76" fmla="*/ 26482 w 78510"/>
                <a:gd name="connsiteY76" fmla="*/ 64014 h 78571"/>
                <a:gd name="connsiteX77" fmla="*/ 31988 w 78510"/>
                <a:gd name="connsiteY77" fmla="*/ 60133 h 78571"/>
                <a:gd name="connsiteX78" fmla="*/ 34372 w 78510"/>
                <a:gd name="connsiteY78" fmla="*/ 60683 h 78571"/>
                <a:gd name="connsiteX79" fmla="*/ 39597 w 78510"/>
                <a:gd name="connsiteY79" fmla="*/ 61206 h 78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8510" h="78571">
                  <a:moveTo>
                    <a:pt x="43329" y="78571"/>
                  </a:moveTo>
                  <a:lnTo>
                    <a:pt x="37273" y="72157"/>
                  </a:lnTo>
                  <a:cubicBezTo>
                    <a:pt x="36321" y="72107"/>
                    <a:pt x="35368" y="72008"/>
                    <a:pt x="34421" y="71876"/>
                  </a:cubicBezTo>
                  <a:lnTo>
                    <a:pt x="27264" y="76936"/>
                  </a:lnTo>
                  <a:lnTo>
                    <a:pt x="14348" y="69982"/>
                  </a:lnTo>
                  <a:lnTo>
                    <a:pt x="14673" y="61107"/>
                  </a:lnTo>
                  <a:cubicBezTo>
                    <a:pt x="14045" y="60402"/>
                    <a:pt x="13450" y="59669"/>
                    <a:pt x="12889" y="58905"/>
                  </a:cubicBezTo>
                  <a:lnTo>
                    <a:pt x="4234" y="57440"/>
                  </a:lnTo>
                  <a:lnTo>
                    <a:pt x="0" y="43440"/>
                  </a:lnTo>
                  <a:lnTo>
                    <a:pt x="6409" y="37383"/>
                  </a:lnTo>
                  <a:cubicBezTo>
                    <a:pt x="6458" y="36436"/>
                    <a:pt x="6552" y="35500"/>
                    <a:pt x="6684" y="34564"/>
                  </a:cubicBezTo>
                  <a:lnTo>
                    <a:pt x="1531" y="27341"/>
                  </a:lnTo>
                  <a:lnTo>
                    <a:pt x="8556" y="14403"/>
                  </a:lnTo>
                  <a:lnTo>
                    <a:pt x="17365" y="14667"/>
                  </a:lnTo>
                  <a:cubicBezTo>
                    <a:pt x="18086" y="14039"/>
                    <a:pt x="18835" y="13434"/>
                    <a:pt x="19611" y="12867"/>
                  </a:cubicBezTo>
                  <a:lnTo>
                    <a:pt x="21109" y="4234"/>
                  </a:lnTo>
                  <a:lnTo>
                    <a:pt x="35087" y="0"/>
                  </a:lnTo>
                  <a:lnTo>
                    <a:pt x="41144" y="6365"/>
                  </a:lnTo>
                  <a:cubicBezTo>
                    <a:pt x="42102" y="6420"/>
                    <a:pt x="43054" y="6513"/>
                    <a:pt x="44007" y="6651"/>
                  </a:cubicBezTo>
                  <a:lnTo>
                    <a:pt x="51197" y="1608"/>
                  </a:lnTo>
                  <a:lnTo>
                    <a:pt x="64086" y="8539"/>
                  </a:lnTo>
                  <a:lnTo>
                    <a:pt x="63816" y="17348"/>
                  </a:lnTo>
                  <a:cubicBezTo>
                    <a:pt x="64451" y="18060"/>
                    <a:pt x="65051" y="18795"/>
                    <a:pt x="65616" y="19551"/>
                  </a:cubicBezTo>
                  <a:lnTo>
                    <a:pt x="74277" y="21021"/>
                  </a:lnTo>
                  <a:lnTo>
                    <a:pt x="78511" y="35032"/>
                  </a:lnTo>
                  <a:lnTo>
                    <a:pt x="72085" y="41089"/>
                  </a:lnTo>
                  <a:cubicBezTo>
                    <a:pt x="72025" y="42074"/>
                    <a:pt x="71920" y="43054"/>
                    <a:pt x="71777" y="44029"/>
                  </a:cubicBezTo>
                  <a:lnTo>
                    <a:pt x="76826" y="51186"/>
                  </a:lnTo>
                  <a:lnTo>
                    <a:pt x="69834" y="64086"/>
                  </a:lnTo>
                  <a:lnTo>
                    <a:pt x="61063" y="63827"/>
                  </a:lnTo>
                  <a:cubicBezTo>
                    <a:pt x="60329" y="64469"/>
                    <a:pt x="59584" y="65081"/>
                    <a:pt x="58828" y="65660"/>
                  </a:cubicBezTo>
                  <a:lnTo>
                    <a:pt x="57292" y="74337"/>
                  </a:lnTo>
                  <a:close/>
                  <a:moveTo>
                    <a:pt x="42047" y="61140"/>
                  </a:moveTo>
                  <a:lnTo>
                    <a:pt x="46671" y="66051"/>
                  </a:lnTo>
                  <a:lnTo>
                    <a:pt x="47635" y="65765"/>
                  </a:lnTo>
                  <a:lnTo>
                    <a:pt x="48791" y="59103"/>
                  </a:lnTo>
                  <a:lnTo>
                    <a:pt x="50856" y="57798"/>
                  </a:lnTo>
                  <a:cubicBezTo>
                    <a:pt x="52344" y="56856"/>
                    <a:pt x="53710" y="55733"/>
                    <a:pt x="54924" y="54456"/>
                  </a:cubicBezTo>
                  <a:lnTo>
                    <a:pt x="56620" y="52678"/>
                  </a:lnTo>
                  <a:lnTo>
                    <a:pt x="63359" y="52882"/>
                  </a:lnTo>
                  <a:lnTo>
                    <a:pt x="63843" y="51984"/>
                  </a:lnTo>
                  <a:lnTo>
                    <a:pt x="59945" y="46479"/>
                  </a:lnTo>
                  <a:lnTo>
                    <a:pt x="60496" y="44062"/>
                  </a:lnTo>
                  <a:cubicBezTo>
                    <a:pt x="60897" y="42327"/>
                    <a:pt x="61082" y="40550"/>
                    <a:pt x="61047" y="38771"/>
                  </a:cubicBezTo>
                  <a:lnTo>
                    <a:pt x="61008" y="36337"/>
                  </a:lnTo>
                  <a:lnTo>
                    <a:pt x="65908" y="31729"/>
                  </a:lnTo>
                  <a:lnTo>
                    <a:pt x="65622" y="30777"/>
                  </a:lnTo>
                  <a:lnTo>
                    <a:pt x="58960" y="29675"/>
                  </a:lnTo>
                  <a:lnTo>
                    <a:pt x="57650" y="27589"/>
                  </a:lnTo>
                  <a:cubicBezTo>
                    <a:pt x="56717" y="26104"/>
                    <a:pt x="55608" y="24738"/>
                    <a:pt x="54346" y="23520"/>
                  </a:cubicBezTo>
                  <a:lnTo>
                    <a:pt x="52579" y="21824"/>
                  </a:lnTo>
                  <a:lnTo>
                    <a:pt x="52788" y="15052"/>
                  </a:lnTo>
                  <a:lnTo>
                    <a:pt x="51880" y="14562"/>
                  </a:lnTo>
                  <a:lnTo>
                    <a:pt x="46374" y="18416"/>
                  </a:lnTo>
                  <a:lnTo>
                    <a:pt x="44001" y="17866"/>
                  </a:lnTo>
                  <a:cubicBezTo>
                    <a:pt x="42285" y="17470"/>
                    <a:pt x="40525" y="17296"/>
                    <a:pt x="38765" y="17348"/>
                  </a:cubicBezTo>
                  <a:lnTo>
                    <a:pt x="36332" y="17398"/>
                  </a:lnTo>
                  <a:lnTo>
                    <a:pt x="31718" y="12525"/>
                  </a:lnTo>
                  <a:lnTo>
                    <a:pt x="30749" y="12817"/>
                  </a:lnTo>
                  <a:lnTo>
                    <a:pt x="29587" y="19518"/>
                  </a:lnTo>
                  <a:lnTo>
                    <a:pt x="27473" y="20822"/>
                  </a:lnTo>
                  <a:cubicBezTo>
                    <a:pt x="25980" y="21742"/>
                    <a:pt x="24606" y="22842"/>
                    <a:pt x="23382" y="24098"/>
                  </a:cubicBezTo>
                  <a:lnTo>
                    <a:pt x="21692" y="25832"/>
                  </a:lnTo>
                  <a:lnTo>
                    <a:pt x="14964" y="25634"/>
                  </a:lnTo>
                  <a:lnTo>
                    <a:pt x="14458" y="26565"/>
                  </a:lnTo>
                  <a:lnTo>
                    <a:pt x="18383" y="32070"/>
                  </a:lnTo>
                  <a:lnTo>
                    <a:pt x="17833" y="34460"/>
                  </a:lnTo>
                  <a:cubicBezTo>
                    <a:pt x="17453" y="36180"/>
                    <a:pt x="17282" y="37940"/>
                    <a:pt x="17321" y="39701"/>
                  </a:cubicBezTo>
                  <a:lnTo>
                    <a:pt x="17376" y="42151"/>
                  </a:lnTo>
                  <a:lnTo>
                    <a:pt x="12459" y="46781"/>
                  </a:lnTo>
                  <a:lnTo>
                    <a:pt x="12746" y="47728"/>
                  </a:lnTo>
                  <a:lnTo>
                    <a:pt x="19396" y="48830"/>
                  </a:lnTo>
                  <a:lnTo>
                    <a:pt x="20712" y="50916"/>
                  </a:lnTo>
                  <a:cubicBezTo>
                    <a:pt x="21643" y="52402"/>
                    <a:pt x="22752" y="53769"/>
                    <a:pt x="24016" y="54985"/>
                  </a:cubicBezTo>
                  <a:lnTo>
                    <a:pt x="25794" y="56697"/>
                  </a:lnTo>
                  <a:lnTo>
                    <a:pt x="25596" y="63535"/>
                  </a:lnTo>
                  <a:lnTo>
                    <a:pt x="26482" y="64014"/>
                  </a:lnTo>
                  <a:lnTo>
                    <a:pt x="31988" y="60133"/>
                  </a:lnTo>
                  <a:lnTo>
                    <a:pt x="34372" y="60683"/>
                  </a:lnTo>
                  <a:cubicBezTo>
                    <a:pt x="36083" y="61085"/>
                    <a:pt x="37840" y="61261"/>
                    <a:pt x="39597" y="61206"/>
                  </a:cubicBezTo>
                  <a:close/>
                </a:path>
              </a:pathLst>
            </a:custGeom>
            <a:grpFill/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40605174-76F4-79D6-A4EB-36F4522D749E}"/>
                </a:ext>
              </a:extLst>
            </p:cNvPr>
            <p:cNvSpPr/>
            <p:nvPr/>
          </p:nvSpPr>
          <p:spPr>
            <a:xfrm>
              <a:off x="1209367" y="2612421"/>
              <a:ext cx="20144" cy="20142"/>
            </a:xfrm>
            <a:custGeom>
              <a:avLst/>
              <a:gdLst>
                <a:gd name="connsiteX0" fmla="*/ 10065 w 20144"/>
                <a:gd name="connsiteY0" fmla="*/ 0 h 20142"/>
                <a:gd name="connsiteX1" fmla="*/ 7163 w 20144"/>
                <a:gd name="connsiteY1" fmla="*/ 429 h 20142"/>
                <a:gd name="connsiteX2" fmla="*/ 7163 w 20144"/>
                <a:gd name="connsiteY2" fmla="*/ 429 h 20142"/>
                <a:gd name="connsiteX3" fmla="*/ 432 w 20144"/>
                <a:gd name="connsiteY3" fmla="*/ 12979 h 20142"/>
                <a:gd name="connsiteX4" fmla="*/ 12982 w 20144"/>
                <a:gd name="connsiteY4" fmla="*/ 19710 h 20142"/>
                <a:gd name="connsiteX5" fmla="*/ 19713 w 20144"/>
                <a:gd name="connsiteY5" fmla="*/ 7161 h 20142"/>
                <a:gd name="connsiteX6" fmla="*/ 10070 w 20144"/>
                <a:gd name="connsiteY6" fmla="*/ 0 h 2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144" h="20142">
                  <a:moveTo>
                    <a:pt x="10065" y="0"/>
                  </a:moveTo>
                  <a:cubicBezTo>
                    <a:pt x="9082" y="1"/>
                    <a:pt x="8104" y="145"/>
                    <a:pt x="7163" y="429"/>
                  </a:cubicBezTo>
                  <a:lnTo>
                    <a:pt x="7163" y="429"/>
                  </a:lnTo>
                  <a:cubicBezTo>
                    <a:pt x="1839" y="2036"/>
                    <a:pt x="-1175" y="7655"/>
                    <a:pt x="432" y="12979"/>
                  </a:cubicBezTo>
                  <a:cubicBezTo>
                    <a:pt x="2039" y="18304"/>
                    <a:pt x="7658" y="21317"/>
                    <a:pt x="12982" y="19710"/>
                  </a:cubicBezTo>
                  <a:cubicBezTo>
                    <a:pt x="18306" y="18104"/>
                    <a:pt x="21320" y="12485"/>
                    <a:pt x="19713" y="7161"/>
                  </a:cubicBezTo>
                  <a:cubicBezTo>
                    <a:pt x="18429" y="2908"/>
                    <a:pt x="14512" y="-1"/>
                    <a:pt x="10070" y="0"/>
                  </a:cubicBezTo>
                  <a:close/>
                </a:path>
              </a:pathLst>
            </a:custGeom>
            <a:grpFill/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E3EFB0C0-0AFA-C6E1-36C6-D95E8F3B2E87}"/>
                </a:ext>
              </a:extLst>
            </p:cNvPr>
            <p:cNvSpPr/>
            <p:nvPr/>
          </p:nvSpPr>
          <p:spPr>
            <a:xfrm>
              <a:off x="1164980" y="2664515"/>
              <a:ext cx="78438" cy="78554"/>
            </a:xfrm>
            <a:custGeom>
              <a:avLst/>
              <a:gdLst>
                <a:gd name="connsiteX0" fmla="*/ 43329 w 78438"/>
                <a:gd name="connsiteY0" fmla="*/ 78555 h 78554"/>
                <a:gd name="connsiteX1" fmla="*/ 37273 w 78438"/>
                <a:gd name="connsiteY1" fmla="*/ 72140 h 78554"/>
                <a:gd name="connsiteX2" fmla="*/ 34421 w 78438"/>
                <a:gd name="connsiteY2" fmla="*/ 71854 h 78554"/>
                <a:gd name="connsiteX3" fmla="*/ 27264 w 78438"/>
                <a:gd name="connsiteY3" fmla="*/ 76919 h 78554"/>
                <a:gd name="connsiteX4" fmla="*/ 14353 w 78438"/>
                <a:gd name="connsiteY4" fmla="*/ 69960 h 78554"/>
                <a:gd name="connsiteX5" fmla="*/ 14678 w 78438"/>
                <a:gd name="connsiteY5" fmla="*/ 61091 h 78554"/>
                <a:gd name="connsiteX6" fmla="*/ 12883 w 78438"/>
                <a:gd name="connsiteY6" fmla="*/ 58888 h 78554"/>
                <a:gd name="connsiteX7" fmla="*/ 4234 w 78438"/>
                <a:gd name="connsiteY7" fmla="*/ 57424 h 78554"/>
                <a:gd name="connsiteX8" fmla="*/ 0 w 78438"/>
                <a:gd name="connsiteY8" fmla="*/ 43418 h 78554"/>
                <a:gd name="connsiteX9" fmla="*/ 6409 w 78438"/>
                <a:gd name="connsiteY9" fmla="*/ 37361 h 78554"/>
                <a:gd name="connsiteX10" fmla="*/ 6684 w 78438"/>
                <a:gd name="connsiteY10" fmla="*/ 34537 h 78554"/>
                <a:gd name="connsiteX11" fmla="*/ 1487 w 78438"/>
                <a:gd name="connsiteY11" fmla="*/ 27341 h 78554"/>
                <a:gd name="connsiteX12" fmla="*/ 8517 w 78438"/>
                <a:gd name="connsiteY12" fmla="*/ 14408 h 78554"/>
                <a:gd name="connsiteX13" fmla="*/ 17326 w 78438"/>
                <a:gd name="connsiteY13" fmla="*/ 14673 h 78554"/>
                <a:gd name="connsiteX14" fmla="*/ 19567 w 78438"/>
                <a:gd name="connsiteY14" fmla="*/ 12872 h 78554"/>
                <a:gd name="connsiteX15" fmla="*/ 21070 w 78438"/>
                <a:gd name="connsiteY15" fmla="*/ 4234 h 78554"/>
                <a:gd name="connsiteX16" fmla="*/ 35043 w 78438"/>
                <a:gd name="connsiteY16" fmla="*/ 0 h 78554"/>
                <a:gd name="connsiteX17" fmla="*/ 41072 w 78438"/>
                <a:gd name="connsiteY17" fmla="*/ 6365 h 78554"/>
                <a:gd name="connsiteX18" fmla="*/ 43935 w 78438"/>
                <a:gd name="connsiteY18" fmla="*/ 6651 h 78554"/>
                <a:gd name="connsiteX19" fmla="*/ 51125 w 78438"/>
                <a:gd name="connsiteY19" fmla="*/ 1608 h 78554"/>
                <a:gd name="connsiteX20" fmla="*/ 64009 w 78438"/>
                <a:gd name="connsiteY20" fmla="*/ 8545 h 78554"/>
                <a:gd name="connsiteX21" fmla="*/ 63744 w 78438"/>
                <a:gd name="connsiteY21" fmla="*/ 17354 h 78554"/>
                <a:gd name="connsiteX22" fmla="*/ 65545 w 78438"/>
                <a:gd name="connsiteY22" fmla="*/ 19556 h 78554"/>
                <a:gd name="connsiteX23" fmla="*/ 74205 w 78438"/>
                <a:gd name="connsiteY23" fmla="*/ 21021 h 78554"/>
                <a:gd name="connsiteX24" fmla="*/ 78439 w 78438"/>
                <a:gd name="connsiteY24" fmla="*/ 35032 h 78554"/>
                <a:gd name="connsiteX25" fmla="*/ 72014 w 78438"/>
                <a:gd name="connsiteY25" fmla="*/ 41089 h 78554"/>
                <a:gd name="connsiteX26" fmla="*/ 71700 w 78438"/>
                <a:gd name="connsiteY26" fmla="*/ 44029 h 78554"/>
                <a:gd name="connsiteX27" fmla="*/ 76749 w 78438"/>
                <a:gd name="connsiteY27" fmla="*/ 51186 h 78554"/>
                <a:gd name="connsiteX28" fmla="*/ 69812 w 78438"/>
                <a:gd name="connsiteY28" fmla="*/ 64086 h 78554"/>
                <a:gd name="connsiteX29" fmla="*/ 61041 w 78438"/>
                <a:gd name="connsiteY29" fmla="*/ 63821 h 78554"/>
                <a:gd name="connsiteX30" fmla="*/ 58806 w 78438"/>
                <a:gd name="connsiteY30" fmla="*/ 65655 h 78554"/>
                <a:gd name="connsiteX31" fmla="*/ 57297 w 78438"/>
                <a:gd name="connsiteY31" fmla="*/ 74326 h 78554"/>
                <a:gd name="connsiteX32" fmla="*/ 42041 w 78438"/>
                <a:gd name="connsiteY32" fmla="*/ 61118 h 78554"/>
                <a:gd name="connsiteX33" fmla="*/ 46666 w 78438"/>
                <a:gd name="connsiteY33" fmla="*/ 66035 h 78554"/>
                <a:gd name="connsiteX34" fmla="*/ 47624 w 78438"/>
                <a:gd name="connsiteY34" fmla="*/ 65743 h 78554"/>
                <a:gd name="connsiteX35" fmla="*/ 48780 w 78438"/>
                <a:gd name="connsiteY35" fmla="*/ 59081 h 78554"/>
                <a:gd name="connsiteX36" fmla="*/ 50845 w 78438"/>
                <a:gd name="connsiteY36" fmla="*/ 57776 h 78554"/>
                <a:gd name="connsiteX37" fmla="*/ 54924 w 78438"/>
                <a:gd name="connsiteY37" fmla="*/ 54434 h 78554"/>
                <a:gd name="connsiteX38" fmla="*/ 56620 w 78438"/>
                <a:gd name="connsiteY38" fmla="*/ 52662 h 78554"/>
                <a:gd name="connsiteX39" fmla="*/ 63353 w 78438"/>
                <a:gd name="connsiteY39" fmla="*/ 52865 h 78554"/>
                <a:gd name="connsiteX40" fmla="*/ 63838 w 78438"/>
                <a:gd name="connsiteY40" fmla="*/ 51962 h 78554"/>
                <a:gd name="connsiteX41" fmla="*/ 59940 w 78438"/>
                <a:gd name="connsiteY41" fmla="*/ 46457 h 78554"/>
                <a:gd name="connsiteX42" fmla="*/ 60491 w 78438"/>
                <a:gd name="connsiteY42" fmla="*/ 44040 h 78554"/>
                <a:gd name="connsiteX43" fmla="*/ 61041 w 78438"/>
                <a:gd name="connsiteY43" fmla="*/ 38749 h 78554"/>
                <a:gd name="connsiteX44" fmla="*/ 61003 w 78438"/>
                <a:gd name="connsiteY44" fmla="*/ 36321 h 78554"/>
                <a:gd name="connsiteX45" fmla="*/ 65903 w 78438"/>
                <a:gd name="connsiteY45" fmla="*/ 31707 h 78554"/>
                <a:gd name="connsiteX46" fmla="*/ 65616 w 78438"/>
                <a:gd name="connsiteY46" fmla="*/ 30755 h 78554"/>
                <a:gd name="connsiteX47" fmla="*/ 58954 w 78438"/>
                <a:gd name="connsiteY47" fmla="*/ 29653 h 78554"/>
                <a:gd name="connsiteX48" fmla="*/ 57644 w 78438"/>
                <a:gd name="connsiteY48" fmla="*/ 27545 h 78554"/>
                <a:gd name="connsiteX49" fmla="*/ 54341 w 78438"/>
                <a:gd name="connsiteY49" fmla="*/ 23482 h 78554"/>
                <a:gd name="connsiteX50" fmla="*/ 52579 w 78438"/>
                <a:gd name="connsiteY50" fmla="*/ 21786 h 78554"/>
                <a:gd name="connsiteX51" fmla="*/ 52783 w 78438"/>
                <a:gd name="connsiteY51" fmla="*/ 15014 h 78554"/>
                <a:gd name="connsiteX52" fmla="*/ 51874 w 78438"/>
                <a:gd name="connsiteY52" fmla="*/ 14524 h 78554"/>
                <a:gd name="connsiteX53" fmla="*/ 46369 w 78438"/>
                <a:gd name="connsiteY53" fmla="*/ 18378 h 78554"/>
                <a:gd name="connsiteX54" fmla="*/ 43996 w 78438"/>
                <a:gd name="connsiteY54" fmla="*/ 17827 h 78554"/>
                <a:gd name="connsiteX55" fmla="*/ 38765 w 78438"/>
                <a:gd name="connsiteY55" fmla="*/ 17304 h 78554"/>
                <a:gd name="connsiteX56" fmla="*/ 36326 w 78438"/>
                <a:gd name="connsiteY56" fmla="*/ 17354 h 78554"/>
                <a:gd name="connsiteX57" fmla="*/ 31718 w 78438"/>
                <a:gd name="connsiteY57" fmla="*/ 12481 h 78554"/>
                <a:gd name="connsiteX58" fmla="*/ 30744 w 78438"/>
                <a:gd name="connsiteY58" fmla="*/ 12779 h 78554"/>
                <a:gd name="connsiteX59" fmla="*/ 29582 w 78438"/>
                <a:gd name="connsiteY59" fmla="*/ 19468 h 78554"/>
                <a:gd name="connsiteX60" fmla="*/ 27479 w 78438"/>
                <a:gd name="connsiteY60" fmla="*/ 20773 h 78554"/>
                <a:gd name="connsiteX61" fmla="*/ 23366 w 78438"/>
                <a:gd name="connsiteY61" fmla="*/ 24076 h 78554"/>
                <a:gd name="connsiteX62" fmla="*/ 21676 w 78438"/>
                <a:gd name="connsiteY62" fmla="*/ 25799 h 78554"/>
                <a:gd name="connsiteX63" fmla="*/ 14964 w 78438"/>
                <a:gd name="connsiteY63" fmla="*/ 25601 h 78554"/>
                <a:gd name="connsiteX64" fmla="*/ 14452 w 78438"/>
                <a:gd name="connsiteY64" fmla="*/ 26532 h 78554"/>
                <a:gd name="connsiteX65" fmla="*/ 18378 w 78438"/>
                <a:gd name="connsiteY65" fmla="*/ 32037 h 78554"/>
                <a:gd name="connsiteX66" fmla="*/ 17827 w 78438"/>
                <a:gd name="connsiteY66" fmla="*/ 34427 h 78554"/>
                <a:gd name="connsiteX67" fmla="*/ 17310 w 78438"/>
                <a:gd name="connsiteY67" fmla="*/ 39668 h 78554"/>
                <a:gd name="connsiteX68" fmla="*/ 17370 w 78438"/>
                <a:gd name="connsiteY68" fmla="*/ 42118 h 78554"/>
                <a:gd name="connsiteX69" fmla="*/ 12454 w 78438"/>
                <a:gd name="connsiteY69" fmla="*/ 46754 h 78554"/>
                <a:gd name="connsiteX70" fmla="*/ 12740 w 78438"/>
                <a:gd name="connsiteY70" fmla="*/ 47701 h 78554"/>
                <a:gd name="connsiteX71" fmla="*/ 19391 w 78438"/>
                <a:gd name="connsiteY71" fmla="*/ 48802 h 78554"/>
                <a:gd name="connsiteX72" fmla="*/ 20707 w 78438"/>
                <a:gd name="connsiteY72" fmla="*/ 50889 h 78554"/>
                <a:gd name="connsiteX73" fmla="*/ 24010 w 78438"/>
                <a:gd name="connsiteY73" fmla="*/ 54952 h 78554"/>
                <a:gd name="connsiteX74" fmla="*/ 25788 w 78438"/>
                <a:gd name="connsiteY74" fmla="*/ 56664 h 78554"/>
                <a:gd name="connsiteX75" fmla="*/ 25541 w 78438"/>
                <a:gd name="connsiteY75" fmla="*/ 63480 h 78554"/>
                <a:gd name="connsiteX76" fmla="*/ 26422 w 78438"/>
                <a:gd name="connsiteY76" fmla="*/ 63954 h 78554"/>
                <a:gd name="connsiteX77" fmla="*/ 31927 w 78438"/>
                <a:gd name="connsiteY77" fmla="*/ 60100 h 78554"/>
                <a:gd name="connsiteX78" fmla="*/ 34311 w 78438"/>
                <a:gd name="connsiteY78" fmla="*/ 60650 h 78554"/>
                <a:gd name="connsiteX79" fmla="*/ 39536 w 78438"/>
                <a:gd name="connsiteY79" fmla="*/ 61173 h 7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8438" h="78554">
                  <a:moveTo>
                    <a:pt x="43329" y="78555"/>
                  </a:moveTo>
                  <a:lnTo>
                    <a:pt x="37273" y="72140"/>
                  </a:lnTo>
                  <a:cubicBezTo>
                    <a:pt x="36321" y="72085"/>
                    <a:pt x="35368" y="71992"/>
                    <a:pt x="34421" y="71854"/>
                  </a:cubicBezTo>
                  <a:lnTo>
                    <a:pt x="27264" y="76919"/>
                  </a:lnTo>
                  <a:lnTo>
                    <a:pt x="14353" y="69960"/>
                  </a:lnTo>
                  <a:lnTo>
                    <a:pt x="14678" y="61091"/>
                  </a:lnTo>
                  <a:cubicBezTo>
                    <a:pt x="14045" y="60386"/>
                    <a:pt x="13450" y="59648"/>
                    <a:pt x="12883" y="58888"/>
                  </a:cubicBezTo>
                  <a:lnTo>
                    <a:pt x="4234" y="57424"/>
                  </a:lnTo>
                  <a:lnTo>
                    <a:pt x="0" y="43418"/>
                  </a:lnTo>
                  <a:lnTo>
                    <a:pt x="6409" y="37361"/>
                  </a:lnTo>
                  <a:cubicBezTo>
                    <a:pt x="6458" y="36414"/>
                    <a:pt x="6552" y="35473"/>
                    <a:pt x="6684" y="34537"/>
                  </a:cubicBezTo>
                  <a:lnTo>
                    <a:pt x="1487" y="27341"/>
                  </a:lnTo>
                  <a:lnTo>
                    <a:pt x="8517" y="14408"/>
                  </a:lnTo>
                  <a:lnTo>
                    <a:pt x="17326" y="14673"/>
                  </a:lnTo>
                  <a:cubicBezTo>
                    <a:pt x="18042" y="14039"/>
                    <a:pt x="18796" y="13439"/>
                    <a:pt x="19567" y="12872"/>
                  </a:cubicBezTo>
                  <a:lnTo>
                    <a:pt x="21070" y="4234"/>
                  </a:lnTo>
                  <a:lnTo>
                    <a:pt x="35043" y="0"/>
                  </a:lnTo>
                  <a:lnTo>
                    <a:pt x="41072" y="6365"/>
                  </a:lnTo>
                  <a:cubicBezTo>
                    <a:pt x="42030" y="6420"/>
                    <a:pt x="42983" y="6519"/>
                    <a:pt x="43935" y="6651"/>
                  </a:cubicBezTo>
                  <a:lnTo>
                    <a:pt x="51125" y="1608"/>
                  </a:lnTo>
                  <a:lnTo>
                    <a:pt x="64009" y="8545"/>
                  </a:lnTo>
                  <a:lnTo>
                    <a:pt x="63744" y="17354"/>
                  </a:lnTo>
                  <a:cubicBezTo>
                    <a:pt x="64379" y="18066"/>
                    <a:pt x="64979" y="18800"/>
                    <a:pt x="65545" y="19556"/>
                  </a:cubicBezTo>
                  <a:lnTo>
                    <a:pt x="74205" y="21021"/>
                  </a:lnTo>
                  <a:lnTo>
                    <a:pt x="78439" y="35032"/>
                  </a:lnTo>
                  <a:lnTo>
                    <a:pt x="72014" y="41089"/>
                  </a:lnTo>
                  <a:cubicBezTo>
                    <a:pt x="71952" y="42076"/>
                    <a:pt x="71847" y="43056"/>
                    <a:pt x="71700" y="44029"/>
                  </a:cubicBezTo>
                  <a:lnTo>
                    <a:pt x="76749" y="51186"/>
                  </a:lnTo>
                  <a:lnTo>
                    <a:pt x="69812" y="64086"/>
                  </a:lnTo>
                  <a:lnTo>
                    <a:pt x="61041" y="63821"/>
                  </a:lnTo>
                  <a:cubicBezTo>
                    <a:pt x="60325" y="64466"/>
                    <a:pt x="59577" y="65077"/>
                    <a:pt x="58806" y="65655"/>
                  </a:cubicBezTo>
                  <a:lnTo>
                    <a:pt x="57297" y="74326"/>
                  </a:lnTo>
                  <a:close/>
                  <a:moveTo>
                    <a:pt x="42041" y="61118"/>
                  </a:moveTo>
                  <a:lnTo>
                    <a:pt x="46666" y="66035"/>
                  </a:lnTo>
                  <a:lnTo>
                    <a:pt x="47624" y="65743"/>
                  </a:lnTo>
                  <a:lnTo>
                    <a:pt x="48780" y="59081"/>
                  </a:lnTo>
                  <a:lnTo>
                    <a:pt x="50845" y="57776"/>
                  </a:lnTo>
                  <a:cubicBezTo>
                    <a:pt x="52335" y="56831"/>
                    <a:pt x="53705" y="55709"/>
                    <a:pt x="54924" y="54434"/>
                  </a:cubicBezTo>
                  <a:lnTo>
                    <a:pt x="56620" y="52662"/>
                  </a:lnTo>
                  <a:lnTo>
                    <a:pt x="63353" y="52865"/>
                  </a:lnTo>
                  <a:lnTo>
                    <a:pt x="63838" y="51962"/>
                  </a:lnTo>
                  <a:lnTo>
                    <a:pt x="59940" y="46457"/>
                  </a:lnTo>
                  <a:lnTo>
                    <a:pt x="60491" y="44040"/>
                  </a:lnTo>
                  <a:cubicBezTo>
                    <a:pt x="60891" y="42305"/>
                    <a:pt x="61076" y="40528"/>
                    <a:pt x="61041" y="38749"/>
                  </a:cubicBezTo>
                  <a:lnTo>
                    <a:pt x="61003" y="36321"/>
                  </a:lnTo>
                  <a:lnTo>
                    <a:pt x="65903" y="31707"/>
                  </a:lnTo>
                  <a:lnTo>
                    <a:pt x="65616" y="30755"/>
                  </a:lnTo>
                  <a:lnTo>
                    <a:pt x="58954" y="29653"/>
                  </a:lnTo>
                  <a:lnTo>
                    <a:pt x="57644" y="27545"/>
                  </a:lnTo>
                  <a:cubicBezTo>
                    <a:pt x="56715" y="26059"/>
                    <a:pt x="55606" y="24694"/>
                    <a:pt x="54341" y="23482"/>
                  </a:cubicBezTo>
                  <a:lnTo>
                    <a:pt x="52579" y="21786"/>
                  </a:lnTo>
                  <a:lnTo>
                    <a:pt x="52783" y="15014"/>
                  </a:lnTo>
                  <a:lnTo>
                    <a:pt x="51874" y="14524"/>
                  </a:lnTo>
                  <a:lnTo>
                    <a:pt x="46369" y="18378"/>
                  </a:lnTo>
                  <a:lnTo>
                    <a:pt x="43996" y="17827"/>
                  </a:lnTo>
                  <a:cubicBezTo>
                    <a:pt x="42282" y="17427"/>
                    <a:pt x="40524" y="17251"/>
                    <a:pt x="38765" y="17304"/>
                  </a:cubicBezTo>
                  <a:lnTo>
                    <a:pt x="36326" y="17354"/>
                  </a:lnTo>
                  <a:lnTo>
                    <a:pt x="31718" y="12481"/>
                  </a:lnTo>
                  <a:lnTo>
                    <a:pt x="30744" y="12779"/>
                  </a:lnTo>
                  <a:lnTo>
                    <a:pt x="29582" y="19468"/>
                  </a:lnTo>
                  <a:lnTo>
                    <a:pt x="27479" y="20773"/>
                  </a:lnTo>
                  <a:cubicBezTo>
                    <a:pt x="25979" y="21703"/>
                    <a:pt x="24598" y="22812"/>
                    <a:pt x="23366" y="24076"/>
                  </a:cubicBezTo>
                  <a:lnTo>
                    <a:pt x="21676" y="25799"/>
                  </a:lnTo>
                  <a:lnTo>
                    <a:pt x="14964" y="25601"/>
                  </a:lnTo>
                  <a:lnTo>
                    <a:pt x="14452" y="26532"/>
                  </a:lnTo>
                  <a:lnTo>
                    <a:pt x="18378" y="32037"/>
                  </a:lnTo>
                  <a:lnTo>
                    <a:pt x="17827" y="34427"/>
                  </a:lnTo>
                  <a:cubicBezTo>
                    <a:pt x="17449" y="36147"/>
                    <a:pt x="17275" y="37907"/>
                    <a:pt x="17310" y="39668"/>
                  </a:cubicBezTo>
                  <a:lnTo>
                    <a:pt x="17370" y="42118"/>
                  </a:lnTo>
                  <a:lnTo>
                    <a:pt x="12454" y="46754"/>
                  </a:lnTo>
                  <a:lnTo>
                    <a:pt x="12740" y="47701"/>
                  </a:lnTo>
                  <a:lnTo>
                    <a:pt x="19391" y="48802"/>
                  </a:lnTo>
                  <a:lnTo>
                    <a:pt x="20707" y="50889"/>
                  </a:lnTo>
                  <a:cubicBezTo>
                    <a:pt x="21638" y="52372"/>
                    <a:pt x="22748" y="53737"/>
                    <a:pt x="24010" y="54952"/>
                  </a:cubicBezTo>
                  <a:lnTo>
                    <a:pt x="25788" y="56664"/>
                  </a:lnTo>
                  <a:lnTo>
                    <a:pt x="25541" y="63480"/>
                  </a:lnTo>
                  <a:lnTo>
                    <a:pt x="26422" y="63954"/>
                  </a:lnTo>
                  <a:lnTo>
                    <a:pt x="31927" y="60100"/>
                  </a:lnTo>
                  <a:lnTo>
                    <a:pt x="34311" y="60650"/>
                  </a:lnTo>
                  <a:cubicBezTo>
                    <a:pt x="36022" y="61057"/>
                    <a:pt x="37779" y="61233"/>
                    <a:pt x="39536" y="61173"/>
                  </a:cubicBezTo>
                  <a:close/>
                </a:path>
              </a:pathLst>
            </a:custGeom>
            <a:grpFill/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E21074A-6E77-219F-1BE3-BC3C8A26409B}"/>
                </a:ext>
              </a:extLst>
            </p:cNvPr>
            <p:cNvSpPr/>
            <p:nvPr/>
          </p:nvSpPr>
          <p:spPr>
            <a:xfrm>
              <a:off x="1194159" y="2693690"/>
              <a:ext cx="20111" cy="20109"/>
            </a:xfrm>
            <a:custGeom>
              <a:avLst/>
              <a:gdLst>
                <a:gd name="connsiteX0" fmla="*/ 10032 w 20111"/>
                <a:gd name="connsiteY0" fmla="*/ 6 h 20109"/>
                <a:gd name="connsiteX1" fmla="*/ 7131 w 20111"/>
                <a:gd name="connsiteY1" fmla="*/ 435 h 20109"/>
                <a:gd name="connsiteX2" fmla="*/ 7131 w 20111"/>
                <a:gd name="connsiteY2" fmla="*/ 435 h 20109"/>
                <a:gd name="connsiteX3" fmla="*/ 438 w 20111"/>
                <a:gd name="connsiteY3" fmla="*/ 12978 h 20109"/>
                <a:gd name="connsiteX4" fmla="*/ 12981 w 20111"/>
                <a:gd name="connsiteY4" fmla="*/ 19672 h 20109"/>
                <a:gd name="connsiteX5" fmla="*/ 19674 w 20111"/>
                <a:gd name="connsiteY5" fmla="*/ 7128 h 20109"/>
                <a:gd name="connsiteX6" fmla="*/ 10038 w 20111"/>
                <a:gd name="connsiteY6" fmla="*/ 0 h 20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111" h="20109">
                  <a:moveTo>
                    <a:pt x="10032" y="6"/>
                  </a:moveTo>
                  <a:cubicBezTo>
                    <a:pt x="9049" y="9"/>
                    <a:pt x="8072" y="153"/>
                    <a:pt x="7131" y="435"/>
                  </a:cubicBezTo>
                  <a:lnTo>
                    <a:pt x="7131" y="435"/>
                  </a:lnTo>
                  <a:cubicBezTo>
                    <a:pt x="1819" y="2050"/>
                    <a:pt x="-1178" y="7667"/>
                    <a:pt x="438" y="12978"/>
                  </a:cubicBezTo>
                  <a:cubicBezTo>
                    <a:pt x="2053" y="18290"/>
                    <a:pt x="7669" y="21287"/>
                    <a:pt x="12981" y="19672"/>
                  </a:cubicBezTo>
                  <a:cubicBezTo>
                    <a:pt x="18293" y="18056"/>
                    <a:pt x="21290" y="12440"/>
                    <a:pt x="19674" y="7128"/>
                  </a:cubicBezTo>
                  <a:cubicBezTo>
                    <a:pt x="18385" y="2888"/>
                    <a:pt x="14470" y="-8"/>
                    <a:pt x="10038" y="0"/>
                  </a:cubicBezTo>
                  <a:close/>
                </a:path>
              </a:pathLst>
            </a:custGeom>
            <a:grpFill/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</p:grpSp>
      <p:pic>
        <p:nvPicPr>
          <p:cNvPr id="118" name="Picture 117">
            <a:extLst>
              <a:ext uri="{FF2B5EF4-FFF2-40B4-BE49-F238E27FC236}">
                <a16:creationId xmlns:a16="http://schemas.microsoft.com/office/drawing/2014/main" id="{053C8534-B869-17EE-DB36-21ED253046C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  <a14:imgEffect>
                      <a14:saturation sat="33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597925" y="4053395"/>
            <a:ext cx="1261202" cy="350424"/>
          </a:xfrm>
          <a:prstGeom prst="rect">
            <a:avLst/>
          </a:prstGeom>
        </p:spPr>
      </p:pic>
      <p:pic>
        <p:nvPicPr>
          <p:cNvPr id="1036" name="Picture 12" descr="Variable PWM Frequenz - movie-intercom LightingFX Tools">
            <a:extLst>
              <a:ext uri="{FF2B5EF4-FFF2-40B4-BE49-F238E27FC236}">
                <a16:creationId xmlns:a16="http://schemas.microsoft.com/office/drawing/2014/main" id="{C000AC7D-F437-96C1-7863-C703621BA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8752" y="5601700"/>
            <a:ext cx="478674" cy="36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19FD188-9003-1177-7495-401727F1B3A8}"/>
              </a:ext>
            </a:extLst>
          </p:cNvPr>
          <p:cNvGrpSpPr/>
          <p:nvPr/>
        </p:nvGrpSpPr>
        <p:grpSpPr>
          <a:xfrm>
            <a:off x="2046566" y="972928"/>
            <a:ext cx="2260661" cy="4899682"/>
            <a:chOff x="2046566" y="972928"/>
            <a:chExt cx="2260661" cy="489968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209117-15E1-1C2B-5DED-F7451984C602}"/>
                </a:ext>
              </a:extLst>
            </p:cNvPr>
            <p:cNvSpPr txBox="1"/>
            <p:nvPr/>
          </p:nvSpPr>
          <p:spPr>
            <a:xfrm>
              <a:off x="3864316" y="3754062"/>
              <a:ext cx="293152" cy="211203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txBody>
            <a:bodyPr wrap="square" lIns="36000" tIns="36000" rIns="36000" bIns="36000" rtlCol="0">
              <a:sp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BD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63C164-79E1-255B-3701-C85F8B822890}"/>
                </a:ext>
              </a:extLst>
            </p:cNvPr>
            <p:cNvSpPr txBox="1"/>
            <p:nvPr/>
          </p:nvSpPr>
          <p:spPr>
            <a:xfrm>
              <a:off x="2236958" y="3964387"/>
              <a:ext cx="293152" cy="211203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txBody>
            <a:bodyPr wrap="square" lIns="36000" tIns="36000" rIns="36000" bIns="36000" rtlCol="0">
              <a:sp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BD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A2D515-7523-9D83-D7F1-F2422E228C51}"/>
                </a:ext>
              </a:extLst>
            </p:cNvPr>
            <p:cNvSpPr txBox="1"/>
            <p:nvPr/>
          </p:nvSpPr>
          <p:spPr>
            <a:xfrm>
              <a:off x="2536165" y="3746132"/>
              <a:ext cx="293152" cy="211203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txBody>
            <a:bodyPr wrap="square" lIns="36000" tIns="36000" rIns="36000" bIns="36000" rtlCol="0">
              <a:sp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BD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A61AF3-4627-C819-AB42-12769190BCE2}"/>
                </a:ext>
              </a:extLst>
            </p:cNvPr>
            <p:cNvSpPr txBox="1"/>
            <p:nvPr/>
          </p:nvSpPr>
          <p:spPr>
            <a:xfrm>
              <a:off x="2227428" y="3739418"/>
              <a:ext cx="293152" cy="211203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txBody>
            <a:bodyPr wrap="square" lIns="36000" tIns="36000" rIns="36000" bIns="36000" rtlCol="0">
              <a:sp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BD </a:t>
              </a:r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EDD45871-D7B9-CF6C-B681-34132A42E6F4}"/>
                </a:ext>
              </a:extLst>
            </p:cNvPr>
            <p:cNvCxnSpPr>
              <a:cxnSpLocks/>
              <a:endCxn id="1029" idx="0"/>
            </p:cNvCxnSpPr>
            <p:nvPr/>
          </p:nvCxnSpPr>
          <p:spPr>
            <a:xfrm rot="5400000">
              <a:off x="2227769" y="3840498"/>
              <a:ext cx="1890137" cy="117767"/>
            </a:xfrm>
            <a:prstGeom prst="bentConnector3">
              <a:avLst>
                <a:gd name="adj1" fmla="val 50000"/>
              </a:avLst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A161791-0602-4DE4-E4AE-DBA0AA74DCE0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3570070" y="2904060"/>
              <a:ext cx="264889" cy="828216"/>
            </a:xfrm>
            <a:prstGeom prst="line">
              <a:avLst/>
            </a:prstGeom>
            <a:ln w="28575">
              <a:headEnd type="none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8454F82-5C36-F074-508F-39F6A7AD40D8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flipH="1">
              <a:off x="2595798" y="2904060"/>
              <a:ext cx="288565" cy="827615"/>
            </a:xfrm>
            <a:prstGeom prst="line">
              <a:avLst/>
            </a:prstGeom>
            <a:ln w="28575">
              <a:headEnd type="none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11C9CBF-550B-AD2E-02A1-731658928B29}"/>
                </a:ext>
              </a:extLst>
            </p:cNvPr>
            <p:cNvSpPr/>
            <p:nvPr/>
          </p:nvSpPr>
          <p:spPr>
            <a:xfrm>
              <a:off x="2177193" y="3731675"/>
              <a:ext cx="837210" cy="485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2FE1F3E-ED48-9933-6DE8-E3095EB3543D}"/>
                </a:ext>
              </a:extLst>
            </p:cNvPr>
            <p:cNvSpPr/>
            <p:nvPr/>
          </p:nvSpPr>
          <p:spPr>
            <a:xfrm>
              <a:off x="3410679" y="3732276"/>
              <a:ext cx="848563" cy="4852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3E04D7-7B95-658A-49D3-200859D97E78}"/>
                </a:ext>
              </a:extLst>
            </p:cNvPr>
            <p:cNvSpPr/>
            <p:nvPr/>
          </p:nvSpPr>
          <p:spPr>
            <a:xfrm>
              <a:off x="2705349" y="3818013"/>
              <a:ext cx="170341" cy="100668"/>
            </a:xfrm>
            <a:prstGeom prst="rect">
              <a:avLst/>
            </a:prstGeom>
            <a:solidFill>
              <a:srgbClr val="2E86F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CB5034-DD0F-BF0E-5110-C62033A0B824}"/>
                </a:ext>
              </a:extLst>
            </p:cNvPr>
            <p:cNvSpPr/>
            <p:nvPr/>
          </p:nvSpPr>
          <p:spPr>
            <a:xfrm>
              <a:off x="2310840" y="3819017"/>
              <a:ext cx="170341" cy="100668"/>
            </a:xfrm>
            <a:prstGeom prst="rect">
              <a:avLst/>
            </a:prstGeom>
            <a:solidFill>
              <a:srgbClr val="2E86F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680F162-64A7-23B4-A573-A1EE74C46FDD}"/>
                </a:ext>
              </a:extLst>
            </p:cNvPr>
            <p:cNvSpPr/>
            <p:nvPr/>
          </p:nvSpPr>
          <p:spPr>
            <a:xfrm>
              <a:off x="2310840" y="3996935"/>
              <a:ext cx="170341" cy="100668"/>
            </a:xfrm>
            <a:prstGeom prst="rect">
              <a:avLst/>
            </a:prstGeom>
            <a:solidFill>
              <a:srgbClr val="2E86F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03053D7-C5CC-7143-64F3-4BA0EEBEE6C6}"/>
                </a:ext>
              </a:extLst>
            </p:cNvPr>
            <p:cNvSpPr/>
            <p:nvPr/>
          </p:nvSpPr>
          <p:spPr>
            <a:xfrm>
              <a:off x="3484460" y="3838034"/>
              <a:ext cx="170341" cy="100668"/>
            </a:xfrm>
            <a:prstGeom prst="rect">
              <a:avLst/>
            </a:prstGeom>
            <a:solidFill>
              <a:srgbClr val="2E86F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827EF19-1E7A-DEFA-CAD3-E7CABD42A8A5}"/>
                </a:ext>
              </a:extLst>
            </p:cNvPr>
            <p:cNvSpPr/>
            <p:nvPr/>
          </p:nvSpPr>
          <p:spPr>
            <a:xfrm>
              <a:off x="3967505" y="3838034"/>
              <a:ext cx="170341" cy="100668"/>
            </a:xfrm>
            <a:prstGeom prst="rect">
              <a:avLst/>
            </a:prstGeom>
            <a:solidFill>
              <a:srgbClr val="2E86F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050" name="Rectangle 2049">
              <a:extLst>
                <a:ext uri="{FF2B5EF4-FFF2-40B4-BE49-F238E27FC236}">
                  <a16:creationId xmlns:a16="http://schemas.microsoft.com/office/drawing/2014/main" id="{C9A4DD33-4FE6-4BCF-AB43-CC9DDE26EDCD}"/>
                </a:ext>
              </a:extLst>
            </p:cNvPr>
            <p:cNvSpPr/>
            <p:nvPr/>
          </p:nvSpPr>
          <p:spPr>
            <a:xfrm>
              <a:off x="3487903" y="4012857"/>
              <a:ext cx="170341" cy="100668"/>
            </a:xfrm>
            <a:prstGeom prst="rect">
              <a:avLst/>
            </a:prstGeom>
            <a:solidFill>
              <a:srgbClr val="2E86F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02B0A6C8-FD05-B7B2-B57E-7437A27008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5569" y="4201120"/>
              <a:ext cx="4184" cy="1438877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2E2DAFE-241D-33DD-6AD7-AB37F6EE7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4050" y="5114306"/>
              <a:ext cx="152797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7368CF4-4087-F65F-6DBD-A570B744C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2532" y="4230623"/>
              <a:ext cx="609" cy="1262859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07AF1E0-408D-31DA-13FC-82DFB9CAF0E3}"/>
                </a:ext>
              </a:extLst>
            </p:cNvPr>
            <p:cNvCxnSpPr>
              <a:cxnSpLocks/>
            </p:cNvCxnSpPr>
            <p:nvPr/>
          </p:nvCxnSpPr>
          <p:spPr>
            <a:xfrm>
              <a:off x="2443888" y="5635063"/>
              <a:ext cx="135773" cy="3741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2CC980B-A0A4-1B4B-C8E9-C86CEF1FF3C5}"/>
                </a:ext>
              </a:extLst>
            </p:cNvPr>
            <p:cNvSpPr/>
            <p:nvPr/>
          </p:nvSpPr>
          <p:spPr>
            <a:xfrm>
              <a:off x="2273546" y="5564193"/>
              <a:ext cx="170341" cy="100668"/>
            </a:xfrm>
            <a:prstGeom prst="rect">
              <a:avLst/>
            </a:prstGeom>
            <a:solidFill>
              <a:srgbClr val="669933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32B2CBA-30F2-C830-5488-267A2F88E0A2}"/>
                </a:ext>
              </a:extLst>
            </p:cNvPr>
            <p:cNvSpPr/>
            <p:nvPr/>
          </p:nvSpPr>
          <p:spPr>
            <a:xfrm>
              <a:off x="4052990" y="5436522"/>
              <a:ext cx="170341" cy="100668"/>
            </a:xfrm>
            <a:prstGeom prst="rect">
              <a:avLst/>
            </a:prstGeom>
            <a:solidFill>
              <a:srgbClr val="9DD9F2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5FBAC3A-752F-526A-D7E5-09AA10004C8F}"/>
                </a:ext>
              </a:extLst>
            </p:cNvPr>
            <p:cNvCxnSpPr/>
            <p:nvPr/>
          </p:nvCxnSpPr>
          <p:spPr>
            <a:xfrm>
              <a:off x="3826268" y="5487793"/>
              <a:ext cx="228616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BAC3C9C-2464-5947-0853-67363F1615C3}"/>
                </a:ext>
              </a:extLst>
            </p:cNvPr>
            <p:cNvCxnSpPr>
              <a:cxnSpLocks/>
            </p:cNvCxnSpPr>
            <p:nvPr/>
          </p:nvCxnSpPr>
          <p:spPr>
            <a:xfrm>
              <a:off x="2579766" y="5290391"/>
              <a:ext cx="315278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0CDAB5E-9C26-3325-2C9B-61C546A383CE}"/>
                </a:ext>
              </a:extLst>
            </p:cNvPr>
            <p:cNvSpPr/>
            <p:nvPr/>
          </p:nvSpPr>
          <p:spPr>
            <a:xfrm>
              <a:off x="2884363" y="5259971"/>
              <a:ext cx="170341" cy="100668"/>
            </a:xfrm>
            <a:prstGeom prst="rect">
              <a:avLst/>
            </a:prstGeom>
            <a:solidFill>
              <a:srgbClr val="669933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AF2C1FC-5E38-87BF-27EA-203FE37E0987}"/>
                </a:ext>
              </a:extLst>
            </p:cNvPr>
            <p:cNvCxnSpPr>
              <a:cxnSpLocks/>
            </p:cNvCxnSpPr>
            <p:nvPr/>
          </p:nvCxnSpPr>
          <p:spPr>
            <a:xfrm>
              <a:off x="3603683" y="5073061"/>
              <a:ext cx="223812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66230D8-42A8-1557-9C6B-A7E304643BF6}"/>
                </a:ext>
              </a:extLst>
            </p:cNvPr>
            <p:cNvSpPr/>
            <p:nvPr/>
          </p:nvSpPr>
          <p:spPr>
            <a:xfrm rot="10800000">
              <a:off x="3433335" y="5022727"/>
              <a:ext cx="170341" cy="100668"/>
            </a:xfrm>
            <a:prstGeom prst="rect">
              <a:avLst/>
            </a:prstGeom>
            <a:solidFill>
              <a:srgbClr val="9DD9F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A1C8051-D515-E037-1D51-320B25284235}"/>
                </a:ext>
              </a:extLst>
            </p:cNvPr>
            <p:cNvSpPr/>
            <p:nvPr/>
          </p:nvSpPr>
          <p:spPr>
            <a:xfrm>
              <a:off x="2267589" y="5061258"/>
              <a:ext cx="170341" cy="100668"/>
            </a:xfrm>
            <a:prstGeom prst="rect">
              <a:avLst/>
            </a:prstGeom>
            <a:solidFill>
              <a:srgbClr val="669933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89F6080-EEFD-A4FB-C5C2-2056619DCC09}"/>
                </a:ext>
              </a:extLst>
            </p:cNvPr>
            <p:cNvSpPr/>
            <p:nvPr/>
          </p:nvSpPr>
          <p:spPr>
            <a:xfrm>
              <a:off x="2046566" y="1802817"/>
              <a:ext cx="2260661" cy="12142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pic>
          <p:nvPicPr>
            <p:cNvPr id="87" name="Graphic 86" descr="Battery charging with solid fill">
              <a:extLst>
                <a:ext uri="{FF2B5EF4-FFF2-40B4-BE49-F238E27FC236}">
                  <a16:creationId xmlns:a16="http://schemas.microsoft.com/office/drawing/2014/main" id="{4FFF9E2E-F9C4-5811-4AF2-880B4B944CF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52132" y="5644618"/>
              <a:ext cx="243655" cy="227992"/>
            </a:xfrm>
            <a:prstGeom prst="rect">
              <a:avLst/>
            </a:prstGeom>
          </p:spPr>
        </p:pic>
        <p:pic>
          <p:nvPicPr>
            <p:cNvPr id="88" name="Picture 4" descr="internal combustion engine Icon - Download internal combustion engine Icon  1670529 | Noun Project">
              <a:extLst>
                <a:ext uri="{FF2B5EF4-FFF2-40B4-BE49-F238E27FC236}">
                  <a16:creationId xmlns:a16="http://schemas.microsoft.com/office/drawing/2014/main" id="{13782167-2B52-A359-1B34-6383AC99D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screen">
              <a:alphaModFix/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0162" y="5148528"/>
              <a:ext cx="243323" cy="2276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8" descr="Electric motor Icons - 534 free icons">
              <a:extLst>
                <a:ext uri="{FF2B5EF4-FFF2-40B4-BE49-F238E27FC236}">
                  <a16:creationId xmlns:a16="http://schemas.microsoft.com/office/drawing/2014/main" id="{AB8D9738-938A-D16B-181A-E63EC0B34D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screen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7056" y="5340292"/>
              <a:ext cx="259327" cy="2426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2" descr="Download Car Brakes Comments - Brakes Icon Png PNG Image with No Background  - PNGkey.com">
              <a:extLst>
                <a:ext uri="{FF2B5EF4-FFF2-40B4-BE49-F238E27FC236}">
                  <a16:creationId xmlns:a16="http://schemas.microsoft.com/office/drawing/2014/main" id="{42998529-6A41-9879-EFE5-D760DD1515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0614" y="5573357"/>
              <a:ext cx="203409" cy="190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E6561ED-5C22-355A-C651-109B1E640BBE}"/>
                </a:ext>
              </a:extLst>
            </p:cNvPr>
            <p:cNvSpPr/>
            <p:nvPr/>
          </p:nvSpPr>
          <p:spPr>
            <a:xfrm>
              <a:off x="2113261" y="2509705"/>
              <a:ext cx="1251526" cy="482882"/>
            </a:xfrm>
            <a:prstGeom prst="rect">
              <a:avLst/>
            </a:prstGeom>
            <a:solidFill>
              <a:srgbClr val="E0F0D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Real Time</a:t>
              </a:r>
            </a:p>
          </p:txBody>
        </p:sp>
        <p:pic>
          <p:nvPicPr>
            <p:cNvPr id="114" name="Graphic 113" descr="Cloud outline">
              <a:extLst>
                <a:ext uri="{FF2B5EF4-FFF2-40B4-BE49-F238E27FC236}">
                  <a16:creationId xmlns:a16="http://schemas.microsoft.com/office/drawing/2014/main" id="{C75525CA-868B-374C-77F7-F1DFD778A9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746815" y="972928"/>
              <a:ext cx="907939" cy="894050"/>
            </a:xfrm>
            <a:prstGeom prst="rect">
              <a:avLst/>
            </a:prstGeom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CF5EA01-03A2-9EFB-88A1-714AA2369808}"/>
                </a:ext>
              </a:extLst>
            </p:cNvPr>
            <p:cNvSpPr txBox="1"/>
            <p:nvPr/>
          </p:nvSpPr>
          <p:spPr>
            <a:xfrm>
              <a:off x="2162839" y="2732423"/>
              <a:ext cx="354419" cy="211203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lIns="36000" tIns="36000" rIns="36000" bIns="36000" rtlCol="0">
              <a:sp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PT 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5E0B336-E506-082B-FBA1-D0667308E044}"/>
                </a:ext>
              </a:extLst>
            </p:cNvPr>
            <p:cNvSpPr txBox="1"/>
            <p:nvPr/>
          </p:nvSpPr>
          <p:spPr>
            <a:xfrm>
              <a:off x="2582521" y="2729062"/>
              <a:ext cx="354419" cy="211203"/>
            </a:xfrm>
            <a:prstGeom prst="rect">
              <a:avLst/>
            </a:prstGeom>
            <a:solidFill>
              <a:srgbClr val="9DD9F2"/>
            </a:solidFill>
          </p:spPr>
          <p:txBody>
            <a:bodyPr wrap="square" lIns="36000" tIns="36000" rIns="36000" bIns="36000" rtlCol="0">
              <a:sp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CS 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441D792-D16C-2238-A725-00B26B91C2C0}"/>
                </a:ext>
              </a:extLst>
            </p:cNvPr>
            <p:cNvSpPr txBox="1"/>
            <p:nvPr/>
          </p:nvSpPr>
          <p:spPr>
            <a:xfrm>
              <a:off x="3410679" y="2520331"/>
              <a:ext cx="829659" cy="1384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Central OTA 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0965B89-BEF9-C3C7-B901-1CC24868AA59}"/>
                </a:ext>
              </a:extLst>
            </p:cNvPr>
            <p:cNvSpPr txBox="1"/>
            <p:nvPr/>
          </p:nvSpPr>
          <p:spPr>
            <a:xfrm>
              <a:off x="2990300" y="2722510"/>
              <a:ext cx="354419" cy="211203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lIns="36000" tIns="36000" rIns="36000" bIns="36000" rtlCol="0">
              <a:sp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BD </a:t>
              </a:r>
            </a:p>
          </p:txBody>
        </p:sp>
        <p:pic>
          <p:nvPicPr>
            <p:cNvPr id="120" name="Graphic 119" descr="Database outline">
              <a:extLst>
                <a:ext uri="{FF2B5EF4-FFF2-40B4-BE49-F238E27FC236}">
                  <a16:creationId xmlns:a16="http://schemas.microsoft.com/office/drawing/2014/main" id="{24C9F8A3-5531-4574-11D1-B6475D72E7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638967" y="2667693"/>
              <a:ext cx="371144" cy="371144"/>
            </a:xfrm>
            <a:prstGeom prst="rect">
              <a:avLst/>
            </a:prstGeom>
          </p:spPr>
        </p:pic>
        <p:pic>
          <p:nvPicPr>
            <p:cNvPr id="121" name="Picture 2" descr="Car seat - Free transport icons">
              <a:extLst>
                <a:ext uri="{FF2B5EF4-FFF2-40B4-BE49-F238E27FC236}">
                  <a16:creationId xmlns:a16="http://schemas.microsoft.com/office/drawing/2014/main" id="{775CFCCB-FABB-3EDB-0B66-79E8FE036C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4168" y="4287821"/>
              <a:ext cx="168114" cy="168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B70CC17-E1E9-5B3B-03C7-8BDAEE5184F4}"/>
                </a:ext>
              </a:extLst>
            </p:cNvPr>
            <p:cNvCxnSpPr>
              <a:cxnSpLocks/>
              <a:stCxn id="28" idx="2"/>
              <a:endCxn id="121" idx="0"/>
            </p:cNvCxnSpPr>
            <p:nvPr/>
          </p:nvCxnSpPr>
          <p:spPr>
            <a:xfrm>
              <a:off x="2396011" y="4097603"/>
              <a:ext cx="2214" cy="190218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5DC4B94-91A0-0283-EEF5-9A9B33D21A43}"/>
                </a:ext>
              </a:extLst>
            </p:cNvPr>
            <p:cNvSpPr/>
            <p:nvPr/>
          </p:nvSpPr>
          <p:spPr>
            <a:xfrm>
              <a:off x="3968670" y="4012566"/>
              <a:ext cx="170341" cy="100668"/>
            </a:xfrm>
            <a:prstGeom prst="rect">
              <a:avLst/>
            </a:prstGeom>
            <a:solidFill>
              <a:srgbClr val="2E86F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pic>
          <p:nvPicPr>
            <p:cNvPr id="125" name="Picture 2" descr="Car seat - Free transport icons">
              <a:extLst>
                <a:ext uri="{FF2B5EF4-FFF2-40B4-BE49-F238E27FC236}">
                  <a16:creationId xmlns:a16="http://schemas.microsoft.com/office/drawing/2014/main" id="{201137D3-67B4-F9E2-09B2-41DA59785A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7982" y="4235742"/>
              <a:ext cx="168114" cy="168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CFA0A3E-2FB1-8620-75D9-EE9F2C8BCA18}"/>
                </a:ext>
              </a:extLst>
            </p:cNvPr>
            <p:cNvCxnSpPr>
              <a:cxnSpLocks/>
            </p:cNvCxnSpPr>
            <p:nvPr/>
          </p:nvCxnSpPr>
          <p:spPr>
            <a:xfrm>
              <a:off x="3549477" y="4101540"/>
              <a:ext cx="0" cy="112425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: Elbow 126">
              <a:extLst>
                <a:ext uri="{FF2B5EF4-FFF2-40B4-BE49-F238E27FC236}">
                  <a16:creationId xmlns:a16="http://schemas.microsoft.com/office/drawing/2014/main" id="{D2F05FC6-D5AF-3C0B-82C8-7A177FF610EF}"/>
                </a:ext>
              </a:extLst>
            </p:cNvPr>
            <p:cNvCxnSpPr>
              <a:cxnSpLocks/>
              <a:endCxn id="89" idx="3"/>
            </p:cNvCxnSpPr>
            <p:nvPr/>
          </p:nvCxnSpPr>
          <p:spPr>
            <a:xfrm rot="16200000" flipH="1">
              <a:off x="2845822" y="5211058"/>
              <a:ext cx="493865" cy="7257"/>
            </a:xfrm>
            <a:prstGeom prst="bentConnector4">
              <a:avLst>
                <a:gd name="adj1" fmla="val 37716"/>
                <a:gd name="adj2" fmla="val 1084498"/>
              </a:avLst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06E152F4-877F-2608-1DF1-4BAD65A2A33A}"/>
                </a:ext>
              </a:extLst>
            </p:cNvPr>
            <p:cNvCxnSpPr>
              <a:cxnSpLocks/>
            </p:cNvCxnSpPr>
            <p:nvPr/>
          </p:nvCxnSpPr>
          <p:spPr>
            <a:xfrm>
              <a:off x="2392835" y="3616629"/>
              <a:ext cx="2214" cy="190218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5" name="Picture 4" descr="Open Car Trunk Icons - Free SVG &amp; PNG Open Car Trunk Images - Noun Project">
              <a:extLst>
                <a:ext uri="{FF2B5EF4-FFF2-40B4-BE49-F238E27FC236}">
                  <a16:creationId xmlns:a16="http://schemas.microsoft.com/office/drawing/2014/main" id="{241C3DB7-481E-9C35-DF9A-3C55C45A2E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8606" y="3424403"/>
              <a:ext cx="216959" cy="2169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C0D48F22-CE4C-5E3C-5745-60DF4EBB5E15}"/>
                </a:ext>
              </a:extLst>
            </p:cNvPr>
            <p:cNvSpPr/>
            <p:nvPr/>
          </p:nvSpPr>
          <p:spPr>
            <a:xfrm>
              <a:off x="2809205" y="4844450"/>
              <a:ext cx="170341" cy="100668"/>
            </a:xfrm>
            <a:prstGeom prst="rect">
              <a:avLst/>
            </a:prstGeom>
            <a:solidFill>
              <a:srgbClr val="669933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EBBC4B7A-517B-D365-F6C0-1C1EDCBB0B54}"/>
                </a:ext>
              </a:extLst>
            </p:cNvPr>
            <p:cNvSpPr/>
            <p:nvPr/>
          </p:nvSpPr>
          <p:spPr>
            <a:xfrm>
              <a:off x="3028782" y="4844450"/>
              <a:ext cx="170341" cy="100668"/>
            </a:xfrm>
            <a:prstGeom prst="rect">
              <a:avLst/>
            </a:prstGeom>
            <a:solidFill>
              <a:srgbClr val="669933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1031" name="Connector: Elbow 1030">
              <a:extLst>
                <a:ext uri="{FF2B5EF4-FFF2-40B4-BE49-F238E27FC236}">
                  <a16:creationId xmlns:a16="http://schemas.microsoft.com/office/drawing/2014/main" id="{DD189C2E-4BB7-4929-C4C3-402221A5B3FE}"/>
                </a:ext>
              </a:extLst>
            </p:cNvPr>
            <p:cNvCxnSpPr>
              <a:cxnSpLocks/>
              <a:stCxn id="1027" idx="2"/>
              <a:endCxn id="88" idx="3"/>
            </p:cNvCxnSpPr>
            <p:nvPr/>
          </p:nvCxnSpPr>
          <p:spPr>
            <a:xfrm rot="5400000">
              <a:off x="2530306" y="4898298"/>
              <a:ext cx="317251" cy="410891"/>
            </a:xfrm>
            <a:prstGeom prst="bentConnector2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Arrow Connector 1031">
              <a:extLst>
                <a:ext uri="{FF2B5EF4-FFF2-40B4-BE49-F238E27FC236}">
                  <a16:creationId xmlns:a16="http://schemas.microsoft.com/office/drawing/2014/main" id="{04765220-DE89-B69C-2C67-AF12F98D1607}"/>
                </a:ext>
              </a:extLst>
            </p:cNvPr>
            <p:cNvCxnSpPr>
              <a:cxnSpLocks/>
            </p:cNvCxnSpPr>
            <p:nvPr/>
          </p:nvCxnSpPr>
          <p:spPr>
            <a:xfrm>
              <a:off x="2220620" y="2149169"/>
              <a:ext cx="0" cy="259199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49B28193-0BC2-19EF-CA98-513F202B4344}"/>
                </a:ext>
              </a:extLst>
            </p:cNvPr>
            <p:cNvCxnSpPr>
              <a:cxnSpLocks/>
              <a:endCxn id="86" idx="0"/>
            </p:cNvCxnSpPr>
            <p:nvPr/>
          </p:nvCxnSpPr>
          <p:spPr>
            <a:xfrm>
              <a:off x="3176897" y="1611692"/>
              <a:ext cx="0" cy="1911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330154B9-280C-48A4-AE42-0357D47553D4}"/>
                </a:ext>
              </a:extLst>
            </p:cNvPr>
            <p:cNvSpPr/>
            <p:nvPr/>
          </p:nvSpPr>
          <p:spPr>
            <a:xfrm>
              <a:off x="3730749" y="3920279"/>
              <a:ext cx="170341" cy="100668"/>
            </a:xfrm>
            <a:prstGeom prst="rect">
              <a:avLst/>
            </a:prstGeom>
            <a:solidFill>
              <a:srgbClr val="2E86F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0DFCBF07-0AF7-B82A-D3CF-AA7715056DAF}"/>
                </a:ext>
              </a:extLst>
            </p:cNvPr>
            <p:cNvSpPr/>
            <p:nvPr/>
          </p:nvSpPr>
          <p:spPr>
            <a:xfrm>
              <a:off x="3433237" y="5262368"/>
              <a:ext cx="170341" cy="100668"/>
            </a:xfrm>
            <a:prstGeom prst="rect">
              <a:avLst/>
            </a:prstGeom>
            <a:solidFill>
              <a:srgbClr val="2E86F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BAE84CF7-B7A3-635F-6988-F574D9D64566}"/>
                </a:ext>
              </a:extLst>
            </p:cNvPr>
            <p:cNvCxnSpPr>
              <a:cxnSpLocks/>
            </p:cNvCxnSpPr>
            <p:nvPr/>
          </p:nvCxnSpPr>
          <p:spPr>
            <a:xfrm>
              <a:off x="3603184" y="5314033"/>
              <a:ext cx="223812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1394837A-BBB3-ED8C-38E8-96DE0B0A01DC}"/>
                </a:ext>
              </a:extLst>
            </p:cNvPr>
            <p:cNvSpPr/>
            <p:nvPr/>
          </p:nvSpPr>
          <p:spPr>
            <a:xfrm>
              <a:off x="4046077" y="5152805"/>
              <a:ext cx="170341" cy="100668"/>
            </a:xfrm>
            <a:prstGeom prst="rect">
              <a:avLst/>
            </a:prstGeom>
            <a:solidFill>
              <a:srgbClr val="2E86F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57C3C648-50AE-515B-383E-5B402F691E93}"/>
                </a:ext>
              </a:extLst>
            </p:cNvPr>
            <p:cNvCxnSpPr>
              <a:cxnSpLocks/>
            </p:cNvCxnSpPr>
            <p:nvPr/>
          </p:nvCxnSpPr>
          <p:spPr>
            <a:xfrm>
              <a:off x="3829194" y="5193985"/>
              <a:ext cx="223812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1" name="Group 1040">
              <a:extLst>
                <a:ext uri="{FF2B5EF4-FFF2-40B4-BE49-F238E27FC236}">
                  <a16:creationId xmlns:a16="http://schemas.microsoft.com/office/drawing/2014/main" id="{C30E3B2E-F85D-63E6-2CCF-5C06FB3E0B79}"/>
                </a:ext>
              </a:extLst>
            </p:cNvPr>
            <p:cNvGrpSpPr/>
            <p:nvPr/>
          </p:nvGrpSpPr>
          <p:grpSpPr>
            <a:xfrm>
              <a:off x="2113261" y="1827109"/>
              <a:ext cx="2110070" cy="558729"/>
              <a:chOff x="7929666" y="788378"/>
              <a:chExt cx="2110070" cy="558729"/>
            </a:xfrm>
          </p:grpSpPr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30E52E25-3E79-4445-F802-BF89CE3DE9D3}"/>
                  </a:ext>
                </a:extLst>
              </p:cNvPr>
              <p:cNvSpPr/>
              <p:nvPr/>
            </p:nvSpPr>
            <p:spPr>
              <a:xfrm>
                <a:off x="7929666" y="788378"/>
                <a:ext cx="2110070" cy="5587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white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>
                        <a:lumMod val="75000"/>
                      </a:srgbClr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High Performance Computers</a:t>
                </a:r>
                <a:endParaRPr kumimoji="0" lang="en-US" sz="500" b="1" i="0" u="none" strike="noStrike" kern="1200" cap="none" spc="0" normalizeH="0" baseline="0" noProof="0">
                  <a:ln>
                    <a:noFill/>
                  </a:ln>
                  <a:solidFill>
                    <a:srgbClr val="3C3C3B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E443B1A3-E10D-8856-DD15-682DDDE0F771}"/>
                  </a:ext>
                </a:extLst>
              </p:cNvPr>
              <p:cNvSpPr/>
              <p:nvPr/>
            </p:nvSpPr>
            <p:spPr>
              <a:xfrm>
                <a:off x="7967742" y="1010715"/>
                <a:ext cx="601029" cy="20064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white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ADAS</a:t>
                </a:r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A55E9931-A640-7442-4DCC-9044BE8C1781}"/>
                  </a:ext>
                </a:extLst>
              </p:cNvPr>
              <p:cNvSpPr/>
              <p:nvPr/>
            </p:nvSpPr>
            <p:spPr>
              <a:xfrm>
                <a:off x="8659972" y="1005801"/>
                <a:ext cx="601029" cy="20249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white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IVI</a:t>
                </a:r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6A05B669-2B68-CB50-6440-734CAE3CC894}"/>
                  </a:ext>
                </a:extLst>
              </p:cNvPr>
              <p:cNvSpPr/>
              <p:nvPr/>
            </p:nvSpPr>
            <p:spPr>
              <a:xfrm>
                <a:off x="9335766" y="1000559"/>
                <a:ext cx="649614" cy="20064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white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GW.</a:t>
                </a:r>
              </a:p>
            </p:txBody>
          </p:sp>
        </p:grp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3D0937B1-85A2-7F5F-9988-633383319C5C}"/>
              </a:ext>
            </a:extLst>
          </p:cNvPr>
          <p:cNvSpPr/>
          <p:nvPr/>
        </p:nvSpPr>
        <p:spPr>
          <a:xfrm>
            <a:off x="2894262" y="3293497"/>
            <a:ext cx="672261" cy="331231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DCU</a:t>
            </a:r>
          </a:p>
        </p:txBody>
      </p:sp>
      <p:sp>
        <p:nvSpPr>
          <p:cNvPr id="27" name="正方形/長方形 54">
            <a:extLst>
              <a:ext uri="{FF2B5EF4-FFF2-40B4-BE49-F238E27FC236}">
                <a16:creationId xmlns:a16="http://schemas.microsoft.com/office/drawing/2014/main" id="{C54E946C-F56D-7EB2-73EC-F75BD14E1ABE}"/>
              </a:ext>
            </a:extLst>
          </p:cNvPr>
          <p:cNvSpPr/>
          <p:nvPr/>
        </p:nvSpPr>
        <p:spPr>
          <a:xfrm>
            <a:off x="6714897" y="1095374"/>
            <a:ext cx="2029760" cy="5217113"/>
          </a:xfrm>
          <a:prstGeom prst="rect">
            <a:avLst/>
          </a:prstGeom>
          <a:solidFill>
            <a:srgbClr val="06418C">
              <a:alpha val="3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Arial" panose="020B0604020202020204" pitchFamily="34" charset="0"/>
            </a:endParaRPr>
          </a:p>
        </p:txBody>
      </p:sp>
      <p:pic>
        <p:nvPicPr>
          <p:cNvPr id="30" name="図 15" descr="テキスト, ロゴ&#10;&#10;自動的に生成された説明">
            <a:extLst>
              <a:ext uri="{FF2B5EF4-FFF2-40B4-BE49-F238E27FC236}">
                <a16:creationId xmlns:a16="http://schemas.microsoft.com/office/drawing/2014/main" id="{AEA6F6F8-D26E-7AC3-E083-D65B3E66D19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artisticGlowEdges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455" y="1191340"/>
            <a:ext cx="1324843" cy="496816"/>
          </a:xfrm>
          <a:prstGeom prst="rect">
            <a:avLst/>
          </a:prstGeom>
        </p:spPr>
      </p:pic>
      <p:sp>
        <p:nvSpPr>
          <p:cNvPr id="2065" name="角丸四角形 51">
            <a:extLst>
              <a:ext uri="{FF2B5EF4-FFF2-40B4-BE49-F238E27FC236}">
                <a16:creationId xmlns:a16="http://schemas.microsoft.com/office/drawing/2014/main" id="{040F5D26-CE96-6A1F-1222-3194DF12965D}"/>
              </a:ext>
            </a:extLst>
          </p:cNvPr>
          <p:cNvSpPr/>
          <p:nvPr/>
        </p:nvSpPr>
        <p:spPr bwMode="gray">
          <a:xfrm>
            <a:off x="7070877" y="1909359"/>
            <a:ext cx="1296000" cy="540000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X5x</a:t>
            </a:r>
          </a:p>
        </p:txBody>
      </p:sp>
      <p:sp>
        <p:nvSpPr>
          <p:cNvPr id="2074" name="角丸四角形 51">
            <a:extLst>
              <a:ext uri="{FF2B5EF4-FFF2-40B4-BE49-F238E27FC236}">
                <a16:creationId xmlns:a16="http://schemas.microsoft.com/office/drawing/2014/main" id="{05E173C1-116A-CEBB-6807-9714A79A4DDE}"/>
              </a:ext>
            </a:extLst>
          </p:cNvPr>
          <p:cNvSpPr/>
          <p:nvPr/>
        </p:nvSpPr>
        <p:spPr bwMode="gray">
          <a:xfrm>
            <a:off x="7072875" y="2845317"/>
            <a:ext cx="1296000" cy="540000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C5x</a:t>
            </a:r>
          </a:p>
        </p:txBody>
      </p:sp>
      <p:sp>
        <p:nvSpPr>
          <p:cNvPr id="2075" name="角丸四角形 51">
            <a:extLst>
              <a:ext uri="{FF2B5EF4-FFF2-40B4-BE49-F238E27FC236}">
                <a16:creationId xmlns:a16="http://schemas.microsoft.com/office/drawing/2014/main" id="{D990931B-1AC8-EB17-C687-FE1C2EEEBC3A}"/>
              </a:ext>
            </a:extLst>
          </p:cNvPr>
          <p:cNvSpPr/>
          <p:nvPr/>
        </p:nvSpPr>
        <p:spPr bwMode="gray">
          <a:xfrm>
            <a:off x="7070877" y="3577968"/>
            <a:ext cx="1296000" cy="54000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U5H</a:t>
            </a:r>
          </a:p>
        </p:txBody>
      </p:sp>
      <p:sp>
        <p:nvSpPr>
          <p:cNvPr id="2076" name="角丸四角形 51">
            <a:extLst>
              <a:ext uri="{FF2B5EF4-FFF2-40B4-BE49-F238E27FC236}">
                <a16:creationId xmlns:a16="http://schemas.microsoft.com/office/drawing/2014/main" id="{E5FA3687-9087-2647-E728-BD9E1E448A0E}"/>
              </a:ext>
            </a:extLst>
          </p:cNvPr>
          <p:cNvSpPr/>
          <p:nvPr/>
        </p:nvSpPr>
        <p:spPr bwMode="gray">
          <a:xfrm>
            <a:off x="7070877" y="4349178"/>
            <a:ext cx="1296000" cy="540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U5M</a:t>
            </a:r>
          </a:p>
        </p:txBody>
      </p:sp>
      <p:sp>
        <p:nvSpPr>
          <p:cNvPr id="38" name="角丸四角形 51">
            <a:extLst>
              <a:ext uri="{FF2B5EF4-FFF2-40B4-BE49-F238E27FC236}">
                <a16:creationId xmlns:a16="http://schemas.microsoft.com/office/drawing/2014/main" id="{098853EC-A0B0-CD46-C3B3-C41BE1423981}"/>
              </a:ext>
            </a:extLst>
          </p:cNvPr>
          <p:cNvSpPr/>
          <p:nvPr/>
        </p:nvSpPr>
        <p:spPr bwMode="gray">
          <a:xfrm>
            <a:off x="7070877" y="5021297"/>
            <a:ext cx="1296000" cy="54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U5L</a:t>
            </a:r>
          </a:p>
        </p:txBody>
      </p:sp>
      <p:sp>
        <p:nvSpPr>
          <p:cNvPr id="44" name="角丸四角形 51">
            <a:extLst>
              <a:ext uri="{FF2B5EF4-FFF2-40B4-BE49-F238E27FC236}">
                <a16:creationId xmlns:a16="http://schemas.microsoft.com/office/drawing/2014/main" id="{3F9A651F-5EA8-5B74-923F-799F2D87A321}"/>
              </a:ext>
            </a:extLst>
          </p:cNvPr>
          <p:cNvSpPr/>
          <p:nvPr/>
        </p:nvSpPr>
        <p:spPr bwMode="gray">
          <a:xfrm>
            <a:off x="7070877" y="5716123"/>
            <a:ext cx="1296000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U5S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DA336E-762E-E515-A645-977F2B21553F}"/>
              </a:ext>
            </a:extLst>
          </p:cNvPr>
          <p:cNvSpPr txBox="1"/>
          <p:nvPr/>
        </p:nvSpPr>
        <p:spPr>
          <a:xfrm>
            <a:off x="6903296" y="5168013"/>
            <a:ext cx="316112" cy="2419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124AAC-BA08-6423-C129-88DB7FC5AFDA}"/>
              </a:ext>
            </a:extLst>
          </p:cNvPr>
          <p:cNvSpPr txBox="1"/>
          <p:nvPr/>
        </p:nvSpPr>
        <p:spPr>
          <a:xfrm>
            <a:off x="10380948" y="121230"/>
            <a:ext cx="316112" cy="24198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0FDFA5-5D2A-984F-42A7-94C2EE18171C}"/>
              </a:ext>
            </a:extLst>
          </p:cNvPr>
          <p:cNvSpPr txBox="1"/>
          <p:nvPr/>
        </p:nvSpPr>
        <p:spPr>
          <a:xfrm>
            <a:off x="10380948" y="401734"/>
            <a:ext cx="316112" cy="2419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37A703-3050-6A2B-8CF4-B9F4B368C437}"/>
              </a:ext>
            </a:extLst>
          </p:cNvPr>
          <p:cNvSpPr txBox="1"/>
          <p:nvPr/>
        </p:nvSpPr>
        <p:spPr>
          <a:xfrm>
            <a:off x="10650307" y="118771"/>
            <a:ext cx="14020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Mass Production</a:t>
            </a:r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6FB7BB-C962-8DFA-3294-679DB796EAA8}"/>
              </a:ext>
            </a:extLst>
          </p:cNvPr>
          <p:cNvSpPr txBox="1"/>
          <p:nvPr/>
        </p:nvSpPr>
        <p:spPr>
          <a:xfrm>
            <a:off x="10643220" y="405616"/>
            <a:ext cx="13404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Customer Samples</a:t>
            </a:r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E7A7DB-8DA9-D6DA-FC91-28DEE7862B4B}"/>
              </a:ext>
            </a:extLst>
          </p:cNvPr>
          <p:cNvSpPr txBox="1"/>
          <p:nvPr/>
        </p:nvSpPr>
        <p:spPr>
          <a:xfrm>
            <a:off x="10380948" y="690433"/>
            <a:ext cx="322984" cy="2342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C17804-812A-CA6B-2013-CDFC21AC926C}"/>
              </a:ext>
            </a:extLst>
          </p:cNvPr>
          <p:cNvSpPr txBox="1"/>
          <p:nvPr/>
        </p:nvSpPr>
        <p:spPr>
          <a:xfrm>
            <a:off x="10650307" y="686795"/>
            <a:ext cx="13333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Early Samples</a:t>
            </a:r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8BA7C3-FE14-1A9E-EF3F-C219B3DA0577}"/>
              </a:ext>
            </a:extLst>
          </p:cNvPr>
          <p:cNvSpPr txBox="1"/>
          <p:nvPr/>
        </p:nvSpPr>
        <p:spPr>
          <a:xfrm>
            <a:off x="10380948" y="1245112"/>
            <a:ext cx="322984" cy="234286"/>
          </a:xfrm>
          <a:prstGeom prst="rect">
            <a:avLst/>
          </a:prstGeom>
          <a:solidFill>
            <a:schemeClr val="accent5"/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E83021-FC15-D119-0340-34F691808F12}"/>
              </a:ext>
            </a:extLst>
          </p:cNvPr>
          <p:cNvSpPr txBox="1"/>
          <p:nvPr/>
        </p:nvSpPr>
        <p:spPr>
          <a:xfrm>
            <a:off x="10650307" y="1247943"/>
            <a:ext cx="13333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Concept</a:t>
            </a:r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43E4EFD-DBD7-D447-ABB6-EE92BF61A6EC}"/>
              </a:ext>
            </a:extLst>
          </p:cNvPr>
          <p:cNvSpPr txBox="1"/>
          <p:nvPr/>
        </p:nvSpPr>
        <p:spPr>
          <a:xfrm>
            <a:off x="6915474" y="5863054"/>
            <a:ext cx="322984" cy="234286"/>
          </a:xfrm>
          <a:prstGeom prst="rect">
            <a:avLst/>
          </a:prstGeom>
          <a:solidFill>
            <a:schemeClr val="accent5"/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D5AB9C-8FD4-30C6-F369-DB878A285E1A}"/>
              </a:ext>
            </a:extLst>
          </p:cNvPr>
          <p:cNvSpPr txBox="1"/>
          <p:nvPr/>
        </p:nvSpPr>
        <p:spPr>
          <a:xfrm>
            <a:off x="6915474" y="3731274"/>
            <a:ext cx="322984" cy="234286"/>
          </a:xfrm>
          <a:prstGeom prst="rect">
            <a:avLst/>
          </a:prstGeom>
          <a:solidFill>
            <a:schemeClr val="accent5"/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6166FA-5DC0-29EA-6510-66C0E5C8B054}"/>
              </a:ext>
            </a:extLst>
          </p:cNvPr>
          <p:cNvSpPr txBox="1"/>
          <p:nvPr/>
        </p:nvSpPr>
        <p:spPr>
          <a:xfrm>
            <a:off x="10380948" y="957658"/>
            <a:ext cx="322984" cy="23428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1870AF-BCAA-9E52-A3AB-10A26E71921E}"/>
              </a:ext>
            </a:extLst>
          </p:cNvPr>
          <p:cNvSpPr txBox="1"/>
          <p:nvPr/>
        </p:nvSpPr>
        <p:spPr>
          <a:xfrm>
            <a:off x="10666536" y="963943"/>
            <a:ext cx="13333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Development</a:t>
            </a:r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BF0D96-C9A8-BE23-1F40-E5969DA2248A}"/>
              </a:ext>
            </a:extLst>
          </p:cNvPr>
          <p:cNvSpPr txBox="1"/>
          <p:nvPr/>
        </p:nvSpPr>
        <p:spPr>
          <a:xfrm>
            <a:off x="6924963" y="4501469"/>
            <a:ext cx="322984" cy="23428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EB38A9-D782-99F7-5C5E-991627932F3A}"/>
              </a:ext>
            </a:extLst>
          </p:cNvPr>
          <p:cNvSpPr txBox="1"/>
          <p:nvPr/>
        </p:nvSpPr>
        <p:spPr>
          <a:xfrm>
            <a:off x="6896424" y="2052937"/>
            <a:ext cx="322984" cy="23428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6449F7-E381-56C7-F6B9-EE0FA7EB7D07}"/>
              </a:ext>
            </a:extLst>
          </p:cNvPr>
          <p:cNvSpPr txBox="1"/>
          <p:nvPr/>
        </p:nvSpPr>
        <p:spPr>
          <a:xfrm>
            <a:off x="8954723" y="1949486"/>
            <a:ext cx="2827337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ADAS,IVI Integration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6C9546-983A-A1A8-83A4-1B2B07680BBE}"/>
              </a:ext>
            </a:extLst>
          </p:cNvPr>
          <p:cNvSpPr txBox="1"/>
          <p:nvPr/>
        </p:nvSpPr>
        <p:spPr>
          <a:xfrm>
            <a:off x="8954722" y="2875059"/>
            <a:ext cx="2827337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Centralized Integration 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(Realtime focus)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6EDA05-A378-BEB0-3DFC-80A7C3CE9086}"/>
              </a:ext>
            </a:extLst>
          </p:cNvPr>
          <p:cNvSpPr txBox="1"/>
          <p:nvPr/>
        </p:nvSpPr>
        <p:spPr>
          <a:xfrm>
            <a:off x="8989666" y="3628737"/>
            <a:ext cx="2827337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High End Zones &amp; Domain controllers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43B531-98E5-E854-96B7-D8279E80676A}"/>
              </a:ext>
            </a:extLst>
          </p:cNvPr>
          <p:cNvSpPr txBox="1"/>
          <p:nvPr/>
        </p:nvSpPr>
        <p:spPr>
          <a:xfrm>
            <a:off x="8984905" y="4396909"/>
            <a:ext cx="2827337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Zones / Chassis 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ASIL-D Actuation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F9EA6C-BC4F-53D2-390A-05933E839E85}"/>
              </a:ext>
            </a:extLst>
          </p:cNvPr>
          <p:cNvSpPr txBox="1"/>
          <p:nvPr/>
        </p:nvSpPr>
        <p:spPr>
          <a:xfrm>
            <a:off x="8989666" y="5309282"/>
            <a:ext cx="2827337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General Purpose / Body /RCP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CCCDA3-E8BE-9A16-21FE-F7972C674A21}"/>
              </a:ext>
            </a:extLst>
          </p:cNvPr>
          <p:cNvSpPr txBox="1"/>
          <p:nvPr/>
        </p:nvSpPr>
        <p:spPr>
          <a:xfrm>
            <a:off x="10380948" y="1531247"/>
            <a:ext cx="322984" cy="2342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2E4F54-87E2-330A-1A9B-DE7912E7782F}"/>
              </a:ext>
            </a:extLst>
          </p:cNvPr>
          <p:cNvSpPr txBox="1"/>
          <p:nvPr/>
        </p:nvSpPr>
        <p:spPr>
          <a:xfrm>
            <a:off x="10650307" y="1534078"/>
            <a:ext cx="13333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Product Idea</a:t>
            </a:r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0EC962-10D6-4DA5-1153-B1DBA8C1C93C}"/>
              </a:ext>
            </a:extLst>
          </p:cNvPr>
          <p:cNvSpPr txBox="1"/>
          <p:nvPr/>
        </p:nvSpPr>
        <p:spPr>
          <a:xfrm>
            <a:off x="6896424" y="2998574"/>
            <a:ext cx="322984" cy="2342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7AADA0-634F-4BBF-0208-3E953788A280}"/>
              </a:ext>
            </a:extLst>
          </p:cNvPr>
          <p:cNvSpPr/>
          <p:nvPr/>
        </p:nvSpPr>
        <p:spPr>
          <a:xfrm>
            <a:off x="6773889" y="3459834"/>
            <a:ext cx="1910582" cy="753678"/>
          </a:xfrm>
          <a:prstGeom prst="roundRect">
            <a:avLst/>
          </a:prstGeom>
          <a:noFill/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9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4E01-26B7-9E05-4CD7-314B37988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61" y="128419"/>
            <a:ext cx="11391056" cy="53553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cap="all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  <a:t>Top-down TAM and LTV analysis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465FD9-D0C9-FE95-C824-9E002827F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06418C"/>
                </a:solidFill>
                <a:effectLst/>
                <a:uLnTx/>
                <a:uFillTx/>
                <a:latin typeface="Arial"/>
                <a:ea typeface="Meiryo UI" panose="020B0604030504040204" pitchFamily="50" charset="-128"/>
              </a:rPr>
              <a:t>Page </a:t>
            </a:r>
            <a:fld id="{7CABC4B2-2886-4E0A-AABC-EDE495E6497B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6418C"/>
                </a:solidFill>
                <a:effectLst/>
                <a:uLnTx/>
                <a:uFillTx/>
                <a:latin typeface="Arial"/>
                <a:ea typeface="Meiryo UI" panose="020B0604030504040204" pitchFamily="50" charset="-128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rgbClr val="06418C"/>
              </a:solidFill>
              <a:effectLst/>
              <a:uLnTx/>
              <a:uFillTx/>
              <a:latin typeface="Arial"/>
              <a:ea typeface="Meiryo UI" panose="020B0604030504040204" pitchFamily="50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78C8B-EA25-A31E-54E6-693D71018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7" y="1330415"/>
            <a:ext cx="6980525" cy="499915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574B9099-9C9B-CF52-8636-E1CD602778BE}"/>
              </a:ext>
            </a:extLst>
          </p:cNvPr>
          <p:cNvSpPr/>
          <p:nvPr/>
        </p:nvSpPr>
        <p:spPr>
          <a:xfrm>
            <a:off x="3295350" y="1621154"/>
            <a:ext cx="3663950" cy="360045"/>
          </a:xfrm>
          <a:prstGeom prst="rightArrow">
            <a:avLst/>
          </a:prstGeom>
          <a:solidFill>
            <a:srgbClr val="276A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Zone Target Window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0B24F7-D283-526E-382C-D45C725AB60A}"/>
              </a:ext>
            </a:extLst>
          </p:cNvPr>
          <p:cNvSpPr txBox="1"/>
          <p:nvPr/>
        </p:nvSpPr>
        <p:spPr>
          <a:xfrm>
            <a:off x="7247549" y="1981199"/>
            <a:ext cx="4447968" cy="413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>
                <a:solidFill>
                  <a:srgbClr val="3C3C3B"/>
                </a:solidFill>
                <a:latin typeface="Arial"/>
                <a:ea typeface="メイリオ"/>
              </a:rPr>
              <a:t>Total Zone TAM in window 2027-2037:  $11.2B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1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Estimated Zone sub-segment share: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Low            30% &gt;&gt; 50% U5L, </a:t>
            </a:r>
            <a:r>
              <a:rPr kumimoji="1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50% U5H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Mid             15% &gt;&gt; 50% U5M, </a:t>
            </a:r>
            <a:r>
              <a:rPr kumimoji="1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50% U5H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High           50% &gt;&gt; 100% U5H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Super High   5% &gt;&gt; 100% C5x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Zone U5H TAM = </a:t>
            </a:r>
            <a:r>
              <a:rPr kumimoji="1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$8.2B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LTV assuming 30% peak share in 2035: </a:t>
            </a:r>
            <a:r>
              <a:rPr kumimoji="1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$1.8B</a:t>
            </a:r>
          </a:p>
          <a:p>
            <a:pPr>
              <a:defRPr/>
            </a:pPr>
            <a:endParaRPr kumimoji="1" lang="en-US" sz="1600" b="1">
              <a:solidFill>
                <a:srgbClr val="3C3C3B"/>
              </a:solidFill>
            </a:endParaRPr>
          </a:p>
          <a:p>
            <a:pPr>
              <a:defRPr/>
            </a:pPr>
            <a:r>
              <a:rPr kumimoji="1" lang="en-US" sz="1600">
                <a:solidFill>
                  <a:srgbClr val="3C3C3B"/>
                </a:solidFill>
              </a:rPr>
              <a:t>Upside opportunity in Gateway and Central Body/Domain control</a:t>
            </a:r>
            <a:endParaRPr kumimoji="1" lang="en-US" sz="1200">
              <a:solidFill>
                <a:srgbClr val="3C3C3B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1">
              <a:solidFill>
                <a:srgbClr val="3C3C3B"/>
              </a:solidFill>
              <a:latin typeface="Arial"/>
              <a:ea typeface="メイリオ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1">
                <a:solidFill>
                  <a:srgbClr val="3C3C3B"/>
                </a:solidFill>
                <a:latin typeface="Arial"/>
                <a:ea typeface="メイリオ"/>
              </a:rPr>
              <a:t>Assuming ~$100M investment </a:t>
            </a:r>
            <a:r>
              <a:rPr kumimoji="1" lang="en-US" sz="1600" b="1" err="1">
                <a:solidFill>
                  <a:srgbClr val="3C3C3B"/>
                </a:solidFill>
                <a:latin typeface="Arial"/>
                <a:ea typeface="メイリオ"/>
              </a:rPr>
              <a:t>reqd</a:t>
            </a:r>
            <a:r>
              <a:rPr kumimoji="1" lang="en-US" sz="1600" b="1">
                <a:solidFill>
                  <a:srgbClr val="3C3C3B"/>
                </a:solidFill>
                <a:latin typeface="Arial"/>
                <a:ea typeface="メイリオ"/>
              </a:rPr>
              <a:t>, $1.8B is strong ROI</a:t>
            </a:r>
            <a:endParaRPr kumimoji="1" lang="en-US" sz="16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1">
              <a:solidFill>
                <a:srgbClr val="3C3C3B"/>
              </a:solidFill>
              <a:latin typeface="Arial"/>
              <a:ea typeface="メイリオ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C74856-12AF-99E1-AA5B-796D821C971E}"/>
              </a:ext>
            </a:extLst>
          </p:cNvPr>
          <p:cNvSpPr/>
          <p:nvPr/>
        </p:nvSpPr>
        <p:spPr>
          <a:xfrm>
            <a:off x="5781675" y="5972175"/>
            <a:ext cx="1047750" cy="357393"/>
          </a:xfrm>
          <a:prstGeom prst="roundRect">
            <a:avLst/>
          </a:prstGeom>
          <a:noFill/>
          <a:ln>
            <a:solidFill>
              <a:srgbClr val="276A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2B94AF-E408-784C-8514-FDBA44EB0B51}"/>
              </a:ext>
            </a:extLst>
          </p:cNvPr>
          <p:cNvSpPr txBox="1"/>
          <p:nvPr/>
        </p:nvSpPr>
        <p:spPr>
          <a:xfrm>
            <a:off x="148287" y="6241983"/>
            <a:ext cx="5514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Data Source: Golden Market Forecast based on TI data from August 2025, extended by trends</a:t>
            </a:r>
          </a:p>
        </p:txBody>
      </p:sp>
    </p:spTree>
    <p:extLst>
      <p:ext uri="{BB962C8B-B14F-4D97-AF65-F5344CB8AC3E}">
        <p14:creationId xmlns:p14="http://schemas.microsoft.com/office/powerpoint/2010/main" val="2283671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C148-45FD-1590-C36F-F1C1236D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12" y="184854"/>
            <a:ext cx="11244575" cy="455509"/>
          </a:xfrm>
        </p:spPr>
        <p:txBody>
          <a:bodyPr/>
          <a:lstStyle/>
          <a:p>
            <a:r>
              <a:rPr lang="en-US"/>
              <a:t>Global Heatmap and Bottom-up SAM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BC3B4-D394-5262-D4DC-92D5A22C5874}"/>
              </a:ext>
            </a:extLst>
          </p:cNvPr>
          <p:cNvSpPr txBox="1"/>
          <p:nvPr/>
        </p:nvSpPr>
        <p:spPr>
          <a:xfrm>
            <a:off x="8180265" y="957450"/>
            <a:ext cx="3926391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Platform Overview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3C3C3B"/>
                </a:solidFill>
              </a:rPr>
              <a:t>Active zone control platform evaluation at nearly all OEMs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3C3C3B"/>
                </a:solidFill>
              </a:rPr>
              <a:t>Adoption across vehicle platforms still </a:t>
            </a:r>
            <a:r>
              <a:rPr lang="en-US" sz="1400" err="1">
                <a:solidFill>
                  <a:srgbClr val="3C3C3B"/>
                </a:solidFill>
              </a:rPr>
              <a:t>tbd</a:t>
            </a:r>
            <a:r>
              <a:rPr lang="en-US" sz="1400">
                <a:solidFill>
                  <a:srgbClr val="3C3C3B"/>
                </a:solidFill>
              </a:rPr>
              <a:t>- cost challenge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3C3C3B"/>
                </a:solidFill>
              </a:rPr>
              <a:t>Continued opportunities for domain control where large memory, high performance ARM solution is required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3C3C3B"/>
                </a:solidFill>
              </a:rPr>
              <a:t>Lead customer engagements in EUR with Volvo and Mercedes, strong interest across U5x at Bosch, Denso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3C3C3B"/>
                </a:solidFill>
              </a:rPr>
              <a:t>Many OEM program SOP 2030-2032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>
                <a:solidFill>
                  <a:srgbClr val="3C3C3B"/>
                </a:solidFill>
              </a:rPr>
              <a:t>Need MP ideally 2028, 2029 latest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Bottom Up Market Analysis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400">
                <a:solidFill>
                  <a:srgbClr val="3C3C3B"/>
                </a:solidFill>
                <a:latin typeface="Arial"/>
                <a:ea typeface="メイリオ"/>
              </a:rPr>
              <a:t>U5H Zone TAM = SAM – applicable to all zones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400">
                <a:solidFill>
                  <a:srgbClr val="3C3C3B"/>
                </a:solidFill>
                <a:latin typeface="Arial"/>
                <a:ea typeface="メイリオ"/>
              </a:rPr>
              <a:t>Based on identified programs, estimated SAM ~$4B over 4-5 years, plus platform refresh = ~$8B over 10 years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Aligned with Top Down $8B TAM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1400" b="1" i="1">
              <a:solidFill>
                <a:srgbClr val="3C3C3B"/>
              </a:solidFill>
              <a:latin typeface="Arial"/>
              <a:ea typeface="メイリオ"/>
            </a:endParaRPr>
          </a:p>
          <a:p>
            <a:pPr>
              <a:defRPr/>
            </a:pPr>
            <a:r>
              <a:rPr lang="en-US" altLang="en-US" sz="1400">
                <a:latin typeface="Arial" panose="020B0604020202020204" pitchFamily="34" charset="0"/>
                <a:hlinkClick r:id="rId2"/>
              </a:rPr>
              <a:t>U5H Zone Heatmap and Target Programs Apr2026.xlsx</a:t>
            </a:r>
            <a:endParaRPr lang="en-US" altLang="en-US" sz="1400">
              <a:latin typeface="Arial" panose="020B06040202020202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D253A1-2630-5796-43D4-2583742F6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054458"/>
              </p:ext>
            </p:extLst>
          </p:nvPr>
        </p:nvGraphicFramePr>
        <p:xfrm>
          <a:off x="92655" y="1170101"/>
          <a:ext cx="8087610" cy="5180146"/>
        </p:xfrm>
        <a:graphic>
          <a:graphicData uri="http://schemas.openxmlformats.org/drawingml/2006/table">
            <a:tbl>
              <a:tblPr/>
              <a:tblGrid>
                <a:gridCol w="539174">
                  <a:extLst>
                    <a:ext uri="{9D8B030D-6E8A-4147-A177-3AD203B41FA5}">
                      <a16:colId xmlns:a16="http://schemas.microsoft.com/office/drawing/2014/main" val="678512580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3858245288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2337872921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2042070161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942764553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2741348974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3091497283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2449742009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3505332581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2996027434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2572416280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453806959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392234063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924184196"/>
                    </a:ext>
                  </a:extLst>
                </a:gridCol>
                <a:gridCol w="539174">
                  <a:extLst>
                    <a:ext uri="{9D8B030D-6E8A-4147-A177-3AD203B41FA5}">
                      <a16:colId xmlns:a16="http://schemas.microsoft.com/office/drawing/2014/main" val="2451624593"/>
                    </a:ext>
                  </a:extLst>
                </a:gridCol>
              </a:tblGrid>
              <a:tr h="166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OEM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Region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2027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2028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2029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2031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2032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2033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2034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2035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10811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GM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Global B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SDV2.0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SDV3.0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352974"/>
                  </a:ext>
                </a:extLst>
              </a:tr>
              <a:tr h="277214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Ford</a:t>
                      </a:r>
                    </a:p>
                  </a:txBody>
                  <a:tcPr marL="3046" marR="3046" marT="3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</a:t>
                      </a:r>
                    </a:p>
                  </a:txBody>
                  <a:tcPr marL="3046" marR="3046" marT="3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ICE/HYB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FNV3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SDV BCM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SDV Zone</a:t>
                      </a:r>
                    </a:p>
                  </a:txBody>
                  <a:tcPr marL="3046" marR="3046" marT="3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Renesas</a:t>
                      </a: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582115"/>
                  </a:ext>
                </a:extLst>
              </a:tr>
              <a:tr h="152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CE1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Infineon</a:t>
                      </a: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329528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Tesla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Gen5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Gen6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Gen7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NXP</a:t>
                      </a: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97484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Rivian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SDV1.0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SDV1.2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SDV2.0?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</a:t>
                      </a: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677811"/>
                  </a:ext>
                </a:extLst>
              </a:tr>
              <a:tr h="2772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Stellantis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Atlantis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</a:t>
                      </a: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993421"/>
                  </a:ext>
                </a:extLst>
              </a:tr>
              <a:tr h="2772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Mercedes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MBEA-L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MBEA-C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Various</a:t>
                      </a: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76223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BMW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NEUE Classe- Superbrains + 4xZone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?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TBD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247337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Renault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PIU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?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286115"/>
                  </a:ext>
                </a:extLst>
              </a:tr>
              <a:tr h="152500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Volvo</a:t>
                      </a:r>
                    </a:p>
                  </a:txBody>
                  <a:tcPr marL="3046" marR="3046" marT="3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</a:t>
                      </a:r>
                    </a:p>
                  </a:txBody>
                  <a:tcPr marL="3046" marR="3046" marT="3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SPA3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SPA3EVO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988262"/>
                  </a:ext>
                </a:extLst>
              </a:tr>
              <a:tr h="152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SPA2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728BH (SPA2 ECO)  IFX+ ??? For Tail Ecu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73489"/>
                  </a:ext>
                </a:extLst>
              </a:tr>
              <a:tr h="152500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VW</a:t>
                      </a:r>
                    </a:p>
                  </a:txBody>
                  <a:tcPr marL="3046" marR="3046" marT="3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</a:t>
                      </a:r>
                    </a:p>
                  </a:txBody>
                  <a:tcPr marL="3046" marR="3046" marT="3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ICE/HYB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?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694241"/>
                  </a:ext>
                </a:extLst>
              </a:tr>
              <a:tr h="152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SDV1.0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SDV1.2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SDV2.0?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181780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HKMC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KOR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XV2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XV1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000602"/>
                  </a:ext>
                </a:extLst>
              </a:tr>
              <a:tr h="152500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Toyota</a:t>
                      </a:r>
                    </a:p>
                  </a:txBody>
                  <a:tcPr marL="3046" marR="3046" marT="3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JAP</a:t>
                      </a:r>
                    </a:p>
                  </a:txBody>
                  <a:tcPr marL="3046" marR="3046" marT="3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BEV 3.0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?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08838"/>
                  </a:ext>
                </a:extLst>
              </a:tr>
              <a:tr h="152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19PF V3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MPW-ePF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K-PF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982937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Honda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JAP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MY26 Area ECU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?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for BEV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474294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BYD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CHN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ZCU4.0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ZCU5.0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463179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XPENG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CHN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EEA5.0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TBD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31807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Changan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CHN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SDV2.0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TBD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168461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Geely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CHN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ZCU3.5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ZCU4.0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827222"/>
                  </a:ext>
                </a:extLst>
              </a:tr>
              <a:tr h="5476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NIO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CHN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CCC+ZONAL TC399 400MHz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TBD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689998"/>
                  </a:ext>
                </a:extLst>
              </a:tr>
              <a:tr h="4515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Leapmotor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CHN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Leap3.5 U2A12+S32K3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Leap4.0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343736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GWM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CHN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Zonal platform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TBD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30030"/>
                  </a:ext>
                </a:extLst>
              </a:tr>
              <a:tr h="152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SAIC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CHN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VMC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TBD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046" marR="3046" marT="304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323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177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78240-9640-D128-EE86-DEB6CBDB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Rectangle 1409">
            <a:extLst>
              <a:ext uri="{FF2B5EF4-FFF2-40B4-BE49-F238E27FC236}">
                <a16:creationId xmlns:a16="http://schemas.microsoft.com/office/drawing/2014/main" id="{33515955-53C6-A197-220D-C5A5AED357EC}"/>
              </a:ext>
            </a:extLst>
          </p:cNvPr>
          <p:cNvSpPr/>
          <p:nvPr/>
        </p:nvSpPr>
        <p:spPr>
          <a:xfrm>
            <a:off x="605186" y="1838256"/>
            <a:ext cx="1881415" cy="34666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HPC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AD49D370-B317-9670-0482-73001F826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70" y="150566"/>
            <a:ext cx="11574786" cy="886397"/>
          </a:xfrm>
        </p:spPr>
        <p:txBody>
          <a:bodyPr/>
          <a:lstStyle/>
          <a:p>
            <a:r>
              <a:rPr lang="en-US"/>
              <a:t>Type of Zonal Integration</a:t>
            </a:r>
            <a:br>
              <a:rPr lang="en-US" sz="3600" noProof="0">
                <a:latin typeface="Google Sans"/>
              </a:rPr>
            </a:br>
            <a:r>
              <a:rPr lang="en-US" b="0">
                <a:latin typeface="Google Sans"/>
              </a:rPr>
              <a:t>Conceptual view (2029+)</a:t>
            </a:r>
            <a:endParaRPr lang="en-US" sz="2800" b="0" noProof="0">
              <a:latin typeface="Google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2229E9-658A-69EE-F3B9-9B2E15873C88}"/>
              </a:ext>
            </a:extLst>
          </p:cNvPr>
          <p:cNvSpPr/>
          <p:nvPr/>
        </p:nvSpPr>
        <p:spPr>
          <a:xfrm>
            <a:off x="613898" y="3805926"/>
            <a:ext cx="1856411" cy="9578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IO Aggregator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D726B6-C2EB-9F1E-4937-69C350ABD9D0}"/>
              </a:ext>
            </a:extLst>
          </p:cNvPr>
          <p:cNvSpPr/>
          <p:nvPr/>
        </p:nvSpPr>
        <p:spPr>
          <a:xfrm>
            <a:off x="605186" y="2221824"/>
            <a:ext cx="1869895" cy="830251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Real Time Vehicle Computer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EF2476-3E06-CB2C-B860-6823F67C616F}"/>
              </a:ext>
            </a:extLst>
          </p:cNvPr>
          <p:cNvSpPr/>
          <p:nvPr/>
        </p:nvSpPr>
        <p:spPr>
          <a:xfrm>
            <a:off x="661446" y="1988567"/>
            <a:ext cx="853351" cy="17491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ADAS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BE89C7-891D-85C2-6CA6-3857BF9CACA3}"/>
              </a:ext>
            </a:extLst>
          </p:cNvPr>
          <p:cNvSpPr/>
          <p:nvPr/>
        </p:nvSpPr>
        <p:spPr>
          <a:xfrm>
            <a:off x="1539993" y="1991820"/>
            <a:ext cx="896058" cy="1710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IVI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644D75-0AE8-CB4D-546E-AB6C152756E7}"/>
              </a:ext>
            </a:extLst>
          </p:cNvPr>
          <p:cNvSpPr txBox="1"/>
          <p:nvPr/>
        </p:nvSpPr>
        <p:spPr>
          <a:xfrm>
            <a:off x="623892" y="1313816"/>
            <a:ext cx="1757820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IO Aggregators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(no app control in zones)</a:t>
            </a:r>
          </a:p>
        </p:txBody>
      </p:sp>
      <p:pic>
        <p:nvPicPr>
          <p:cNvPr id="1265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E80FDCEF-ED44-66B1-018E-A26916A9E3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9144" y="2498510"/>
            <a:ext cx="489717" cy="489717"/>
          </a:xfrm>
          <a:prstGeom prst="rect">
            <a:avLst/>
          </a:prstGeom>
        </p:spPr>
      </p:pic>
      <p:pic>
        <p:nvPicPr>
          <p:cNvPr id="27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6B4F71CA-F3EE-C1F1-88F2-858AA28A06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5134" y="2493319"/>
            <a:ext cx="489717" cy="489717"/>
          </a:xfrm>
          <a:prstGeom prst="rect">
            <a:avLst/>
          </a:prstGeom>
        </p:spPr>
      </p:pic>
      <p:sp>
        <p:nvSpPr>
          <p:cNvPr id="1377" name="Rectangle 1376">
            <a:extLst>
              <a:ext uri="{FF2B5EF4-FFF2-40B4-BE49-F238E27FC236}">
                <a16:creationId xmlns:a16="http://schemas.microsoft.com/office/drawing/2014/main" id="{215076F8-3E0E-AED4-9380-ED74A1B2457A}"/>
              </a:ext>
            </a:extLst>
          </p:cNvPr>
          <p:cNvSpPr/>
          <p:nvPr/>
        </p:nvSpPr>
        <p:spPr>
          <a:xfrm>
            <a:off x="649878" y="4079331"/>
            <a:ext cx="581959" cy="259551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pic>
        <p:nvPicPr>
          <p:cNvPr id="1346" name="Graphic 1345" descr="Web cam outline">
            <a:extLst>
              <a:ext uri="{FF2B5EF4-FFF2-40B4-BE49-F238E27FC236}">
                <a16:creationId xmlns:a16="http://schemas.microsoft.com/office/drawing/2014/main" id="{5B2CC8C1-53D4-806B-25E1-DB0ABA94C5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395" y="1889101"/>
            <a:ext cx="273807" cy="273807"/>
          </a:xfrm>
          <a:prstGeom prst="rect">
            <a:avLst/>
          </a:prstGeom>
        </p:spPr>
      </p:pic>
      <p:pic>
        <p:nvPicPr>
          <p:cNvPr id="1348" name="Graphic 1347" descr="Web cam outline">
            <a:extLst>
              <a:ext uri="{FF2B5EF4-FFF2-40B4-BE49-F238E27FC236}">
                <a16:creationId xmlns:a16="http://schemas.microsoft.com/office/drawing/2014/main" id="{EE461D10-C445-C44D-5364-0B88EDC6E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186" y="2011588"/>
            <a:ext cx="257318" cy="257318"/>
          </a:xfrm>
          <a:prstGeom prst="rect">
            <a:avLst/>
          </a:prstGeom>
        </p:spPr>
      </p:pic>
      <p:cxnSp>
        <p:nvCxnSpPr>
          <p:cNvPr id="1353" name="Straight Connector 1352">
            <a:extLst>
              <a:ext uri="{FF2B5EF4-FFF2-40B4-BE49-F238E27FC236}">
                <a16:creationId xmlns:a16="http://schemas.microsoft.com/office/drawing/2014/main" id="{2F557073-86AB-74CE-C347-247C8F2A06DD}"/>
              </a:ext>
            </a:extLst>
          </p:cNvPr>
          <p:cNvCxnSpPr>
            <a:cxnSpLocks/>
            <a:stCxn id="1348" idx="0"/>
            <a:endCxn id="1410" idx="1"/>
          </p:cNvCxnSpPr>
          <p:nvPr/>
        </p:nvCxnSpPr>
        <p:spPr>
          <a:xfrm>
            <a:off x="423845" y="2011588"/>
            <a:ext cx="1813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B86DF1A-FADB-64B3-0BB8-48F3F53938C8}"/>
              </a:ext>
            </a:extLst>
          </p:cNvPr>
          <p:cNvSpPr/>
          <p:nvPr/>
        </p:nvSpPr>
        <p:spPr>
          <a:xfrm>
            <a:off x="649618" y="4548791"/>
            <a:ext cx="260217" cy="180797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I/O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1EA2E5-5DC6-C828-6BA1-0CB7BCA49D36}"/>
              </a:ext>
            </a:extLst>
          </p:cNvPr>
          <p:cNvSpPr/>
          <p:nvPr/>
        </p:nvSpPr>
        <p:spPr>
          <a:xfrm>
            <a:off x="649618" y="4350835"/>
            <a:ext cx="260217" cy="180797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ADC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B415A5-40C6-11A8-D314-49D3E5812FE4}"/>
              </a:ext>
            </a:extLst>
          </p:cNvPr>
          <p:cNvSpPr/>
          <p:nvPr/>
        </p:nvSpPr>
        <p:spPr>
          <a:xfrm>
            <a:off x="934840" y="4555936"/>
            <a:ext cx="282709" cy="17271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SPI</a:t>
            </a:r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637A2F41-77FB-3A04-B4ED-FFBFC82DF17D}"/>
              </a:ext>
            </a:extLst>
          </p:cNvPr>
          <p:cNvSpPr/>
          <p:nvPr/>
        </p:nvSpPr>
        <p:spPr>
          <a:xfrm>
            <a:off x="1852069" y="4942427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Edge ECU</a:t>
            </a:r>
          </a:p>
        </p:txBody>
      </p:sp>
      <p:cxnSp>
        <p:nvCxnSpPr>
          <p:cNvPr id="1358" name="Straight Connector 1357">
            <a:extLst>
              <a:ext uri="{FF2B5EF4-FFF2-40B4-BE49-F238E27FC236}">
                <a16:creationId xmlns:a16="http://schemas.microsoft.com/office/drawing/2014/main" id="{939B5632-C1EE-2D9A-210E-A684F8381CA1}"/>
              </a:ext>
            </a:extLst>
          </p:cNvPr>
          <p:cNvCxnSpPr>
            <a:cxnSpLocks/>
            <a:stCxn id="1354" idx="0"/>
          </p:cNvCxnSpPr>
          <p:nvPr/>
        </p:nvCxnSpPr>
        <p:spPr>
          <a:xfrm flipH="1" flipV="1">
            <a:off x="2076683" y="4639230"/>
            <a:ext cx="929" cy="30319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8" name="Rectangle 1367">
            <a:extLst>
              <a:ext uri="{FF2B5EF4-FFF2-40B4-BE49-F238E27FC236}">
                <a16:creationId xmlns:a16="http://schemas.microsoft.com/office/drawing/2014/main" id="{888C48C4-F063-CA79-D0C6-6D3F48590B0A}"/>
              </a:ext>
            </a:extLst>
          </p:cNvPr>
          <p:cNvSpPr/>
          <p:nvPr/>
        </p:nvSpPr>
        <p:spPr>
          <a:xfrm>
            <a:off x="1900692" y="5001740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Edge ECU</a:t>
            </a:r>
          </a:p>
        </p:txBody>
      </p:sp>
      <p:sp>
        <p:nvSpPr>
          <p:cNvPr id="1384" name="Rectangle 1383">
            <a:extLst>
              <a:ext uri="{FF2B5EF4-FFF2-40B4-BE49-F238E27FC236}">
                <a16:creationId xmlns:a16="http://schemas.microsoft.com/office/drawing/2014/main" id="{925C7174-4276-B629-BCF1-A08644BEEE7C}"/>
              </a:ext>
            </a:extLst>
          </p:cNvPr>
          <p:cNvSpPr/>
          <p:nvPr/>
        </p:nvSpPr>
        <p:spPr>
          <a:xfrm>
            <a:off x="1955021" y="5054892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Edge ECU</a:t>
            </a:r>
          </a:p>
        </p:txBody>
      </p:sp>
      <p:sp>
        <p:nvSpPr>
          <p:cNvPr id="1386" name="Rectangle 1385">
            <a:extLst>
              <a:ext uri="{FF2B5EF4-FFF2-40B4-BE49-F238E27FC236}">
                <a16:creationId xmlns:a16="http://schemas.microsoft.com/office/drawing/2014/main" id="{FED5DA89-5102-2C79-C3B1-AE0A835DD806}"/>
              </a:ext>
            </a:extLst>
          </p:cNvPr>
          <p:cNvSpPr/>
          <p:nvPr/>
        </p:nvSpPr>
        <p:spPr>
          <a:xfrm>
            <a:off x="937218" y="4358289"/>
            <a:ext cx="291046" cy="17334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PWM</a:t>
            </a:r>
          </a:p>
        </p:txBody>
      </p:sp>
      <p:grpSp>
        <p:nvGrpSpPr>
          <p:cNvPr id="1286" name="Group 1285">
            <a:extLst>
              <a:ext uri="{FF2B5EF4-FFF2-40B4-BE49-F238E27FC236}">
                <a16:creationId xmlns:a16="http://schemas.microsoft.com/office/drawing/2014/main" id="{71EF3469-FA72-E8AA-BC6C-7B7027D6B563}"/>
              </a:ext>
            </a:extLst>
          </p:cNvPr>
          <p:cNvGrpSpPr/>
          <p:nvPr/>
        </p:nvGrpSpPr>
        <p:grpSpPr>
          <a:xfrm>
            <a:off x="1253019" y="4082613"/>
            <a:ext cx="1160392" cy="646041"/>
            <a:chOff x="7896982" y="3907630"/>
            <a:chExt cx="1193146" cy="796251"/>
          </a:xfrm>
        </p:grpSpPr>
        <p:sp>
          <p:nvSpPr>
            <p:cNvPr id="1287" name="TextBox 1286">
              <a:extLst>
                <a:ext uri="{FF2B5EF4-FFF2-40B4-BE49-F238E27FC236}">
                  <a16:creationId xmlns:a16="http://schemas.microsoft.com/office/drawing/2014/main" id="{748B1989-A11B-3961-05BE-7EF2014ABC0E}"/>
                </a:ext>
              </a:extLst>
            </p:cNvPr>
            <p:cNvSpPr txBox="1"/>
            <p:nvPr/>
          </p:nvSpPr>
          <p:spPr>
            <a:xfrm>
              <a:off x="7896982" y="3907630"/>
              <a:ext cx="1193146" cy="7962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txBody>
            <a:bodyPr wrap="none" lIns="36000" tIns="36000" rIns="0" bIns="36000" rtlCol="0" anchor="t">
              <a:noAutofit/>
            </a:bodyPr>
            <a:lstStyle>
              <a:defPPr>
                <a:defRPr lang="de-DE"/>
              </a:defPPr>
              <a:lvl1pPr algn="ctr">
                <a:defRPr sz="800" b="1">
                  <a:latin typeface="Google San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Routing 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D7000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or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Tunneling</a:t>
              </a:r>
              <a:endPara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endParaRPr>
            </a:p>
          </p:txBody>
        </p:sp>
        <p:grpSp>
          <p:nvGrpSpPr>
            <p:cNvPr id="1288" name="Group 1287">
              <a:extLst>
                <a:ext uri="{FF2B5EF4-FFF2-40B4-BE49-F238E27FC236}">
                  <a16:creationId xmlns:a16="http://schemas.microsoft.com/office/drawing/2014/main" id="{D877DD5C-5B62-F06C-833D-027B46216277}"/>
                </a:ext>
              </a:extLst>
            </p:cNvPr>
            <p:cNvGrpSpPr/>
            <p:nvPr/>
          </p:nvGrpSpPr>
          <p:grpSpPr>
            <a:xfrm>
              <a:off x="7904127" y="4331052"/>
              <a:ext cx="1148131" cy="351954"/>
              <a:chOff x="7896983" y="4277523"/>
              <a:chExt cx="1148131" cy="383834"/>
            </a:xfrm>
          </p:grpSpPr>
          <p:sp>
            <p:nvSpPr>
              <p:cNvPr id="1289" name="TextBox 1288">
                <a:extLst>
                  <a:ext uri="{FF2B5EF4-FFF2-40B4-BE49-F238E27FC236}">
                    <a16:creationId xmlns:a16="http://schemas.microsoft.com/office/drawing/2014/main" id="{E8AC364F-CAE7-B2F9-E366-07209BCDFB42}"/>
                  </a:ext>
                </a:extLst>
              </p:cNvPr>
              <p:cNvSpPr txBox="1"/>
              <p:nvPr/>
            </p:nvSpPr>
            <p:spPr>
              <a:xfrm>
                <a:off x="7896983" y="4277526"/>
                <a:ext cx="529619" cy="3838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dash"/>
              </a:ln>
            </p:spPr>
            <p:txBody>
              <a:bodyPr wrap="none" lIns="36000" tIns="0" rIns="36000" bIns="36000" rtlCol="0" anchor="t">
                <a:noAutofit/>
              </a:bodyPr>
              <a:lstStyle>
                <a:defPPr>
                  <a:defRPr lang="de-DE"/>
                </a:defPPr>
                <a:lvl1pPr algn="ctr">
                  <a:defRPr sz="800" b="1">
                    <a:latin typeface="Google San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Routing</a:t>
                </a:r>
                <a:endPara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endParaRPr>
              </a:p>
            </p:txBody>
          </p:sp>
          <p:sp>
            <p:nvSpPr>
              <p:cNvPr id="1290" name="TextBox 1289">
                <a:extLst>
                  <a:ext uri="{FF2B5EF4-FFF2-40B4-BE49-F238E27FC236}">
                    <a16:creationId xmlns:a16="http://schemas.microsoft.com/office/drawing/2014/main" id="{48DAB2F6-49EC-87FF-8560-7039F4202D50}"/>
                  </a:ext>
                </a:extLst>
              </p:cNvPr>
              <p:cNvSpPr txBox="1"/>
              <p:nvPr/>
            </p:nvSpPr>
            <p:spPr>
              <a:xfrm>
                <a:off x="8464536" y="4277523"/>
                <a:ext cx="580578" cy="3838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dash"/>
              </a:ln>
            </p:spPr>
            <p:txBody>
              <a:bodyPr wrap="none" lIns="36000" tIns="0" rIns="36000" bIns="36000" rtlCol="0" anchor="t">
                <a:noAutofit/>
              </a:bodyPr>
              <a:lstStyle>
                <a:defPPr>
                  <a:defRPr lang="de-DE"/>
                </a:defPPr>
                <a:lvl1pPr>
                  <a:defRPr sz="1100"/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Tunneling</a:t>
                </a: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(CAN/LIN)</a:t>
                </a:r>
                <a:endPara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endParaRPr>
              </a:p>
            </p:txBody>
          </p:sp>
        </p:grpSp>
      </p:grpSp>
      <p:sp>
        <p:nvSpPr>
          <p:cNvPr id="1292" name="Oval 1291">
            <a:extLst>
              <a:ext uri="{FF2B5EF4-FFF2-40B4-BE49-F238E27FC236}">
                <a16:creationId xmlns:a16="http://schemas.microsoft.com/office/drawing/2014/main" id="{8AED82AD-CA83-DB00-AC67-9C2C3EAAE9C3}"/>
              </a:ext>
            </a:extLst>
          </p:cNvPr>
          <p:cNvSpPr/>
          <p:nvPr/>
        </p:nvSpPr>
        <p:spPr>
          <a:xfrm>
            <a:off x="1002024" y="5101331"/>
            <a:ext cx="169067" cy="190784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</a:t>
            </a:r>
          </a:p>
        </p:txBody>
      </p:sp>
      <p:cxnSp>
        <p:nvCxnSpPr>
          <p:cNvPr id="1293" name="Straight Connector 1292">
            <a:extLst>
              <a:ext uri="{FF2B5EF4-FFF2-40B4-BE49-F238E27FC236}">
                <a16:creationId xmlns:a16="http://schemas.microsoft.com/office/drawing/2014/main" id="{B23F555E-8265-9DB8-7D19-86BC28F1FF0B}"/>
              </a:ext>
            </a:extLst>
          </p:cNvPr>
          <p:cNvCxnSpPr>
            <a:cxnSpLocks/>
            <a:stCxn id="1292" idx="0"/>
          </p:cNvCxnSpPr>
          <p:nvPr/>
        </p:nvCxnSpPr>
        <p:spPr>
          <a:xfrm flipV="1">
            <a:off x="1086558" y="4748084"/>
            <a:ext cx="0" cy="353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6" name="Straight Connector 1295">
            <a:extLst>
              <a:ext uri="{FF2B5EF4-FFF2-40B4-BE49-F238E27FC236}">
                <a16:creationId xmlns:a16="http://schemas.microsoft.com/office/drawing/2014/main" id="{1CD5463F-FC9D-FB97-2B7D-CA119CCAF5D0}"/>
              </a:ext>
            </a:extLst>
          </p:cNvPr>
          <p:cNvCxnSpPr/>
          <p:nvPr/>
        </p:nvCxnSpPr>
        <p:spPr>
          <a:xfrm flipH="1">
            <a:off x="775118" y="4748084"/>
            <a:ext cx="1" cy="434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7" name="Oval 1296">
            <a:extLst>
              <a:ext uri="{FF2B5EF4-FFF2-40B4-BE49-F238E27FC236}">
                <a16:creationId xmlns:a16="http://schemas.microsoft.com/office/drawing/2014/main" id="{4E6AF0E0-0915-C387-07CC-5F4BD60EBB0E}"/>
              </a:ext>
            </a:extLst>
          </p:cNvPr>
          <p:cNvSpPr/>
          <p:nvPr/>
        </p:nvSpPr>
        <p:spPr>
          <a:xfrm>
            <a:off x="690584" y="5106434"/>
            <a:ext cx="169067" cy="190784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</a:t>
            </a:r>
          </a:p>
        </p:txBody>
      </p:sp>
      <p:sp>
        <p:nvSpPr>
          <p:cNvPr id="1298" name="Oval 1297">
            <a:extLst>
              <a:ext uri="{FF2B5EF4-FFF2-40B4-BE49-F238E27FC236}">
                <a16:creationId xmlns:a16="http://schemas.microsoft.com/office/drawing/2014/main" id="{D33E31EB-7DAF-E5F3-1A56-3987CD3996E9}"/>
              </a:ext>
            </a:extLst>
          </p:cNvPr>
          <p:cNvSpPr/>
          <p:nvPr/>
        </p:nvSpPr>
        <p:spPr>
          <a:xfrm>
            <a:off x="1032459" y="5148502"/>
            <a:ext cx="169067" cy="190784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</a:t>
            </a:r>
          </a:p>
        </p:txBody>
      </p:sp>
      <p:sp>
        <p:nvSpPr>
          <p:cNvPr id="1300" name="Oval 1299">
            <a:extLst>
              <a:ext uri="{FF2B5EF4-FFF2-40B4-BE49-F238E27FC236}">
                <a16:creationId xmlns:a16="http://schemas.microsoft.com/office/drawing/2014/main" id="{710C5D23-89A8-B6D9-7482-35890C114796}"/>
              </a:ext>
            </a:extLst>
          </p:cNvPr>
          <p:cNvSpPr/>
          <p:nvPr/>
        </p:nvSpPr>
        <p:spPr>
          <a:xfrm>
            <a:off x="719552" y="5145213"/>
            <a:ext cx="169067" cy="190784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</a:t>
            </a:r>
          </a:p>
        </p:txBody>
      </p:sp>
      <p:cxnSp>
        <p:nvCxnSpPr>
          <p:cNvPr id="1675" name="Connector: Elbow 1674">
            <a:extLst>
              <a:ext uri="{FF2B5EF4-FFF2-40B4-BE49-F238E27FC236}">
                <a16:creationId xmlns:a16="http://schemas.microsoft.com/office/drawing/2014/main" id="{EA91D233-62EE-2C55-BFF7-750325A2AF43}"/>
              </a:ext>
            </a:extLst>
          </p:cNvPr>
          <p:cNvCxnSpPr>
            <a:cxnSpLocks/>
            <a:stCxn id="23" idx="2"/>
            <a:endCxn id="9" idx="0"/>
          </p:cNvCxnSpPr>
          <p:nvPr/>
        </p:nvCxnSpPr>
        <p:spPr>
          <a:xfrm rot="16200000" flipH="1">
            <a:off x="1164194" y="3428015"/>
            <a:ext cx="753851" cy="1970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6" name="Group 1735">
            <a:extLst>
              <a:ext uri="{FF2B5EF4-FFF2-40B4-BE49-F238E27FC236}">
                <a16:creationId xmlns:a16="http://schemas.microsoft.com/office/drawing/2014/main" id="{4648AA74-0FC4-4DA8-FFAB-61B853C4A5A0}"/>
              </a:ext>
            </a:extLst>
          </p:cNvPr>
          <p:cNvGrpSpPr/>
          <p:nvPr/>
        </p:nvGrpSpPr>
        <p:grpSpPr>
          <a:xfrm>
            <a:off x="4329551" y="3789703"/>
            <a:ext cx="3049266" cy="1518176"/>
            <a:chOff x="4264754" y="3781154"/>
            <a:chExt cx="3049266" cy="1518176"/>
          </a:xfrm>
        </p:grpSpPr>
        <p:sp>
          <p:nvSpPr>
            <p:cNvPr id="1393" name="Rectangle 1392">
              <a:extLst>
                <a:ext uri="{FF2B5EF4-FFF2-40B4-BE49-F238E27FC236}">
                  <a16:creationId xmlns:a16="http://schemas.microsoft.com/office/drawing/2014/main" id="{C48606EB-3231-A9FA-9FE4-CA090C5375A3}"/>
                </a:ext>
              </a:extLst>
            </p:cNvPr>
            <p:cNvSpPr/>
            <p:nvPr/>
          </p:nvSpPr>
          <p:spPr>
            <a:xfrm>
              <a:off x="4264754" y="3781154"/>
              <a:ext cx="3049266" cy="9578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Body Zone Controller</a:t>
              </a:r>
            </a:p>
          </p:txBody>
        </p:sp>
        <p:sp>
          <p:nvSpPr>
            <p:cNvPr id="1394" name="Rectangle 1393">
              <a:extLst>
                <a:ext uri="{FF2B5EF4-FFF2-40B4-BE49-F238E27FC236}">
                  <a16:creationId xmlns:a16="http://schemas.microsoft.com/office/drawing/2014/main" id="{B0ACBB15-AE54-26F0-DCAD-04DF3C987062}"/>
                </a:ext>
              </a:extLst>
            </p:cNvPr>
            <p:cNvSpPr/>
            <p:nvPr/>
          </p:nvSpPr>
          <p:spPr>
            <a:xfrm>
              <a:off x="5495308" y="4054559"/>
              <a:ext cx="581959" cy="259551"/>
            </a:xfrm>
            <a:prstGeom prst="rect">
              <a:avLst/>
            </a:prstGeom>
            <a:solidFill>
              <a:schemeClr val="bg1"/>
            </a:solidFill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RCP Server</a:t>
              </a:r>
            </a:p>
          </p:txBody>
        </p:sp>
        <p:sp>
          <p:nvSpPr>
            <p:cNvPr id="1401" name="Rectangle 1400">
              <a:extLst>
                <a:ext uri="{FF2B5EF4-FFF2-40B4-BE49-F238E27FC236}">
                  <a16:creationId xmlns:a16="http://schemas.microsoft.com/office/drawing/2014/main" id="{1432FD3F-EE47-775E-2752-6767F98C0981}"/>
                </a:ext>
              </a:extLst>
            </p:cNvPr>
            <p:cNvSpPr/>
            <p:nvPr/>
          </p:nvSpPr>
          <p:spPr>
            <a:xfrm>
              <a:off x="5495048" y="4524019"/>
              <a:ext cx="260217" cy="180797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I/O</a:t>
              </a:r>
            </a:p>
          </p:txBody>
        </p:sp>
        <p:sp>
          <p:nvSpPr>
            <p:cNvPr id="1402" name="Rectangle 1401">
              <a:extLst>
                <a:ext uri="{FF2B5EF4-FFF2-40B4-BE49-F238E27FC236}">
                  <a16:creationId xmlns:a16="http://schemas.microsoft.com/office/drawing/2014/main" id="{DE985251-C227-4136-9268-2B93A289E53C}"/>
                </a:ext>
              </a:extLst>
            </p:cNvPr>
            <p:cNvSpPr/>
            <p:nvPr/>
          </p:nvSpPr>
          <p:spPr>
            <a:xfrm>
              <a:off x="5495048" y="4326063"/>
              <a:ext cx="260217" cy="180797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ADC</a:t>
              </a:r>
            </a:p>
          </p:txBody>
        </p:sp>
        <p:sp>
          <p:nvSpPr>
            <p:cNvPr id="1406" name="Rectangle 1405">
              <a:extLst>
                <a:ext uri="{FF2B5EF4-FFF2-40B4-BE49-F238E27FC236}">
                  <a16:creationId xmlns:a16="http://schemas.microsoft.com/office/drawing/2014/main" id="{28AA7CAD-9B24-F590-2249-2A231B62B3D2}"/>
                </a:ext>
              </a:extLst>
            </p:cNvPr>
            <p:cNvSpPr/>
            <p:nvPr/>
          </p:nvSpPr>
          <p:spPr>
            <a:xfrm>
              <a:off x="5780270" y="4531164"/>
              <a:ext cx="282709" cy="17271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SPI</a:t>
              </a:r>
            </a:p>
          </p:txBody>
        </p:sp>
        <p:sp>
          <p:nvSpPr>
            <p:cNvPr id="1608" name="Oval 1607">
              <a:extLst>
                <a:ext uri="{FF2B5EF4-FFF2-40B4-BE49-F238E27FC236}">
                  <a16:creationId xmlns:a16="http://schemas.microsoft.com/office/drawing/2014/main" id="{AE5CAB0D-1D1B-A2EB-215A-E1BAEFE8E503}"/>
                </a:ext>
              </a:extLst>
            </p:cNvPr>
            <p:cNvSpPr/>
            <p:nvPr/>
          </p:nvSpPr>
          <p:spPr>
            <a:xfrm>
              <a:off x="5867725" y="5058063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cxnSp>
          <p:nvCxnSpPr>
            <p:cNvPr id="1609" name="Straight Connector 1608">
              <a:extLst>
                <a:ext uri="{FF2B5EF4-FFF2-40B4-BE49-F238E27FC236}">
                  <a16:creationId xmlns:a16="http://schemas.microsoft.com/office/drawing/2014/main" id="{383199B6-1D72-56A8-3010-D240B9CC3B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0826" y="4733434"/>
              <a:ext cx="1" cy="310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1609">
              <a:extLst>
                <a:ext uri="{FF2B5EF4-FFF2-40B4-BE49-F238E27FC236}">
                  <a16:creationId xmlns:a16="http://schemas.microsoft.com/office/drawing/2014/main" id="{DEDB61F3-ECA5-01AE-AA98-6F65420E864D}"/>
                </a:ext>
              </a:extLst>
            </p:cNvPr>
            <p:cNvCxnSpPr>
              <a:stCxn id="1401" idx="2"/>
            </p:cNvCxnSpPr>
            <p:nvPr/>
          </p:nvCxnSpPr>
          <p:spPr>
            <a:xfrm flipH="1">
              <a:off x="5625156" y="4704816"/>
              <a:ext cx="1" cy="434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1" name="Oval 1610">
              <a:extLst>
                <a:ext uri="{FF2B5EF4-FFF2-40B4-BE49-F238E27FC236}">
                  <a16:creationId xmlns:a16="http://schemas.microsoft.com/office/drawing/2014/main" id="{A63BDB02-CF41-793A-FFBB-9DD850EF687E}"/>
                </a:ext>
              </a:extLst>
            </p:cNvPr>
            <p:cNvSpPr/>
            <p:nvPr/>
          </p:nvSpPr>
          <p:spPr>
            <a:xfrm>
              <a:off x="5540622" y="5063166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</a:t>
              </a:r>
            </a:p>
          </p:txBody>
        </p:sp>
        <p:sp>
          <p:nvSpPr>
            <p:cNvPr id="1615" name="Oval 1614">
              <a:extLst>
                <a:ext uri="{FF2B5EF4-FFF2-40B4-BE49-F238E27FC236}">
                  <a16:creationId xmlns:a16="http://schemas.microsoft.com/office/drawing/2014/main" id="{3B6FB08D-6A15-7750-7368-C4E4F546B463}"/>
                </a:ext>
              </a:extLst>
            </p:cNvPr>
            <p:cNvSpPr/>
            <p:nvPr/>
          </p:nvSpPr>
          <p:spPr>
            <a:xfrm>
              <a:off x="5890339" y="5077069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sp>
          <p:nvSpPr>
            <p:cNvPr id="1618" name="Rectangle 1617">
              <a:extLst>
                <a:ext uri="{FF2B5EF4-FFF2-40B4-BE49-F238E27FC236}">
                  <a16:creationId xmlns:a16="http://schemas.microsoft.com/office/drawing/2014/main" id="{6A8EB789-372F-5168-3CA8-205A2C711F37}"/>
                </a:ext>
              </a:extLst>
            </p:cNvPr>
            <p:cNvSpPr/>
            <p:nvPr/>
          </p:nvSpPr>
          <p:spPr>
            <a:xfrm>
              <a:off x="5782648" y="4333517"/>
              <a:ext cx="291046" cy="17334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PWM</a:t>
              </a:r>
            </a:p>
          </p:txBody>
        </p:sp>
        <p:sp>
          <p:nvSpPr>
            <p:cNvPr id="1619" name="TextBox 1618">
              <a:extLst>
                <a:ext uri="{FF2B5EF4-FFF2-40B4-BE49-F238E27FC236}">
                  <a16:creationId xmlns:a16="http://schemas.microsoft.com/office/drawing/2014/main" id="{2810E77E-991C-48F0-9B3F-3267D9E153B3}"/>
                </a:ext>
              </a:extLst>
            </p:cNvPr>
            <p:cNvSpPr txBox="1"/>
            <p:nvPr/>
          </p:nvSpPr>
          <p:spPr>
            <a:xfrm>
              <a:off x="4821940" y="4042841"/>
              <a:ext cx="626919" cy="6610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dash"/>
            </a:ln>
          </p:spPr>
          <p:txBody>
            <a:bodyPr wrap="none" lIns="36000" tIns="36000" rIns="36000" bIns="36000" rtlCol="0" anchor="t">
              <a:no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Local Body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Apps 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(ASIL-B)</a:t>
              </a:r>
            </a:p>
          </p:txBody>
        </p:sp>
        <p:sp>
          <p:nvSpPr>
            <p:cNvPr id="1260" name="Oval 1259">
              <a:extLst>
                <a:ext uri="{FF2B5EF4-FFF2-40B4-BE49-F238E27FC236}">
                  <a16:creationId xmlns:a16="http://schemas.microsoft.com/office/drawing/2014/main" id="{0DB8682C-41A6-FDE3-FB0F-D4C0EBC3F782}"/>
                </a:ext>
              </a:extLst>
            </p:cNvPr>
            <p:cNvSpPr/>
            <p:nvPr/>
          </p:nvSpPr>
          <p:spPr>
            <a:xfrm>
              <a:off x="5253523" y="5021598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cxnSp>
          <p:nvCxnSpPr>
            <p:cNvPr id="1262" name="Straight Connector 1261">
              <a:extLst>
                <a:ext uri="{FF2B5EF4-FFF2-40B4-BE49-F238E27FC236}">
                  <a16:creationId xmlns:a16="http://schemas.microsoft.com/office/drawing/2014/main" id="{0D2FC418-C796-2813-4FE4-379F20C264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6624" y="4696969"/>
              <a:ext cx="1" cy="310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3" name="Straight Connector 1262">
              <a:extLst>
                <a:ext uri="{FF2B5EF4-FFF2-40B4-BE49-F238E27FC236}">
                  <a16:creationId xmlns:a16="http://schemas.microsoft.com/office/drawing/2014/main" id="{02348D41-57A6-3CFA-F0D0-15AC38F46E5E}"/>
                </a:ext>
              </a:extLst>
            </p:cNvPr>
            <p:cNvCxnSpPr/>
            <p:nvPr/>
          </p:nvCxnSpPr>
          <p:spPr>
            <a:xfrm flipH="1">
              <a:off x="5010954" y="4696927"/>
              <a:ext cx="1" cy="434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4" name="Oval 1263">
              <a:extLst>
                <a:ext uri="{FF2B5EF4-FFF2-40B4-BE49-F238E27FC236}">
                  <a16:creationId xmlns:a16="http://schemas.microsoft.com/office/drawing/2014/main" id="{F04CF853-AA6C-3565-255F-8B2A825DE76B}"/>
                </a:ext>
              </a:extLst>
            </p:cNvPr>
            <p:cNvSpPr/>
            <p:nvPr/>
          </p:nvSpPr>
          <p:spPr>
            <a:xfrm>
              <a:off x="4926420" y="5055277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</a:t>
              </a: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8FD75BE9-E904-5731-4452-D16EC809A000}"/>
                </a:ext>
              </a:extLst>
            </p:cNvPr>
            <p:cNvSpPr/>
            <p:nvPr/>
          </p:nvSpPr>
          <p:spPr>
            <a:xfrm>
              <a:off x="5276137" y="5054892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sp>
          <p:nvSpPr>
            <p:cNvPr id="1275" name="Rectangle 1274">
              <a:extLst>
                <a:ext uri="{FF2B5EF4-FFF2-40B4-BE49-F238E27FC236}">
                  <a16:creationId xmlns:a16="http://schemas.microsoft.com/office/drawing/2014/main" id="{31B9C2CA-C9E3-1071-871B-43527D6DF60B}"/>
                </a:ext>
              </a:extLst>
            </p:cNvPr>
            <p:cNvSpPr/>
            <p:nvPr/>
          </p:nvSpPr>
          <p:spPr>
            <a:xfrm>
              <a:off x="4293329" y="4047415"/>
              <a:ext cx="494822" cy="649323"/>
            </a:xfrm>
            <a:prstGeom prst="rect">
              <a:avLst/>
            </a:prstGeom>
            <a:solidFill>
              <a:schemeClr val="bg1"/>
            </a:solidFill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RCP Client</a:t>
              </a:r>
            </a:p>
          </p:txBody>
        </p:sp>
        <p:sp>
          <p:nvSpPr>
            <p:cNvPr id="1276" name="Rectangle 1275">
              <a:extLst>
                <a:ext uri="{FF2B5EF4-FFF2-40B4-BE49-F238E27FC236}">
                  <a16:creationId xmlns:a16="http://schemas.microsoft.com/office/drawing/2014/main" id="{F1941324-67BB-2357-3CF1-5B3F6BAA4B2E}"/>
                </a:ext>
              </a:extLst>
            </p:cNvPr>
            <p:cNvSpPr/>
            <p:nvPr/>
          </p:nvSpPr>
          <p:spPr>
            <a:xfrm>
              <a:off x="4312115" y="4987541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SW Less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ECU</a:t>
              </a:r>
            </a:p>
          </p:txBody>
        </p:sp>
        <p:cxnSp>
          <p:nvCxnSpPr>
            <p:cNvPr id="1278" name="Straight Connector 1277">
              <a:extLst>
                <a:ext uri="{FF2B5EF4-FFF2-40B4-BE49-F238E27FC236}">
                  <a16:creationId xmlns:a16="http://schemas.microsoft.com/office/drawing/2014/main" id="{EE645A81-7072-0B61-FD0C-247DC38F7AD3}"/>
                </a:ext>
              </a:extLst>
            </p:cNvPr>
            <p:cNvCxnSpPr>
              <a:cxnSpLocks/>
              <a:stCxn id="1276" idx="0"/>
              <a:endCxn id="1275" idx="2"/>
            </p:cNvCxnSpPr>
            <p:nvPr/>
          </p:nvCxnSpPr>
          <p:spPr>
            <a:xfrm flipV="1">
              <a:off x="4537658" y="4696738"/>
              <a:ext cx="3082" cy="29080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2" name="図 1173" descr="黒い背景と男性の絵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969CF368-0B55-5756-AE8B-FE20A424D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48278" y="4415655"/>
              <a:ext cx="259544" cy="259544"/>
            </a:xfrm>
            <a:prstGeom prst="rect">
              <a:avLst/>
            </a:prstGeom>
          </p:spPr>
        </p:pic>
        <p:pic>
          <p:nvPicPr>
            <p:cNvPr id="1049" name="図 1173" descr="黒い背景と男性の絵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C62A8A31-6EEE-8DE2-02FB-BB2B64B43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30021" y="4419019"/>
              <a:ext cx="259544" cy="259544"/>
            </a:xfrm>
            <a:prstGeom prst="rect">
              <a:avLst/>
            </a:prstGeom>
          </p:spPr>
        </p:pic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00141FC7-DA6E-12AF-4051-98CAE3A6C0DC}"/>
                </a:ext>
              </a:extLst>
            </p:cNvPr>
            <p:cNvSpPr/>
            <p:nvPr/>
          </p:nvSpPr>
          <p:spPr>
            <a:xfrm>
              <a:off x="4388385" y="5039786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SW Less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ECU</a:t>
              </a:r>
            </a:p>
          </p:txBody>
        </p:sp>
        <p:sp>
          <p:nvSpPr>
            <p:cNvPr id="1682" name="Rectangle 1681">
              <a:extLst>
                <a:ext uri="{FF2B5EF4-FFF2-40B4-BE49-F238E27FC236}">
                  <a16:creationId xmlns:a16="http://schemas.microsoft.com/office/drawing/2014/main" id="{29871C1C-A3C0-3834-2388-5B5AF6D18BDA}"/>
                </a:ext>
              </a:extLst>
            </p:cNvPr>
            <p:cNvSpPr/>
            <p:nvPr/>
          </p:nvSpPr>
          <p:spPr>
            <a:xfrm>
              <a:off x="6776394" y="4914373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Edge ECU</a:t>
              </a:r>
            </a:p>
          </p:txBody>
        </p:sp>
        <p:cxnSp>
          <p:nvCxnSpPr>
            <p:cNvPr id="1683" name="Straight Connector 1682">
              <a:extLst>
                <a:ext uri="{FF2B5EF4-FFF2-40B4-BE49-F238E27FC236}">
                  <a16:creationId xmlns:a16="http://schemas.microsoft.com/office/drawing/2014/main" id="{814E3F81-733B-181F-528D-6D6993D2AB92}"/>
                </a:ext>
              </a:extLst>
            </p:cNvPr>
            <p:cNvCxnSpPr>
              <a:cxnSpLocks/>
              <a:stCxn id="1682" idx="0"/>
            </p:cNvCxnSpPr>
            <p:nvPr/>
          </p:nvCxnSpPr>
          <p:spPr>
            <a:xfrm flipH="1" flipV="1">
              <a:off x="7001008" y="4611176"/>
              <a:ext cx="929" cy="30319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4" name="Rectangle 1683">
              <a:extLst>
                <a:ext uri="{FF2B5EF4-FFF2-40B4-BE49-F238E27FC236}">
                  <a16:creationId xmlns:a16="http://schemas.microsoft.com/office/drawing/2014/main" id="{0901899F-FAB9-C61B-3183-4B1BB1621C01}"/>
                </a:ext>
              </a:extLst>
            </p:cNvPr>
            <p:cNvSpPr/>
            <p:nvPr/>
          </p:nvSpPr>
          <p:spPr>
            <a:xfrm>
              <a:off x="6825017" y="4973686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Edge ECU</a:t>
              </a:r>
            </a:p>
          </p:txBody>
        </p:sp>
        <p:grpSp>
          <p:nvGrpSpPr>
            <p:cNvPr id="1686" name="Group 1685">
              <a:extLst>
                <a:ext uri="{FF2B5EF4-FFF2-40B4-BE49-F238E27FC236}">
                  <a16:creationId xmlns:a16="http://schemas.microsoft.com/office/drawing/2014/main" id="{3E6B5B4A-D65C-D14A-EAF0-4E8F9952A5B7}"/>
                </a:ext>
              </a:extLst>
            </p:cNvPr>
            <p:cNvGrpSpPr/>
            <p:nvPr/>
          </p:nvGrpSpPr>
          <p:grpSpPr>
            <a:xfrm>
              <a:off x="6098763" y="4054559"/>
              <a:ext cx="1160392" cy="646041"/>
              <a:chOff x="7896982" y="3907630"/>
              <a:chExt cx="1193146" cy="796251"/>
            </a:xfrm>
          </p:grpSpPr>
          <p:sp>
            <p:nvSpPr>
              <p:cNvPr id="1687" name="TextBox 1686">
                <a:extLst>
                  <a:ext uri="{FF2B5EF4-FFF2-40B4-BE49-F238E27FC236}">
                    <a16:creationId xmlns:a16="http://schemas.microsoft.com/office/drawing/2014/main" id="{C4D927F9-4479-D3A3-554A-09FDCC09E0B4}"/>
                  </a:ext>
                </a:extLst>
              </p:cNvPr>
              <p:cNvSpPr txBox="1"/>
              <p:nvPr/>
            </p:nvSpPr>
            <p:spPr>
              <a:xfrm>
                <a:off x="7896982" y="3907630"/>
                <a:ext cx="1193146" cy="7962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solid"/>
              </a:ln>
            </p:spPr>
            <p:txBody>
              <a:bodyPr wrap="none" lIns="36000" tIns="36000" rIns="0" bIns="36000" rtlCol="0" anchor="t">
                <a:noAutofit/>
              </a:bodyPr>
              <a:lstStyle>
                <a:defPPr>
                  <a:defRPr lang="de-DE"/>
                </a:defPPr>
                <a:lvl1pPr algn="ctr">
                  <a:defRPr sz="800" b="1">
                    <a:latin typeface="Google San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Routing </a:t>
                </a: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D7000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or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Tunneling</a:t>
                </a:r>
                <a:endPara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endParaRPr>
              </a:p>
            </p:txBody>
          </p:sp>
          <p:grpSp>
            <p:nvGrpSpPr>
              <p:cNvPr id="1688" name="Group 1687">
                <a:extLst>
                  <a:ext uri="{FF2B5EF4-FFF2-40B4-BE49-F238E27FC236}">
                    <a16:creationId xmlns:a16="http://schemas.microsoft.com/office/drawing/2014/main" id="{616898E0-0DFC-AB69-38B3-096D297C3EDE}"/>
                  </a:ext>
                </a:extLst>
              </p:cNvPr>
              <p:cNvGrpSpPr/>
              <p:nvPr/>
            </p:nvGrpSpPr>
            <p:grpSpPr>
              <a:xfrm>
                <a:off x="7904127" y="4331052"/>
                <a:ext cx="1148131" cy="351954"/>
                <a:chOff x="7896983" y="4277523"/>
                <a:chExt cx="1148131" cy="383834"/>
              </a:xfrm>
            </p:grpSpPr>
            <p:sp>
              <p:nvSpPr>
                <p:cNvPr id="1689" name="TextBox 1688">
                  <a:extLst>
                    <a:ext uri="{FF2B5EF4-FFF2-40B4-BE49-F238E27FC236}">
                      <a16:creationId xmlns:a16="http://schemas.microsoft.com/office/drawing/2014/main" id="{B749509C-584D-43C7-7F45-F3C5542C7542}"/>
                    </a:ext>
                  </a:extLst>
                </p:cNvPr>
                <p:cNvSpPr txBox="1"/>
                <p:nvPr/>
              </p:nvSpPr>
              <p:spPr>
                <a:xfrm>
                  <a:off x="7896983" y="4277526"/>
                  <a:ext cx="529619" cy="3838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  <a:prstDash val="dash"/>
                </a:ln>
              </p:spPr>
              <p:txBody>
                <a:bodyPr wrap="none" lIns="36000" tIns="0" rIns="36000" bIns="36000" rtlCol="0" anchor="t">
                  <a:noAutofit/>
                </a:bodyPr>
                <a:lstStyle>
                  <a:defPPr>
                    <a:defRPr lang="de-DE"/>
                  </a:defPPr>
                  <a:lvl1pPr algn="ctr">
                    <a:defRPr sz="800" b="1">
                      <a:latin typeface="Google Sans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Routing</a:t>
                  </a:r>
                  <a:endPara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… </a:t>
                  </a:r>
                </a:p>
              </p:txBody>
            </p:sp>
            <p:sp>
              <p:nvSpPr>
                <p:cNvPr id="1690" name="TextBox 1689">
                  <a:extLst>
                    <a:ext uri="{FF2B5EF4-FFF2-40B4-BE49-F238E27FC236}">
                      <a16:creationId xmlns:a16="http://schemas.microsoft.com/office/drawing/2014/main" id="{18B7B45E-00A4-8242-2C6D-1748619AECBD}"/>
                    </a:ext>
                  </a:extLst>
                </p:cNvPr>
                <p:cNvSpPr txBox="1"/>
                <p:nvPr/>
              </p:nvSpPr>
              <p:spPr>
                <a:xfrm>
                  <a:off x="8464536" y="4277523"/>
                  <a:ext cx="580578" cy="3838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  <a:prstDash val="dash"/>
                </a:ln>
              </p:spPr>
              <p:txBody>
                <a:bodyPr wrap="none" lIns="36000" tIns="36000" rIns="36000" bIns="36000" rtlCol="0" anchor="t">
                  <a:noAutofit/>
                </a:bodyPr>
                <a:lstStyle>
                  <a:defPPr>
                    <a:defRPr lang="de-DE"/>
                  </a:defPPr>
                  <a:lvl1pPr>
                    <a:defRPr sz="1100"/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Tunneling</a:t>
                  </a:r>
                  <a:endPara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(CAN/LIN)</a:t>
                  </a:r>
                  <a:endPara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</p:txBody>
            </p:sp>
          </p:grpSp>
        </p:grpSp>
      </p:grpSp>
      <p:grpSp>
        <p:nvGrpSpPr>
          <p:cNvPr id="1737" name="Group 1736">
            <a:extLst>
              <a:ext uri="{FF2B5EF4-FFF2-40B4-BE49-F238E27FC236}">
                <a16:creationId xmlns:a16="http://schemas.microsoft.com/office/drawing/2014/main" id="{35D10FEE-90F1-484F-DD33-C992DAB833BC}"/>
              </a:ext>
            </a:extLst>
          </p:cNvPr>
          <p:cNvGrpSpPr/>
          <p:nvPr/>
        </p:nvGrpSpPr>
        <p:grpSpPr>
          <a:xfrm>
            <a:off x="8113950" y="3781154"/>
            <a:ext cx="3687524" cy="1546752"/>
            <a:chOff x="8113950" y="3781154"/>
            <a:chExt cx="3687524" cy="1546752"/>
          </a:xfrm>
        </p:grpSpPr>
        <p:sp>
          <p:nvSpPr>
            <p:cNvPr id="1311" name="Rectangle 1310">
              <a:extLst>
                <a:ext uri="{FF2B5EF4-FFF2-40B4-BE49-F238E27FC236}">
                  <a16:creationId xmlns:a16="http://schemas.microsoft.com/office/drawing/2014/main" id="{AF1B0721-BAA7-C7FB-F97F-CB7FA646979E}"/>
                </a:ext>
              </a:extLst>
            </p:cNvPr>
            <p:cNvSpPr/>
            <p:nvPr/>
          </p:nvSpPr>
          <p:spPr>
            <a:xfrm>
              <a:off x="8113950" y="3781154"/>
              <a:ext cx="3687524" cy="9578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X-Domain Zone Controller</a:t>
              </a:r>
            </a:p>
          </p:txBody>
        </p:sp>
        <p:sp>
          <p:nvSpPr>
            <p:cNvPr id="1632" name="Rectangle 1631">
              <a:extLst>
                <a:ext uri="{FF2B5EF4-FFF2-40B4-BE49-F238E27FC236}">
                  <a16:creationId xmlns:a16="http://schemas.microsoft.com/office/drawing/2014/main" id="{2E932312-658B-7E23-5259-C588953DAC4C}"/>
                </a:ext>
              </a:extLst>
            </p:cNvPr>
            <p:cNvSpPr/>
            <p:nvPr/>
          </p:nvSpPr>
          <p:spPr>
            <a:xfrm>
              <a:off x="9994589" y="4054559"/>
              <a:ext cx="581959" cy="259551"/>
            </a:xfrm>
            <a:prstGeom prst="rect">
              <a:avLst/>
            </a:prstGeom>
            <a:solidFill>
              <a:schemeClr val="bg1"/>
            </a:solidFill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RCP Server</a:t>
              </a:r>
            </a:p>
          </p:txBody>
        </p:sp>
        <p:sp>
          <p:nvSpPr>
            <p:cNvPr id="1633" name="Rectangle 1632">
              <a:extLst>
                <a:ext uri="{FF2B5EF4-FFF2-40B4-BE49-F238E27FC236}">
                  <a16:creationId xmlns:a16="http://schemas.microsoft.com/office/drawing/2014/main" id="{ADCD4FA5-56B5-255B-A181-38789AAD15AD}"/>
                </a:ext>
              </a:extLst>
            </p:cNvPr>
            <p:cNvSpPr/>
            <p:nvPr/>
          </p:nvSpPr>
          <p:spPr>
            <a:xfrm>
              <a:off x="9994329" y="4524019"/>
              <a:ext cx="260217" cy="180797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I/O</a:t>
              </a:r>
            </a:p>
          </p:txBody>
        </p:sp>
        <p:sp>
          <p:nvSpPr>
            <p:cNvPr id="1634" name="Rectangle 1633">
              <a:extLst>
                <a:ext uri="{FF2B5EF4-FFF2-40B4-BE49-F238E27FC236}">
                  <a16:creationId xmlns:a16="http://schemas.microsoft.com/office/drawing/2014/main" id="{78BAC089-D58C-3BBB-D6A6-C466090ABF9F}"/>
                </a:ext>
              </a:extLst>
            </p:cNvPr>
            <p:cNvSpPr/>
            <p:nvPr/>
          </p:nvSpPr>
          <p:spPr>
            <a:xfrm>
              <a:off x="9994329" y="4326063"/>
              <a:ext cx="260217" cy="180797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ADC</a:t>
              </a:r>
            </a:p>
          </p:txBody>
        </p:sp>
        <p:sp>
          <p:nvSpPr>
            <p:cNvPr id="1635" name="Rectangle 1634">
              <a:extLst>
                <a:ext uri="{FF2B5EF4-FFF2-40B4-BE49-F238E27FC236}">
                  <a16:creationId xmlns:a16="http://schemas.microsoft.com/office/drawing/2014/main" id="{17410A79-31DE-4035-F214-96133A5F8064}"/>
                </a:ext>
              </a:extLst>
            </p:cNvPr>
            <p:cNvSpPr/>
            <p:nvPr/>
          </p:nvSpPr>
          <p:spPr>
            <a:xfrm>
              <a:off x="10279551" y="4531164"/>
              <a:ext cx="282709" cy="17271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SPI</a:t>
              </a:r>
            </a:p>
          </p:txBody>
        </p:sp>
        <p:sp>
          <p:nvSpPr>
            <p:cNvPr id="1636" name="Oval 1635">
              <a:extLst>
                <a:ext uri="{FF2B5EF4-FFF2-40B4-BE49-F238E27FC236}">
                  <a16:creationId xmlns:a16="http://schemas.microsoft.com/office/drawing/2014/main" id="{5BCECFD6-E8A1-C69B-9F4A-4339C43A1B4C}"/>
                </a:ext>
              </a:extLst>
            </p:cNvPr>
            <p:cNvSpPr/>
            <p:nvPr/>
          </p:nvSpPr>
          <p:spPr>
            <a:xfrm>
              <a:off x="10367006" y="5058063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cxnSp>
          <p:nvCxnSpPr>
            <p:cNvPr id="1637" name="Straight Connector 1636">
              <a:extLst>
                <a:ext uri="{FF2B5EF4-FFF2-40B4-BE49-F238E27FC236}">
                  <a16:creationId xmlns:a16="http://schemas.microsoft.com/office/drawing/2014/main" id="{53010216-1177-4653-6280-3447A7ED2B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107" y="4733434"/>
              <a:ext cx="1" cy="310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8" name="Straight Connector 1637">
              <a:extLst>
                <a:ext uri="{FF2B5EF4-FFF2-40B4-BE49-F238E27FC236}">
                  <a16:creationId xmlns:a16="http://schemas.microsoft.com/office/drawing/2014/main" id="{FA2B3B3D-B4A7-C4EF-F7D0-6876B1BDB1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4332" y="4697697"/>
              <a:ext cx="1" cy="434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9" name="Oval 1638">
              <a:extLst>
                <a:ext uri="{FF2B5EF4-FFF2-40B4-BE49-F238E27FC236}">
                  <a16:creationId xmlns:a16="http://schemas.microsoft.com/office/drawing/2014/main" id="{A9B2A31A-401B-A4D4-A24C-8358F4804C29}"/>
                </a:ext>
              </a:extLst>
            </p:cNvPr>
            <p:cNvSpPr/>
            <p:nvPr/>
          </p:nvSpPr>
          <p:spPr>
            <a:xfrm>
              <a:off x="10018471" y="5063166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</a:t>
              </a:r>
            </a:p>
          </p:txBody>
        </p:sp>
        <p:sp>
          <p:nvSpPr>
            <p:cNvPr id="1640" name="Oval 1639">
              <a:extLst>
                <a:ext uri="{FF2B5EF4-FFF2-40B4-BE49-F238E27FC236}">
                  <a16:creationId xmlns:a16="http://schemas.microsoft.com/office/drawing/2014/main" id="{BC996AB9-FA42-CF4A-B273-844460EC5AF0}"/>
                </a:ext>
              </a:extLst>
            </p:cNvPr>
            <p:cNvSpPr/>
            <p:nvPr/>
          </p:nvSpPr>
          <p:spPr>
            <a:xfrm>
              <a:off x="10389620" y="5077069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sp>
          <p:nvSpPr>
            <p:cNvPr id="1641" name="Rectangle 1640">
              <a:extLst>
                <a:ext uri="{FF2B5EF4-FFF2-40B4-BE49-F238E27FC236}">
                  <a16:creationId xmlns:a16="http://schemas.microsoft.com/office/drawing/2014/main" id="{EDE46A4D-4A16-6DB7-1574-F40A95D2560E}"/>
                </a:ext>
              </a:extLst>
            </p:cNvPr>
            <p:cNvSpPr/>
            <p:nvPr/>
          </p:nvSpPr>
          <p:spPr>
            <a:xfrm>
              <a:off x="10281929" y="4333517"/>
              <a:ext cx="291046" cy="17334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PWM</a:t>
              </a:r>
            </a:p>
          </p:txBody>
        </p:sp>
        <p:sp>
          <p:nvSpPr>
            <p:cNvPr id="1642" name="TextBox 1641">
              <a:extLst>
                <a:ext uri="{FF2B5EF4-FFF2-40B4-BE49-F238E27FC236}">
                  <a16:creationId xmlns:a16="http://schemas.microsoft.com/office/drawing/2014/main" id="{297409C7-0A1F-9384-74C3-EB9822BDF566}"/>
                </a:ext>
              </a:extLst>
            </p:cNvPr>
            <p:cNvSpPr txBox="1"/>
            <p:nvPr/>
          </p:nvSpPr>
          <p:spPr>
            <a:xfrm>
              <a:off x="8656850" y="4042841"/>
              <a:ext cx="626919" cy="6610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dash"/>
            </a:ln>
          </p:spPr>
          <p:txBody>
            <a:bodyPr wrap="none" lIns="36000" tIns="36000" rIns="36000" bIns="36000" rtlCol="0" anchor="t">
              <a:no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Local Body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 Apps 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(ASIL-B)</a:t>
              </a:r>
            </a:p>
          </p:txBody>
        </p:sp>
        <p:sp>
          <p:nvSpPr>
            <p:cNvPr id="1643" name="Oval 1642">
              <a:extLst>
                <a:ext uri="{FF2B5EF4-FFF2-40B4-BE49-F238E27FC236}">
                  <a16:creationId xmlns:a16="http://schemas.microsoft.com/office/drawing/2014/main" id="{31D44029-63C4-37D8-0F10-7C85B68AC7D6}"/>
                </a:ext>
              </a:extLst>
            </p:cNvPr>
            <p:cNvSpPr/>
            <p:nvPr/>
          </p:nvSpPr>
          <p:spPr>
            <a:xfrm>
              <a:off x="9088433" y="5021598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cxnSp>
          <p:nvCxnSpPr>
            <p:cNvPr id="1644" name="Straight Connector 1643">
              <a:extLst>
                <a:ext uri="{FF2B5EF4-FFF2-40B4-BE49-F238E27FC236}">
                  <a16:creationId xmlns:a16="http://schemas.microsoft.com/office/drawing/2014/main" id="{FA9E8364-808C-363F-C35C-B0888C89CB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1534" y="4696969"/>
              <a:ext cx="1" cy="310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1644">
              <a:extLst>
                <a:ext uri="{FF2B5EF4-FFF2-40B4-BE49-F238E27FC236}">
                  <a16:creationId xmlns:a16="http://schemas.microsoft.com/office/drawing/2014/main" id="{191C6A49-812E-5B94-6DF6-91738FF0BD44}"/>
                </a:ext>
              </a:extLst>
            </p:cNvPr>
            <p:cNvCxnSpPr/>
            <p:nvPr/>
          </p:nvCxnSpPr>
          <p:spPr>
            <a:xfrm flipH="1">
              <a:off x="8845864" y="4696927"/>
              <a:ext cx="1" cy="434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6" name="Oval 1645">
              <a:extLst>
                <a:ext uri="{FF2B5EF4-FFF2-40B4-BE49-F238E27FC236}">
                  <a16:creationId xmlns:a16="http://schemas.microsoft.com/office/drawing/2014/main" id="{08ABE0C8-C74C-6035-B225-6DE57C805D1D}"/>
                </a:ext>
              </a:extLst>
            </p:cNvPr>
            <p:cNvSpPr/>
            <p:nvPr/>
          </p:nvSpPr>
          <p:spPr>
            <a:xfrm>
              <a:off x="8769310" y="5032568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</a:t>
              </a:r>
            </a:p>
          </p:txBody>
        </p:sp>
        <p:sp>
          <p:nvSpPr>
            <p:cNvPr id="1647" name="Oval 1646">
              <a:extLst>
                <a:ext uri="{FF2B5EF4-FFF2-40B4-BE49-F238E27FC236}">
                  <a16:creationId xmlns:a16="http://schemas.microsoft.com/office/drawing/2014/main" id="{C1B6E7F6-665D-8CDB-6F9C-28F32A97075E}"/>
                </a:ext>
              </a:extLst>
            </p:cNvPr>
            <p:cNvSpPr/>
            <p:nvPr/>
          </p:nvSpPr>
          <p:spPr>
            <a:xfrm>
              <a:off x="9111047" y="5054892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sp>
          <p:nvSpPr>
            <p:cNvPr id="1648" name="Rectangle 1647">
              <a:extLst>
                <a:ext uri="{FF2B5EF4-FFF2-40B4-BE49-F238E27FC236}">
                  <a16:creationId xmlns:a16="http://schemas.microsoft.com/office/drawing/2014/main" id="{7B0DFC02-FD86-FABD-0477-D7F15E606E02}"/>
                </a:ext>
              </a:extLst>
            </p:cNvPr>
            <p:cNvSpPr/>
            <p:nvPr/>
          </p:nvSpPr>
          <p:spPr>
            <a:xfrm>
              <a:off x="8156815" y="4047415"/>
              <a:ext cx="472144" cy="649323"/>
            </a:xfrm>
            <a:prstGeom prst="rect">
              <a:avLst/>
            </a:prstGeom>
            <a:solidFill>
              <a:schemeClr val="bg1"/>
            </a:solidFill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RCP Client</a:t>
              </a:r>
            </a:p>
          </p:txBody>
        </p:sp>
        <p:sp>
          <p:nvSpPr>
            <p:cNvPr id="1649" name="Rectangle 1648">
              <a:extLst>
                <a:ext uri="{FF2B5EF4-FFF2-40B4-BE49-F238E27FC236}">
                  <a16:creationId xmlns:a16="http://schemas.microsoft.com/office/drawing/2014/main" id="{8C16C4B9-4209-9AF0-1263-F46B4977E9DC}"/>
                </a:ext>
              </a:extLst>
            </p:cNvPr>
            <p:cNvSpPr/>
            <p:nvPr/>
          </p:nvSpPr>
          <p:spPr>
            <a:xfrm>
              <a:off x="8168453" y="5016117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SW Less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ECU</a:t>
              </a:r>
            </a:p>
          </p:txBody>
        </p:sp>
        <p:cxnSp>
          <p:nvCxnSpPr>
            <p:cNvPr id="1650" name="Straight Connector 1649">
              <a:extLst>
                <a:ext uri="{FF2B5EF4-FFF2-40B4-BE49-F238E27FC236}">
                  <a16:creationId xmlns:a16="http://schemas.microsoft.com/office/drawing/2014/main" id="{D967D633-4A7A-0EA9-0F4D-4A0B5C784EAE}"/>
                </a:ext>
              </a:extLst>
            </p:cNvPr>
            <p:cNvCxnSpPr>
              <a:cxnSpLocks/>
              <a:stCxn id="1649" idx="0"/>
              <a:endCxn id="1648" idx="2"/>
            </p:cNvCxnSpPr>
            <p:nvPr/>
          </p:nvCxnSpPr>
          <p:spPr>
            <a:xfrm flipH="1" flipV="1">
              <a:off x="8392887" y="4696738"/>
              <a:ext cx="1109" cy="31937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51" name="図 1173" descr="黒い背景と男性の絵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6492E71-9EF3-8F65-A24B-815776881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80597" y="4415700"/>
              <a:ext cx="259544" cy="259544"/>
            </a:xfrm>
            <a:prstGeom prst="rect">
              <a:avLst/>
            </a:prstGeom>
          </p:spPr>
        </p:pic>
        <p:pic>
          <p:nvPicPr>
            <p:cNvPr id="1652" name="図 1173" descr="黒い背景と男性の絵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7236BE3-7DCF-E780-9669-CBCEC25E1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53401" y="4419020"/>
              <a:ext cx="259544" cy="259544"/>
            </a:xfrm>
            <a:prstGeom prst="rect">
              <a:avLst/>
            </a:prstGeom>
          </p:spPr>
        </p:pic>
        <p:sp>
          <p:nvSpPr>
            <p:cNvPr id="1653" name="Rectangle 1652">
              <a:extLst>
                <a:ext uri="{FF2B5EF4-FFF2-40B4-BE49-F238E27FC236}">
                  <a16:creationId xmlns:a16="http://schemas.microsoft.com/office/drawing/2014/main" id="{D7DD3D0A-C6D2-08F7-4BEA-3717F0BAAA9B}"/>
                </a:ext>
              </a:extLst>
            </p:cNvPr>
            <p:cNvSpPr/>
            <p:nvPr/>
          </p:nvSpPr>
          <p:spPr>
            <a:xfrm>
              <a:off x="8244723" y="5068362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SW Less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ECU</a:t>
              </a:r>
            </a:p>
          </p:txBody>
        </p:sp>
        <p:sp>
          <p:nvSpPr>
            <p:cNvPr id="1662" name="TextBox 1661">
              <a:extLst>
                <a:ext uri="{FF2B5EF4-FFF2-40B4-BE49-F238E27FC236}">
                  <a16:creationId xmlns:a16="http://schemas.microsoft.com/office/drawing/2014/main" id="{1D5B0540-50B6-F02D-6021-7ECAAADA0323}"/>
                </a:ext>
              </a:extLst>
            </p:cNvPr>
            <p:cNvSpPr txBox="1"/>
            <p:nvPr/>
          </p:nvSpPr>
          <p:spPr>
            <a:xfrm>
              <a:off x="9327957" y="4042841"/>
              <a:ext cx="626919" cy="66104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">
              <a:solidFill>
                <a:schemeClr val="tx1"/>
              </a:solidFill>
              <a:prstDash val="dash"/>
            </a:ln>
          </p:spPr>
          <p:txBody>
            <a:bodyPr wrap="none" lIns="36000" tIns="36000" rIns="36000" bIns="36000" rtlCol="0" anchor="t">
              <a:no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Local Apps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Google Sans"/>
                  <a:ea typeface="メイリオ"/>
                  <a:cs typeface="+mn-cs"/>
                </a:rPr>
                <a:t>(ASIL-D)</a:t>
              </a:r>
            </a:p>
          </p:txBody>
        </p:sp>
        <p:pic>
          <p:nvPicPr>
            <p:cNvPr id="1663" name="図 1173" descr="黒い背景と男性の絵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9E681FAC-67E9-6AE4-D190-CFE69928C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520746" y="4437194"/>
              <a:ext cx="259544" cy="259544"/>
            </a:xfrm>
            <a:prstGeom prst="rect">
              <a:avLst/>
            </a:prstGeom>
          </p:spPr>
        </p:pic>
        <p:sp>
          <p:nvSpPr>
            <p:cNvPr id="1664" name="Oval 1663">
              <a:extLst>
                <a:ext uri="{FF2B5EF4-FFF2-40B4-BE49-F238E27FC236}">
                  <a16:creationId xmlns:a16="http://schemas.microsoft.com/office/drawing/2014/main" id="{273E0885-24E8-4337-FA8A-3F74CAA8071D}"/>
                </a:ext>
              </a:extLst>
            </p:cNvPr>
            <p:cNvSpPr/>
            <p:nvPr/>
          </p:nvSpPr>
          <p:spPr>
            <a:xfrm>
              <a:off x="9730226" y="5037514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cxnSp>
          <p:nvCxnSpPr>
            <p:cNvPr id="1665" name="Straight Connector 1664">
              <a:extLst>
                <a:ext uri="{FF2B5EF4-FFF2-40B4-BE49-F238E27FC236}">
                  <a16:creationId xmlns:a16="http://schemas.microsoft.com/office/drawing/2014/main" id="{33B13490-E9C6-97C8-BBEE-D471151CE5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93327" y="4712885"/>
              <a:ext cx="1" cy="310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6" name="Straight Connector 1665">
              <a:extLst>
                <a:ext uri="{FF2B5EF4-FFF2-40B4-BE49-F238E27FC236}">
                  <a16:creationId xmlns:a16="http://schemas.microsoft.com/office/drawing/2014/main" id="{7D94160A-B7F6-EF87-71B2-6F9A4C8D0F68}"/>
                </a:ext>
              </a:extLst>
            </p:cNvPr>
            <p:cNvCxnSpPr/>
            <p:nvPr/>
          </p:nvCxnSpPr>
          <p:spPr>
            <a:xfrm flipH="1">
              <a:off x="9487657" y="4712843"/>
              <a:ext cx="1" cy="434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7" name="Oval 1666">
              <a:extLst>
                <a:ext uri="{FF2B5EF4-FFF2-40B4-BE49-F238E27FC236}">
                  <a16:creationId xmlns:a16="http://schemas.microsoft.com/office/drawing/2014/main" id="{7CE5EF9A-044A-EE34-0C0D-B12FE766CF80}"/>
                </a:ext>
              </a:extLst>
            </p:cNvPr>
            <p:cNvSpPr/>
            <p:nvPr/>
          </p:nvSpPr>
          <p:spPr>
            <a:xfrm>
              <a:off x="9403123" y="5071193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</a:t>
              </a:r>
            </a:p>
          </p:txBody>
        </p:sp>
        <p:sp>
          <p:nvSpPr>
            <p:cNvPr id="1668" name="Oval 1667">
              <a:extLst>
                <a:ext uri="{FF2B5EF4-FFF2-40B4-BE49-F238E27FC236}">
                  <a16:creationId xmlns:a16="http://schemas.microsoft.com/office/drawing/2014/main" id="{B069E414-9886-10CF-9D92-D56D3F1122C3}"/>
                </a:ext>
              </a:extLst>
            </p:cNvPr>
            <p:cNvSpPr/>
            <p:nvPr/>
          </p:nvSpPr>
          <p:spPr>
            <a:xfrm>
              <a:off x="9752840" y="5070808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sp>
          <p:nvSpPr>
            <p:cNvPr id="1694" name="Rectangle 1693">
              <a:extLst>
                <a:ext uri="{FF2B5EF4-FFF2-40B4-BE49-F238E27FC236}">
                  <a16:creationId xmlns:a16="http://schemas.microsoft.com/office/drawing/2014/main" id="{91088A5B-A8F5-3240-29D9-2506D179AEF6}"/>
                </a:ext>
              </a:extLst>
            </p:cNvPr>
            <p:cNvSpPr/>
            <p:nvPr/>
          </p:nvSpPr>
          <p:spPr>
            <a:xfrm>
              <a:off x="11236400" y="4902796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Edge ECU</a:t>
              </a:r>
            </a:p>
          </p:txBody>
        </p:sp>
        <p:cxnSp>
          <p:nvCxnSpPr>
            <p:cNvPr id="1695" name="Straight Connector 1694">
              <a:extLst>
                <a:ext uri="{FF2B5EF4-FFF2-40B4-BE49-F238E27FC236}">
                  <a16:creationId xmlns:a16="http://schemas.microsoft.com/office/drawing/2014/main" id="{FA1C485E-944B-FDF3-3396-682D1278FDB1}"/>
                </a:ext>
              </a:extLst>
            </p:cNvPr>
            <p:cNvCxnSpPr>
              <a:cxnSpLocks/>
              <a:stCxn id="1694" idx="0"/>
            </p:cNvCxnSpPr>
            <p:nvPr/>
          </p:nvCxnSpPr>
          <p:spPr>
            <a:xfrm flipH="1" flipV="1">
              <a:off x="11461014" y="4599599"/>
              <a:ext cx="929" cy="30319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98" name="Group 1697">
              <a:extLst>
                <a:ext uri="{FF2B5EF4-FFF2-40B4-BE49-F238E27FC236}">
                  <a16:creationId xmlns:a16="http://schemas.microsoft.com/office/drawing/2014/main" id="{0D7B17F2-1259-CCBC-4F57-9A5B206B3B49}"/>
                </a:ext>
              </a:extLst>
            </p:cNvPr>
            <p:cNvGrpSpPr/>
            <p:nvPr/>
          </p:nvGrpSpPr>
          <p:grpSpPr>
            <a:xfrm>
              <a:off x="10601631" y="4042982"/>
              <a:ext cx="1160392" cy="646041"/>
              <a:chOff x="7896982" y="3907630"/>
              <a:chExt cx="1193146" cy="796251"/>
            </a:xfrm>
          </p:grpSpPr>
          <p:sp>
            <p:nvSpPr>
              <p:cNvPr id="1699" name="TextBox 1698">
                <a:extLst>
                  <a:ext uri="{FF2B5EF4-FFF2-40B4-BE49-F238E27FC236}">
                    <a16:creationId xmlns:a16="http://schemas.microsoft.com/office/drawing/2014/main" id="{D72589DC-8BF4-C82B-FD03-A0C91159E4EA}"/>
                  </a:ext>
                </a:extLst>
              </p:cNvPr>
              <p:cNvSpPr txBox="1"/>
              <p:nvPr/>
            </p:nvSpPr>
            <p:spPr>
              <a:xfrm>
                <a:off x="7896982" y="3907630"/>
                <a:ext cx="1193146" cy="7962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solid"/>
              </a:ln>
            </p:spPr>
            <p:txBody>
              <a:bodyPr wrap="none" lIns="36000" tIns="36000" rIns="0" bIns="36000" rtlCol="0" anchor="t">
                <a:noAutofit/>
              </a:bodyPr>
              <a:lstStyle>
                <a:defPPr>
                  <a:defRPr lang="de-DE"/>
                </a:defPPr>
                <a:lvl1pPr algn="ctr">
                  <a:defRPr sz="800" b="1">
                    <a:latin typeface="Google San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Routing </a:t>
                </a: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D7000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or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Tunneling</a:t>
                </a:r>
                <a:endPara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endParaRPr>
              </a:p>
            </p:txBody>
          </p:sp>
          <p:grpSp>
            <p:nvGrpSpPr>
              <p:cNvPr id="1700" name="Group 1699">
                <a:extLst>
                  <a:ext uri="{FF2B5EF4-FFF2-40B4-BE49-F238E27FC236}">
                    <a16:creationId xmlns:a16="http://schemas.microsoft.com/office/drawing/2014/main" id="{27C73A68-4F22-2ABF-01F9-974641E2BC7A}"/>
                  </a:ext>
                </a:extLst>
              </p:cNvPr>
              <p:cNvGrpSpPr/>
              <p:nvPr/>
            </p:nvGrpSpPr>
            <p:grpSpPr>
              <a:xfrm>
                <a:off x="7904127" y="4331052"/>
                <a:ext cx="1148131" cy="351954"/>
                <a:chOff x="7896983" y="4277523"/>
                <a:chExt cx="1148131" cy="383834"/>
              </a:xfrm>
            </p:grpSpPr>
            <p:sp>
              <p:nvSpPr>
                <p:cNvPr id="1701" name="TextBox 1700">
                  <a:extLst>
                    <a:ext uri="{FF2B5EF4-FFF2-40B4-BE49-F238E27FC236}">
                      <a16:creationId xmlns:a16="http://schemas.microsoft.com/office/drawing/2014/main" id="{99C23ADE-A577-398F-A4D3-2B69C81EBCF7}"/>
                    </a:ext>
                  </a:extLst>
                </p:cNvPr>
                <p:cNvSpPr txBox="1"/>
                <p:nvPr/>
              </p:nvSpPr>
              <p:spPr>
                <a:xfrm>
                  <a:off x="7896983" y="4277526"/>
                  <a:ext cx="529619" cy="3838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  <a:prstDash val="dash"/>
                </a:ln>
              </p:spPr>
              <p:txBody>
                <a:bodyPr wrap="none" lIns="36000" tIns="0" rIns="36000" bIns="36000" rtlCol="0" anchor="t">
                  <a:noAutofit/>
                </a:bodyPr>
                <a:lstStyle>
                  <a:defPPr>
                    <a:defRPr lang="de-DE"/>
                  </a:defPPr>
                  <a:lvl1pPr algn="ctr">
                    <a:defRPr sz="800" b="1">
                      <a:latin typeface="Google Sans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Routing</a:t>
                  </a:r>
                  <a:endPara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</p:txBody>
            </p:sp>
            <p:sp>
              <p:nvSpPr>
                <p:cNvPr id="1702" name="TextBox 1701">
                  <a:extLst>
                    <a:ext uri="{FF2B5EF4-FFF2-40B4-BE49-F238E27FC236}">
                      <a16:creationId xmlns:a16="http://schemas.microsoft.com/office/drawing/2014/main" id="{C87FA290-B486-11A8-8DA7-0A5DBC0A1FC4}"/>
                    </a:ext>
                  </a:extLst>
                </p:cNvPr>
                <p:cNvSpPr txBox="1"/>
                <p:nvPr/>
              </p:nvSpPr>
              <p:spPr>
                <a:xfrm>
                  <a:off x="8464536" y="4277523"/>
                  <a:ext cx="580578" cy="3838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  <a:prstDash val="dash"/>
                </a:ln>
              </p:spPr>
              <p:txBody>
                <a:bodyPr wrap="none" lIns="36000" tIns="36000" rIns="36000" bIns="36000" rtlCol="0" anchor="t">
                  <a:noAutofit/>
                </a:bodyPr>
                <a:lstStyle>
                  <a:defPPr>
                    <a:defRPr lang="de-DE"/>
                  </a:defPPr>
                  <a:lvl1pPr>
                    <a:defRPr sz="1100"/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Tunneling</a:t>
                  </a:r>
                  <a:endPara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(CAN/LIN)</a:t>
                  </a:r>
                  <a:endPara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</p:txBody>
            </p:sp>
          </p:grpSp>
        </p:grpSp>
      </p:grpSp>
      <p:pic>
        <p:nvPicPr>
          <p:cNvPr id="1703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E91C2444-D873-4DAA-1BC5-CA8DDE2DA8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461" y="2493319"/>
            <a:ext cx="489716" cy="489716"/>
          </a:xfrm>
          <a:prstGeom prst="rect">
            <a:avLst/>
          </a:prstGeom>
        </p:spPr>
      </p:pic>
      <p:sp>
        <p:nvSpPr>
          <p:cNvPr id="1707" name="Rectangle 1706">
            <a:extLst>
              <a:ext uri="{FF2B5EF4-FFF2-40B4-BE49-F238E27FC236}">
                <a16:creationId xmlns:a16="http://schemas.microsoft.com/office/drawing/2014/main" id="{255EA372-0056-7E6F-67E9-576371869157}"/>
              </a:ext>
            </a:extLst>
          </p:cNvPr>
          <p:cNvSpPr/>
          <p:nvPr/>
        </p:nvSpPr>
        <p:spPr>
          <a:xfrm>
            <a:off x="4916448" y="1791773"/>
            <a:ext cx="1881415" cy="34666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HPC</a:t>
            </a:r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99FB39B9-7AA9-AB51-D25E-FE1FED35D3F2}"/>
              </a:ext>
            </a:extLst>
          </p:cNvPr>
          <p:cNvSpPr/>
          <p:nvPr/>
        </p:nvSpPr>
        <p:spPr>
          <a:xfrm>
            <a:off x="4916448" y="2175341"/>
            <a:ext cx="1869895" cy="830251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Real Time Vehicle Computer</a:t>
            </a:r>
          </a:p>
        </p:txBody>
      </p:sp>
      <p:sp>
        <p:nvSpPr>
          <p:cNvPr id="1709" name="Rectangle 1708">
            <a:extLst>
              <a:ext uri="{FF2B5EF4-FFF2-40B4-BE49-F238E27FC236}">
                <a16:creationId xmlns:a16="http://schemas.microsoft.com/office/drawing/2014/main" id="{560E800F-B197-C7E7-D317-B034B29EAF7F}"/>
              </a:ext>
            </a:extLst>
          </p:cNvPr>
          <p:cNvSpPr/>
          <p:nvPr/>
        </p:nvSpPr>
        <p:spPr>
          <a:xfrm>
            <a:off x="4972708" y="1942084"/>
            <a:ext cx="853351" cy="17491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ADAS</a:t>
            </a:r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8A543895-146A-BDBC-CF49-60420FF77429}"/>
              </a:ext>
            </a:extLst>
          </p:cNvPr>
          <p:cNvSpPr/>
          <p:nvPr/>
        </p:nvSpPr>
        <p:spPr>
          <a:xfrm>
            <a:off x="5851255" y="1945337"/>
            <a:ext cx="896058" cy="1710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IVI</a:t>
            </a:r>
          </a:p>
        </p:txBody>
      </p:sp>
      <p:pic>
        <p:nvPicPr>
          <p:cNvPr id="1712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2E6EE4FE-A7AF-9723-4BEE-C2BEBE65F5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0702" y="2456783"/>
            <a:ext cx="489717" cy="489717"/>
          </a:xfrm>
          <a:prstGeom prst="rect">
            <a:avLst/>
          </a:prstGeom>
        </p:spPr>
      </p:pic>
      <p:pic>
        <p:nvPicPr>
          <p:cNvPr id="1714" name="Graphic 1713" descr="Web cam outline">
            <a:extLst>
              <a:ext uri="{FF2B5EF4-FFF2-40B4-BE49-F238E27FC236}">
                <a16:creationId xmlns:a16="http://schemas.microsoft.com/office/drawing/2014/main" id="{C05DCC37-B4A3-54B0-0881-9356990C2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657" y="1842618"/>
            <a:ext cx="273807" cy="273807"/>
          </a:xfrm>
          <a:prstGeom prst="rect">
            <a:avLst/>
          </a:prstGeom>
        </p:spPr>
      </p:pic>
      <p:pic>
        <p:nvPicPr>
          <p:cNvPr id="1715" name="Graphic 1714" descr="Web cam outline">
            <a:extLst>
              <a:ext uri="{FF2B5EF4-FFF2-40B4-BE49-F238E27FC236}">
                <a16:creationId xmlns:a16="http://schemas.microsoft.com/office/drawing/2014/main" id="{9B9D89AB-8093-912C-1A67-97E3A5A47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448" y="1965105"/>
            <a:ext cx="257318" cy="257318"/>
          </a:xfrm>
          <a:prstGeom prst="rect">
            <a:avLst/>
          </a:prstGeom>
        </p:spPr>
      </p:pic>
      <p:cxnSp>
        <p:nvCxnSpPr>
          <p:cNvPr id="1716" name="Straight Connector 1715">
            <a:extLst>
              <a:ext uri="{FF2B5EF4-FFF2-40B4-BE49-F238E27FC236}">
                <a16:creationId xmlns:a16="http://schemas.microsoft.com/office/drawing/2014/main" id="{048EBBFF-127B-CC27-7424-B914C3FC2A56}"/>
              </a:ext>
            </a:extLst>
          </p:cNvPr>
          <p:cNvCxnSpPr>
            <a:cxnSpLocks/>
            <a:stCxn id="1715" idx="0"/>
            <a:endCxn id="1707" idx="1"/>
          </p:cNvCxnSpPr>
          <p:nvPr/>
        </p:nvCxnSpPr>
        <p:spPr>
          <a:xfrm>
            <a:off x="4735107" y="1965105"/>
            <a:ext cx="1813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7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7D580AC8-B58A-B9F0-E824-F33443D8FC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0771" y="2456783"/>
            <a:ext cx="489716" cy="489716"/>
          </a:xfrm>
          <a:prstGeom prst="rect">
            <a:avLst/>
          </a:prstGeom>
        </p:spPr>
      </p:pic>
      <p:sp>
        <p:nvSpPr>
          <p:cNvPr id="1718" name="Rectangle 1717">
            <a:extLst>
              <a:ext uri="{FF2B5EF4-FFF2-40B4-BE49-F238E27FC236}">
                <a16:creationId xmlns:a16="http://schemas.microsoft.com/office/drawing/2014/main" id="{00CB34D0-B3FA-926F-F01E-DFE5D7997F6F}"/>
              </a:ext>
            </a:extLst>
          </p:cNvPr>
          <p:cNvSpPr/>
          <p:nvPr/>
        </p:nvSpPr>
        <p:spPr>
          <a:xfrm>
            <a:off x="8945235" y="1797219"/>
            <a:ext cx="1881415" cy="34666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HPC</a:t>
            </a:r>
          </a:p>
        </p:txBody>
      </p:sp>
      <p:sp>
        <p:nvSpPr>
          <p:cNvPr id="1719" name="Rectangle 1718">
            <a:extLst>
              <a:ext uri="{FF2B5EF4-FFF2-40B4-BE49-F238E27FC236}">
                <a16:creationId xmlns:a16="http://schemas.microsoft.com/office/drawing/2014/main" id="{57F7E0ED-A5EB-5242-1FC0-F3B8256BE360}"/>
              </a:ext>
            </a:extLst>
          </p:cNvPr>
          <p:cNvSpPr/>
          <p:nvPr/>
        </p:nvSpPr>
        <p:spPr>
          <a:xfrm>
            <a:off x="8945235" y="2180787"/>
            <a:ext cx="1881415" cy="830251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Real Time Vehicle Computer</a:t>
            </a:r>
          </a:p>
        </p:txBody>
      </p:sp>
      <p:sp>
        <p:nvSpPr>
          <p:cNvPr id="1720" name="Rectangle 1719">
            <a:extLst>
              <a:ext uri="{FF2B5EF4-FFF2-40B4-BE49-F238E27FC236}">
                <a16:creationId xmlns:a16="http://schemas.microsoft.com/office/drawing/2014/main" id="{DFAC97BD-3502-3C1A-57F0-40E44B357289}"/>
              </a:ext>
            </a:extLst>
          </p:cNvPr>
          <p:cNvSpPr/>
          <p:nvPr/>
        </p:nvSpPr>
        <p:spPr>
          <a:xfrm>
            <a:off x="9001495" y="1947530"/>
            <a:ext cx="853351" cy="17491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ADAS</a:t>
            </a:r>
          </a:p>
        </p:txBody>
      </p:sp>
      <p:sp>
        <p:nvSpPr>
          <p:cNvPr id="1721" name="Rectangle 1720">
            <a:extLst>
              <a:ext uri="{FF2B5EF4-FFF2-40B4-BE49-F238E27FC236}">
                <a16:creationId xmlns:a16="http://schemas.microsoft.com/office/drawing/2014/main" id="{B7D7CFF1-6565-863A-3808-91C496E2953C}"/>
              </a:ext>
            </a:extLst>
          </p:cNvPr>
          <p:cNvSpPr/>
          <p:nvPr/>
        </p:nvSpPr>
        <p:spPr>
          <a:xfrm>
            <a:off x="9880042" y="1950783"/>
            <a:ext cx="896058" cy="1710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IVI</a:t>
            </a:r>
          </a:p>
        </p:txBody>
      </p:sp>
      <p:pic>
        <p:nvPicPr>
          <p:cNvPr id="1725" name="Graphic 1724" descr="Web cam outline">
            <a:extLst>
              <a:ext uri="{FF2B5EF4-FFF2-40B4-BE49-F238E27FC236}">
                <a16:creationId xmlns:a16="http://schemas.microsoft.com/office/drawing/2014/main" id="{C02C76DA-4B76-8A9B-E16C-8496035E0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4444" y="1848064"/>
            <a:ext cx="273807" cy="273807"/>
          </a:xfrm>
          <a:prstGeom prst="rect">
            <a:avLst/>
          </a:prstGeom>
        </p:spPr>
      </p:pic>
      <p:pic>
        <p:nvPicPr>
          <p:cNvPr id="1726" name="Graphic 1725" descr="Web cam outline">
            <a:extLst>
              <a:ext uri="{FF2B5EF4-FFF2-40B4-BE49-F238E27FC236}">
                <a16:creationId xmlns:a16="http://schemas.microsoft.com/office/drawing/2014/main" id="{8901A68F-6013-FED0-191D-1CB0974DC9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5235" y="1970551"/>
            <a:ext cx="257318" cy="257318"/>
          </a:xfrm>
          <a:prstGeom prst="rect">
            <a:avLst/>
          </a:prstGeom>
        </p:spPr>
      </p:pic>
      <p:cxnSp>
        <p:nvCxnSpPr>
          <p:cNvPr id="1727" name="Straight Connector 1726">
            <a:extLst>
              <a:ext uri="{FF2B5EF4-FFF2-40B4-BE49-F238E27FC236}">
                <a16:creationId xmlns:a16="http://schemas.microsoft.com/office/drawing/2014/main" id="{AEBE4E1D-2E31-E261-FE08-4AA72EC6E492}"/>
              </a:ext>
            </a:extLst>
          </p:cNvPr>
          <p:cNvCxnSpPr>
            <a:cxnSpLocks/>
            <a:stCxn id="1726" idx="0"/>
            <a:endCxn id="1718" idx="1"/>
          </p:cNvCxnSpPr>
          <p:nvPr/>
        </p:nvCxnSpPr>
        <p:spPr>
          <a:xfrm>
            <a:off x="8763894" y="1970551"/>
            <a:ext cx="1813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28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2C75735C-E398-70E9-B2CC-3CF4A70115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9734" y="2407472"/>
            <a:ext cx="489716" cy="489716"/>
          </a:xfrm>
          <a:prstGeom prst="rect">
            <a:avLst/>
          </a:prstGeom>
        </p:spPr>
      </p:pic>
      <p:sp>
        <p:nvSpPr>
          <p:cNvPr id="1729" name="Rectangle 1728">
            <a:extLst>
              <a:ext uri="{FF2B5EF4-FFF2-40B4-BE49-F238E27FC236}">
                <a16:creationId xmlns:a16="http://schemas.microsoft.com/office/drawing/2014/main" id="{2E5B35C4-D3DD-EA9F-7EA5-799F9898E235}"/>
              </a:ext>
            </a:extLst>
          </p:cNvPr>
          <p:cNvSpPr/>
          <p:nvPr/>
        </p:nvSpPr>
        <p:spPr>
          <a:xfrm>
            <a:off x="4029548" y="1269859"/>
            <a:ext cx="7944207" cy="444398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D74D3F50-4CAD-8926-504C-C5391F3943B5}"/>
              </a:ext>
            </a:extLst>
          </p:cNvPr>
          <p:cNvSpPr txBox="1"/>
          <p:nvPr/>
        </p:nvSpPr>
        <p:spPr>
          <a:xfrm>
            <a:off x="7162811" y="109881"/>
            <a:ext cx="4943819" cy="3385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# 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ADAS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, 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IVI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 and 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Drivetrain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 remain separated</a:t>
            </a:r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0C2D3F08-3284-7D3E-21A0-0A757C9C6404}"/>
              </a:ext>
            </a:extLst>
          </p:cNvPr>
          <p:cNvSpPr txBox="1"/>
          <p:nvPr/>
        </p:nvSpPr>
        <p:spPr>
          <a:xfrm>
            <a:off x="6805916" y="1274590"/>
            <a:ext cx="249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Intelligent Zones</a:t>
            </a:r>
          </a:p>
        </p:txBody>
      </p:sp>
      <p:sp>
        <p:nvSpPr>
          <p:cNvPr id="1732" name="TextBox 1731">
            <a:extLst>
              <a:ext uri="{FF2B5EF4-FFF2-40B4-BE49-F238E27FC236}">
                <a16:creationId xmlns:a16="http://schemas.microsoft.com/office/drawing/2014/main" id="{9618B8C5-A36A-E5DA-9C1D-C7E1B594E97C}"/>
              </a:ext>
            </a:extLst>
          </p:cNvPr>
          <p:cNvSpPr txBox="1"/>
          <p:nvPr/>
        </p:nvSpPr>
        <p:spPr>
          <a:xfrm>
            <a:off x="4666153" y="1218257"/>
            <a:ext cx="2364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“Body”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Integration</a:t>
            </a:r>
          </a:p>
        </p:txBody>
      </p:sp>
      <p:sp>
        <p:nvSpPr>
          <p:cNvPr id="1733" name="TextBox 1732">
            <a:extLst>
              <a:ext uri="{FF2B5EF4-FFF2-40B4-BE49-F238E27FC236}">
                <a16:creationId xmlns:a16="http://schemas.microsoft.com/office/drawing/2014/main" id="{56CA979A-B104-AE47-192B-8FFF41F2B3EC}"/>
              </a:ext>
            </a:extLst>
          </p:cNvPr>
          <p:cNvSpPr txBox="1"/>
          <p:nvPr/>
        </p:nvSpPr>
        <p:spPr>
          <a:xfrm>
            <a:off x="8491972" y="1238661"/>
            <a:ext cx="28233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“X-Domain”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Integration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Google Sans"/>
              <a:ea typeface="メイリオ"/>
              <a:cs typeface="+mn-cs"/>
            </a:endParaRPr>
          </a:p>
        </p:txBody>
      </p:sp>
      <p:cxnSp>
        <p:nvCxnSpPr>
          <p:cNvPr id="1735" name="Connector: Elbow 1734">
            <a:extLst>
              <a:ext uri="{FF2B5EF4-FFF2-40B4-BE49-F238E27FC236}">
                <a16:creationId xmlns:a16="http://schemas.microsoft.com/office/drawing/2014/main" id="{A3D05230-BB51-18C4-4DAB-8F5666375A00}"/>
              </a:ext>
            </a:extLst>
          </p:cNvPr>
          <p:cNvCxnSpPr>
            <a:cxnSpLocks/>
            <a:stCxn id="1708" idx="2"/>
          </p:cNvCxnSpPr>
          <p:nvPr/>
        </p:nvCxnSpPr>
        <p:spPr>
          <a:xfrm rot="16200000" flipH="1">
            <a:off x="5460735" y="3396253"/>
            <a:ext cx="784111" cy="2788"/>
          </a:xfrm>
          <a:prstGeom prst="bent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8" name="Connector: Elbow 1737">
            <a:extLst>
              <a:ext uri="{FF2B5EF4-FFF2-40B4-BE49-F238E27FC236}">
                <a16:creationId xmlns:a16="http://schemas.microsoft.com/office/drawing/2014/main" id="{89195241-3FFC-5ADF-BDD5-9A739FA2FD66}"/>
              </a:ext>
            </a:extLst>
          </p:cNvPr>
          <p:cNvCxnSpPr/>
          <p:nvPr/>
        </p:nvCxnSpPr>
        <p:spPr>
          <a:xfrm rot="16200000" flipH="1">
            <a:off x="9555667" y="3387574"/>
            <a:ext cx="775562" cy="2287"/>
          </a:xfrm>
          <a:prstGeom prst="bent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9" name="TextBox 1738">
            <a:extLst>
              <a:ext uri="{FF2B5EF4-FFF2-40B4-BE49-F238E27FC236}">
                <a16:creationId xmlns:a16="http://schemas.microsoft.com/office/drawing/2014/main" id="{AC64CECD-00C9-4793-6759-9F218CA986B4}"/>
              </a:ext>
            </a:extLst>
          </p:cNvPr>
          <p:cNvSpPr txBox="1"/>
          <p:nvPr/>
        </p:nvSpPr>
        <p:spPr>
          <a:xfrm>
            <a:off x="623892" y="3190556"/>
            <a:ext cx="785926" cy="28601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100MB /1Gb</a:t>
            </a:r>
          </a:p>
        </p:txBody>
      </p:sp>
      <p:sp>
        <p:nvSpPr>
          <p:cNvPr id="1740" name="TextBox 1739">
            <a:extLst>
              <a:ext uri="{FF2B5EF4-FFF2-40B4-BE49-F238E27FC236}">
                <a16:creationId xmlns:a16="http://schemas.microsoft.com/office/drawing/2014/main" id="{371D3573-E768-EA68-5E29-7F4BF504D277}"/>
              </a:ext>
            </a:extLst>
          </p:cNvPr>
          <p:cNvSpPr txBox="1"/>
          <p:nvPr/>
        </p:nvSpPr>
        <p:spPr>
          <a:xfrm>
            <a:off x="5235528" y="3194642"/>
            <a:ext cx="566910" cy="23435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100MB </a:t>
            </a:r>
          </a:p>
        </p:txBody>
      </p:sp>
      <p:sp>
        <p:nvSpPr>
          <p:cNvPr id="1741" name="TextBox 1740">
            <a:extLst>
              <a:ext uri="{FF2B5EF4-FFF2-40B4-BE49-F238E27FC236}">
                <a16:creationId xmlns:a16="http://schemas.microsoft.com/office/drawing/2014/main" id="{1F8D2A2F-FD99-3020-D6F7-FCA8A7E9D89F}"/>
              </a:ext>
            </a:extLst>
          </p:cNvPr>
          <p:cNvSpPr txBox="1"/>
          <p:nvPr/>
        </p:nvSpPr>
        <p:spPr>
          <a:xfrm>
            <a:off x="9297464" y="3136069"/>
            <a:ext cx="591309" cy="2052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1GB </a:t>
            </a:r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CFEB07D4-03D9-C604-8CCD-A379766069CD}"/>
              </a:ext>
            </a:extLst>
          </p:cNvPr>
          <p:cNvSpPr txBox="1"/>
          <p:nvPr/>
        </p:nvSpPr>
        <p:spPr>
          <a:xfrm>
            <a:off x="2758148" y="5817591"/>
            <a:ext cx="1254094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~3 OEMS</a:t>
            </a:r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3487EEFD-05C5-A5FF-527A-A63D6443339A}"/>
              </a:ext>
            </a:extLst>
          </p:cNvPr>
          <p:cNvSpPr txBox="1"/>
          <p:nvPr/>
        </p:nvSpPr>
        <p:spPr>
          <a:xfrm>
            <a:off x="5470193" y="5799682"/>
            <a:ext cx="119671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~6 OEMS</a:t>
            </a:r>
          </a:p>
        </p:txBody>
      </p:sp>
      <p:sp>
        <p:nvSpPr>
          <p:cNvPr id="1747" name="TextBox 1746">
            <a:extLst>
              <a:ext uri="{FF2B5EF4-FFF2-40B4-BE49-F238E27FC236}">
                <a16:creationId xmlns:a16="http://schemas.microsoft.com/office/drawing/2014/main" id="{F67ABE2A-3431-67A4-52F5-5895406B275D}"/>
              </a:ext>
            </a:extLst>
          </p:cNvPr>
          <p:cNvSpPr txBox="1"/>
          <p:nvPr/>
        </p:nvSpPr>
        <p:spPr>
          <a:xfrm>
            <a:off x="9378957" y="5817591"/>
            <a:ext cx="119671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~6 OEMS</a:t>
            </a:r>
          </a:p>
        </p:txBody>
      </p:sp>
      <p:sp>
        <p:nvSpPr>
          <p:cNvPr id="1748" name="Arrow: Curved Up 1747">
            <a:extLst>
              <a:ext uri="{FF2B5EF4-FFF2-40B4-BE49-F238E27FC236}">
                <a16:creationId xmlns:a16="http://schemas.microsoft.com/office/drawing/2014/main" id="{88AF1A15-5310-0A30-B2BD-A7471495B63E}"/>
              </a:ext>
            </a:extLst>
          </p:cNvPr>
          <p:cNvSpPr/>
          <p:nvPr/>
        </p:nvSpPr>
        <p:spPr>
          <a:xfrm rot="5400000">
            <a:off x="9963941" y="3315763"/>
            <a:ext cx="490321" cy="205118"/>
          </a:xfrm>
          <a:prstGeom prst="curvedUpArrow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749" name="Arrow: Curved Up 1748">
            <a:extLst>
              <a:ext uri="{FF2B5EF4-FFF2-40B4-BE49-F238E27FC236}">
                <a16:creationId xmlns:a16="http://schemas.microsoft.com/office/drawing/2014/main" id="{4C957D85-41F1-7552-2F0E-D98678A14301}"/>
              </a:ext>
            </a:extLst>
          </p:cNvPr>
          <p:cNvSpPr/>
          <p:nvPr/>
        </p:nvSpPr>
        <p:spPr>
          <a:xfrm rot="16200000">
            <a:off x="10268397" y="3295993"/>
            <a:ext cx="490321" cy="202833"/>
          </a:xfrm>
          <a:prstGeom prst="curvedUpArrow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750" name="TextBox 1749">
            <a:extLst>
              <a:ext uri="{FF2B5EF4-FFF2-40B4-BE49-F238E27FC236}">
                <a16:creationId xmlns:a16="http://schemas.microsoft.com/office/drawing/2014/main" id="{E7E9DD49-BAB4-7815-2FF3-687EE66A41B6}"/>
              </a:ext>
            </a:extLst>
          </p:cNvPr>
          <p:cNvSpPr txBox="1"/>
          <p:nvPr/>
        </p:nvSpPr>
        <p:spPr>
          <a:xfrm>
            <a:off x="10745290" y="3215109"/>
            <a:ext cx="1081269" cy="33407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ETH Ring /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Hybrid Architecture</a:t>
            </a:r>
          </a:p>
        </p:txBody>
      </p:sp>
      <p:sp>
        <p:nvSpPr>
          <p:cNvPr id="1752" name="TextBox 1751">
            <a:extLst>
              <a:ext uri="{FF2B5EF4-FFF2-40B4-BE49-F238E27FC236}">
                <a16:creationId xmlns:a16="http://schemas.microsoft.com/office/drawing/2014/main" id="{3A22979F-3871-D627-2B68-C744800F4ABF}"/>
              </a:ext>
            </a:extLst>
          </p:cNvPr>
          <p:cNvSpPr txBox="1"/>
          <p:nvPr/>
        </p:nvSpPr>
        <p:spPr>
          <a:xfrm>
            <a:off x="4043836" y="4735798"/>
            <a:ext cx="593192" cy="286014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10BT1-S</a:t>
            </a:r>
          </a:p>
        </p:txBody>
      </p:sp>
      <p:sp>
        <p:nvSpPr>
          <p:cNvPr id="1753" name="TextBox 1752">
            <a:extLst>
              <a:ext uri="{FF2B5EF4-FFF2-40B4-BE49-F238E27FC236}">
                <a16:creationId xmlns:a16="http://schemas.microsoft.com/office/drawing/2014/main" id="{2E2E376C-2FAA-FEE6-03CA-160CBEE63EB0}"/>
              </a:ext>
            </a:extLst>
          </p:cNvPr>
          <p:cNvSpPr txBox="1"/>
          <p:nvPr/>
        </p:nvSpPr>
        <p:spPr>
          <a:xfrm>
            <a:off x="7817177" y="4722870"/>
            <a:ext cx="593192" cy="286014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10BT1-S</a:t>
            </a:r>
          </a:p>
        </p:txBody>
      </p:sp>
      <p:grpSp>
        <p:nvGrpSpPr>
          <p:cNvPr id="1756" name="Group 1755">
            <a:extLst>
              <a:ext uri="{FF2B5EF4-FFF2-40B4-BE49-F238E27FC236}">
                <a16:creationId xmlns:a16="http://schemas.microsoft.com/office/drawing/2014/main" id="{1E1B331A-7716-64C7-70F8-AD784E0004E7}"/>
              </a:ext>
            </a:extLst>
          </p:cNvPr>
          <p:cNvGrpSpPr/>
          <p:nvPr/>
        </p:nvGrpSpPr>
        <p:grpSpPr>
          <a:xfrm>
            <a:off x="1297522" y="4606746"/>
            <a:ext cx="451087" cy="125566"/>
            <a:chOff x="735535" y="5879119"/>
            <a:chExt cx="614914" cy="193477"/>
          </a:xfrm>
        </p:grpSpPr>
        <p:sp>
          <p:nvSpPr>
            <p:cNvPr id="1754" name="Rectangle 1753">
              <a:extLst>
                <a:ext uri="{FF2B5EF4-FFF2-40B4-BE49-F238E27FC236}">
                  <a16:creationId xmlns:a16="http://schemas.microsoft.com/office/drawing/2014/main" id="{DCC0A7AB-F89C-6C31-92B6-3EE1BC5977B7}"/>
                </a:ext>
              </a:extLst>
            </p:cNvPr>
            <p:cNvSpPr/>
            <p:nvPr/>
          </p:nvSpPr>
          <p:spPr>
            <a:xfrm>
              <a:off x="735535" y="5879119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ETH</a:t>
              </a:r>
            </a:p>
          </p:txBody>
        </p:sp>
        <p:sp>
          <p:nvSpPr>
            <p:cNvPr id="1755" name="Rectangle 1754">
              <a:extLst>
                <a:ext uri="{FF2B5EF4-FFF2-40B4-BE49-F238E27FC236}">
                  <a16:creationId xmlns:a16="http://schemas.microsoft.com/office/drawing/2014/main" id="{81DC150C-99F5-ED5E-3163-B9D29DF0BF82}"/>
                </a:ext>
              </a:extLst>
            </p:cNvPr>
            <p:cNvSpPr/>
            <p:nvPr/>
          </p:nvSpPr>
          <p:spPr>
            <a:xfrm>
              <a:off x="1059828" y="5881812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CAN</a:t>
              </a:r>
            </a:p>
          </p:txBody>
        </p:sp>
      </p:grpSp>
      <p:grpSp>
        <p:nvGrpSpPr>
          <p:cNvPr id="1757" name="Group 1756">
            <a:extLst>
              <a:ext uri="{FF2B5EF4-FFF2-40B4-BE49-F238E27FC236}">
                <a16:creationId xmlns:a16="http://schemas.microsoft.com/office/drawing/2014/main" id="{4D9C3DBB-7976-C414-D172-56472E85EFEF}"/>
              </a:ext>
            </a:extLst>
          </p:cNvPr>
          <p:cNvGrpSpPr/>
          <p:nvPr/>
        </p:nvGrpSpPr>
        <p:grpSpPr>
          <a:xfrm>
            <a:off x="6186275" y="4571856"/>
            <a:ext cx="451086" cy="125566"/>
            <a:chOff x="735535" y="5879119"/>
            <a:chExt cx="614914" cy="193477"/>
          </a:xfrm>
        </p:grpSpPr>
        <p:sp>
          <p:nvSpPr>
            <p:cNvPr id="1758" name="Rectangle 1757">
              <a:extLst>
                <a:ext uri="{FF2B5EF4-FFF2-40B4-BE49-F238E27FC236}">
                  <a16:creationId xmlns:a16="http://schemas.microsoft.com/office/drawing/2014/main" id="{02106EC5-F2BF-7DD3-C740-6E33F665B702}"/>
                </a:ext>
              </a:extLst>
            </p:cNvPr>
            <p:cNvSpPr/>
            <p:nvPr/>
          </p:nvSpPr>
          <p:spPr>
            <a:xfrm>
              <a:off x="735535" y="5879119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ETH</a:t>
              </a:r>
            </a:p>
          </p:txBody>
        </p:sp>
        <p:sp>
          <p:nvSpPr>
            <p:cNvPr id="1759" name="Rectangle 1758">
              <a:extLst>
                <a:ext uri="{FF2B5EF4-FFF2-40B4-BE49-F238E27FC236}">
                  <a16:creationId xmlns:a16="http://schemas.microsoft.com/office/drawing/2014/main" id="{84335756-607C-1D51-42D2-CE4A6AB73178}"/>
                </a:ext>
              </a:extLst>
            </p:cNvPr>
            <p:cNvSpPr/>
            <p:nvPr/>
          </p:nvSpPr>
          <p:spPr>
            <a:xfrm>
              <a:off x="1059828" y="5881812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CAN</a:t>
              </a:r>
            </a:p>
          </p:txBody>
        </p:sp>
      </p:grpSp>
      <p:grpSp>
        <p:nvGrpSpPr>
          <p:cNvPr id="1760" name="Group 1759">
            <a:extLst>
              <a:ext uri="{FF2B5EF4-FFF2-40B4-BE49-F238E27FC236}">
                <a16:creationId xmlns:a16="http://schemas.microsoft.com/office/drawing/2014/main" id="{3799586B-6ED0-C248-3B09-4C13F589AE6F}"/>
              </a:ext>
            </a:extLst>
          </p:cNvPr>
          <p:cNvGrpSpPr/>
          <p:nvPr/>
        </p:nvGrpSpPr>
        <p:grpSpPr>
          <a:xfrm>
            <a:off x="10636406" y="4556550"/>
            <a:ext cx="451086" cy="125566"/>
            <a:chOff x="735535" y="5879119"/>
            <a:chExt cx="614914" cy="193477"/>
          </a:xfrm>
        </p:grpSpPr>
        <p:sp>
          <p:nvSpPr>
            <p:cNvPr id="1761" name="Rectangle 1760">
              <a:extLst>
                <a:ext uri="{FF2B5EF4-FFF2-40B4-BE49-F238E27FC236}">
                  <a16:creationId xmlns:a16="http://schemas.microsoft.com/office/drawing/2014/main" id="{F6BA1B24-62B3-CAD9-FC47-6B28513445E6}"/>
                </a:ext>
              </a:extLst>
            </p:cNvPr>
            <p:cNvSpPr/>
            <p:nvPr/>
          </p:nvSpPr>
          <p:spPr>
            <a:xfrm>
              <a:off x="735535" y="5879119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ETH</a:t>
              </a:r>
            </a:p>
          </p:txBody>
        </p:sp>
        <p:sp>
          <p:nvSpPr>
            <p:cNvPr id="1762" name="Rectangle 1761">
              <a:extLst>
                <a:ext uri="{FF2B5EF4-FFF2-40B4-BE49-F238E27FC236}">
                  <a16:creationId xmlns:a16="http://schemas.microsoft.com/office/drawing/2014/main" id="{E9A0A44D-8ADF-67C2-4216-8262504905CE}"/>
                </a:ext>
              </a:extLst>
            </p:cNvPr>
            <p:cNvSpPr/>
            <p:nvPr/>
          </p:nvSpPr>
          <p:spPr>
            <a:xfrm>
              <a:off x="1059828" y="5881812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CAN</a:t>
              </a:r>
            </a:p>
          </p:txBody>
        </p:sp>
      </p:grpSp>
      <p:sp>
        <p:nvSpPr>
          <p:cNvPr id="1764" name="Rectangle 1763">
            <a:extLst>
              <a:ext uri="{FF2B5EF4-FFF2-40B4-BE49-F238E27FC236}">
                <a16:creationId xmlns:a16="http://schemas.microsoft.com/office/drawing/2014/main" id="{EC12CCCD-1CDF-5362-A638-7F2139E168D3}"/>
              </a:ext>
            </a:extLst>
          </p:cNvPr>
          <p:cNvSpPr/>
          <p:nvPr/>
        </p:nvSpPr>
        <p:spPr>
          <a:xfrm>
            <a:off x="1315634" y="4972520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SW Less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ECU</a:t>
            </a:r>
          </a:p>
        </p:txBody>
      </p:sp>
      <p:sp>
        <p:nvSpPr>
          <p:cNvPr id="1765" name="Rectangle 1764">
            <a:extLst>
              <a:ext uri="{FF2B5EF4-FFF2-40B4-BE49-F238E27FC236}">
                <a16:creationId xmlns:a16="http://schemas.microsoft.com/office/drawing/2014/main" id="{27A99BC6-3F3A-1073-05E0-5601E38FDF7F}"/>
              </a:ext>
            </a:extLst>
          </p:cNvPr>
          <p:cNvSpPr/>
          <p:nvPr/>
        </p:nvSpPr>
        <p:spPr>
          <a:xfrm>
            <a:off x="1467005" y="5209736"/>
            <a:ext cx="451086" cy="200945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cxnSp>
        <p:nvCxnSpPr>
          <p:cNvPr id="1766" name="Straight Connector 1765">
            <a:extLst>
              <a:ext uri="{FF2B5EF4-FFF2-40B4-BE49-F238E27FC236}">
                <a16:creationId xmlns:a16="http://schemas.microsoft.com/office/drawing/2014/main" id="{4E0A082E-1EBB-D0B8-D8A2-C5C688645C90}"/>
              </a:ext>
            </a:extLst>
          </p:cNvPr>
          <p:cNvCxnSpPr>
            <a:cxnSpLocks/>
            <a:stCxn id="1764" idx="0"/>
            <a:endCxn id="9" idx="2"/>
          </p:cNvCxnSpPr>
          <p:nvPr/>
        </p:nvCxnSpPr>
        <p:spPr>
          <a:xfrm flipV="1">
            <a:off x="1541177" y="4763810"/>
            <a:ext cx="927" cy="208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0" name="Rectangle 1769">
            <a:extLst>
              <a:ext uri="{FF2B5EF4-FFF2-40B4-BE49-F238E27FC236}">
                <a16:creationId xmlns:a16="http://schemas.microsoft.com/office/drawing/2014/main" id="{8791AECD-2CDA-852B-7ED8-EE84F8CDB294}"/>
              </a:ext>
            </a:extLst>
          </p:cNvPr>
          <p:cNvSpPr/>
          <p:nvPr/>
        </p:nvSpPr>
        <p:spPr>
          <a:xfrm>
            <a:off x="4711133" y="5261284"/>
            <a:ext cx="451086" cy="200945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sp>
        <p:nvSpPr>
          <p:cNvPr id="1771" name="Rectangle 1770">
            <a:extLst>
              <a:ext uri="{FF2B5EF4-FFF2-40B4-BE49-F238E27FC236}">
                <a16:creationId xmlns:a16="http://schemas.microsoft.com/office/drawing/2014/main" id="{C30EB098-546A-0B1A-D076-28BF5ED18844}"/>
              </a:ext>
            </a:extLst>
          </p:cNvPr>
          <p:cNvSpPr/>
          <p:nvPr/>
        </p:nvSpPr>
        <p:spPr>
          <a:xfrm>
            <a:off x="8611347" y="5288839"/>
            <a:ext cx="451086" cy="200945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sp>
        <p:nvSpPr>
          <p:cNvPr id="1773" name="Rectangle 1772">
            <a:extLst>
              <a:ext uri="{FF2B5EF4-FFF2-40B4-BE49-F238E27FC236}">
                <a16:creationId xmlns:a16="http://schemas.microsoft.com/office/drawing/2014/main" id="{898FA33A-F374-31F5-9845-D2EA0CF5AEEA}"/>
              </a:ext>
            </a:extLst>
          </p:cNvPr>
          <p:cNvSpPr/>
          <p:nvPr/>
        </p:nvSpPr>
        <p:spPr>
          <a:xfrm>
            <a:off x="6272156" y="4932932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SW Less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ECU</a:t>
            </a:r>
          </a:p>
        </p:txBody>
      </p:sp>
      <p:cxnSp>
        <p:nvCxnSpPr>
          <p:cNvPr id="1774" name="Straight Connector 1773">
            <a:extLst>
              <a:ext uri="{FF2B5EF4-FFF2-40B4-BE49-F238E27FC236}">
                <a16:creationId xmlns:a16="http://schemas.microsoft.com/office/drawing/2014/main" id="{F6814E1A-06EC-3FB9-ED4C-6C25D3CBBB7F}"/>
              </a:ext>
            </a:extLst>
          </p:cNvPr>
          <p:cNvCxnSpPr>
            <a:cxnSpLocks/>
            <a:stCxn id="1773" idx="0"/>
          </p:cNvCxnSpPr>
          <p:nvPr/>
        </p:nvCxnSpPr>
        <p:spPr>
          <a:xfrm flipV="1">
            <a:off x="6497699" y="4748084"/>
            <a:ext cx="0" cy="18484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8" name="Rectangle 1777">
            <a:extLst>
              <a:ext uri="{FF2B5EF4-FFF2-40B4-BE49-F238E27FC236}">
                <a16:creationId xmlns:a16="http://schemas.microsoft.com/office/drawing/2014/main" id="{E953A13D-C7A3-0B12-48EF-073E0D3C1423}"/>
              </a:ext>
            </a:extLst>
          </p:cNvPr>
          <p:cNvSpPr/>
          <p:nvPr/>
        </p:nvSpPr>
        <p:spPr>
          <a:xfrm>
            <a:off x="6392337" y="5170817"/>
            <a:ext cx="451086" cy="200945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sp>
        <p:nvSpPr>
          <p:cNvPr id="1779" name="Rectangle 1778">
            <a:extLst>
              <a:ext uri="{FF2B5EF4-FFF2-40B4-BE49-F238E27FC236}">
                <a16:creationId xmlns:a16="http://schemas.microsoft.com/office/drawing/2014/main" id="{6E27DB7F-49EA-1171-A42E-FA63470881BD}"/>
              </a:ext>
            </a:extLst>
          </p:cNvPr>
          <p:cNvSpPr/>
          <p:nvPr/>
        </p:nvSpPr>
        <p:spPr>
          <a:xfrm>
            <a:off x="10655919" y="4905279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SW Less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ECU</a:t>
            </a:r>
          </a:p>
        </p:txBody>
      </p:sp>
      <p:sp>
        <p:nvSpPr>
          <p:cNvPr id="1780" name="Rectangle 1779">
            <a:extLst>
              <a:ext uri="{FF2B5EF4-FFF2-40B4-BE49-F238E27FC236}">
                <a16:creationId xmlns:a16="http://schemas.microsoft.com/office/drawing/2014/main" id="{747DC6D0-EDFB-6A65-5AA6-89B11A7D0480}"/>
              </a:ext>
            </a:extLst>
          </p:cNvPr>
          <p:cNvSpPr/>
          <p:nvPr/>
        </p:nvSpPr>
        <p:spPr>
          <a:xfrm>
            <a:off x="10776100" y="5111665"/>
            <a:ext cx="451086" cy="200945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cxnSp>
        <p:nvCxnSpPr>
          <p:cNvPr id="1781" name="Straight Connector 1780">
            <a:extLst>
              <a:ext uri="{FF2B5EF4-FFF2-40B4-BE49-F238E27FC236}">
                <a16:creationId xmlns:a16="http://schemas.microsoft.com/office/drawing/2014/main" id="{8EF8C7F5-2BF3-B8FD-5AF1-187F890E0C36}"/>
              </a:ext>
            </a:extLst>
          </p:cNvPr>
          <p:cNvCxnSpPr>
            <a:cxnSpLocks/>
            <a:stCxn id="1779" idx="0"/>
          </p:cNvCxnSpPr>
          <p:nvPr/>
        </p:nvCxnSpPr>
        <p:spPr>
          <a:xfrm flipV="1">
            <a:off x="10881462" y="4726652"/>
            <a:ext cx="0" cy="1786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B6DD4D0-DDEF-790D-9005-4A88E4E78F90}"/>
              </a:ext>
            </a:extLst>
          </p:cNvPr>
          <p:cNvSpPr/>
          <p:nvPr/>
        </p:nvSpPr>
        <p:spPr>
          <a:xfrm rot="1138585" flipH="1">
            <a:off x="1579305" y="5578820"/>
            <a:ext cx="1245480" cy="478183"/>
          </a:xfrm>
          <a:prstGeom prst="rightArrow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3533796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BBFE-3A3D-9DCB-D626-F172E5AB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Rectangle 1409">
            <a:extLst>
              <a:ext uri="{FF2B5EF4-FFF2-40B4-BE49-F238E27FC236}">
                <a16:creationId xmlns:a16="http://schemas.microsoft.com/office/drawing/2014/main" id="{92753D60-E32F-B360-6D5A-717E19058468}"/>
              </a:ext>
            </a:extLst>
          </p:cNvPr>
          <p:cNvSpPr/>
          <p:nvPr/>
        </p:nvSpPr>
        <p:spPr>
          <a:xfrm>
            <a:off x="605186" y="1838256"/>
            <a:ext cx="1881415" cy="34666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HPC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59546E04-E77D-A007-481E-FA7FB058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70" y="150566"/>
            <a:ext cx="11574786" cy="886397"/>
          </a:xfrm>
        </p:spPr>
        <p:txBody>
          <a:bodyPr/>
          <a:lstStyle/>
          <a:p>
            <a:r>
              <a:rPr lang="en-US"/>
              <a:t>Type of Zonal Integration</a:t>
            </a:r>
            <a:br>
              <a:rPr lang="en-US" sz="3600" noProof="0">
                <a:latin typeface="Google Sans"/>
              </a:rPr>
            </a:br>
            <a:r>
              <a:rPr lang="en-US" b="0">
                <a:latin typeface="Google Sans"/>
              </a:rPr>
              <a:t>Conceptual view (2029+)</a:t>
            </a:r>
            <a:endParaRPr lang="en-US" sz="2800" b="0" noProof="0">
              <a:latin typeface="Google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C3A0E3-1BA7-84E6-471E-2FB3EF26B71D}"/>
              </a:ext>
            </a:extLst>
          </p:cNvPr>
          <p:cNvSpPr/>
          <p:nvPr/>
        </p:nvSpPr>
        <p:spPr>
          <a:xfrm>
            <a:off x="613898" y="3805926"/>
            <a:ext cx="1856411" cy="95788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IO Aggregator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DB5D7E-7CD0-69A0-89C3-BAA1E9D5EA52}"/>
              </a:ext>
            </a:extLst>
          </p:cNvPr>
          <p:cNvSpPr/>
          <p:nvPr/>
        </p:nvSpPr>
        <p:spPr>
          <a:xfrm>
            <a:off x="605186" y="2221824"/>
            <a:ext cx="1869895" cy="830251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Real Time Vehicle Computer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153BF1-658E-30F8-16CC-2BF7751117F5}"/>
              </a:ext>
            </a:extLst>
          </p:cNvPr>
          <p:cNvSpPr/>
          <p:nvPr/>
        </p:nvSpPr>
        <p:spPr>
          <a:xfrm>
            <a:off x="661446" y="1988567"/>
            <a:ext cx="853351" cy="17491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ADAS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B4CCCE-0D1F-4037-8F7C-D52B8C3A1BE6}"/>
              </a:ext>
            </a:extLst>
          </p:cNvPr>
          <p:cNvSpPr/>
          <p:nvPr/>
        </p:nvSpPr>
        <p:spPr>
          <a:xfrm>
            <a:off x="1539993" y="1991820"/>
            <a:ext cx="896058" cy="1710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IVI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78B426-66BC-01DA-BFB4-B0E4E7EF78BE}"/>
              </a:ext>
            </a:extLst>
          </p:cNvPr>
          <p:cNvSpPr txBox="1"/>
          <p:nvPr/>
        </p:nvSpPr>
        <p:spPr>
          <a:xfrm>
            <a:off x="623892" y="1313816"/>
            <a:ext cx="1757820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IO Aggregators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(no app control in zones)</a:t>
            </a:r>
          </a:p>
        </p:txBody>
      </p:sp>
      <p:pic>
        <p:nvPicPr>
          <p:cNvPr id="1265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F2188637-53D3-3EC2-E06A-CF4250B586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9144" y="2498510"/>
            <a:ext cx="489717" cy="489717"/>
          </a:xfrm>
          <a:prstGeom prst="rect">
            <a:avLst/>
          </a:prstGeom>
        </p:spPr>
      </p:pic>
      <p:pic>
        <p:nvPicPr>
          <p:cNvPr id="27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F9539993-0D76-708E-A847-EB959FB9E9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5134" y="2493319"/>
            <a:ext cx="489717" cy="489717"/>
          </a:xfrm>
          <a:prstGeom prst="rect">
            <a:avLst/>
          </a:prstGeom>
        </p:spPr>
      </p:pic>
      <p:sp>
        <p:nvSpPr>
          <p:cNvPr id="1377" name="Rectangle 1376">
            <a:extLst>
              <a:ext uri="{FF2B5EF4-FFF2-40B4-BE49-F238E27FC236}">
                <a16:creationId xmlns:a16="http://schemas.microsoft.com/office/drawing/2014/main" id="{ACA658B3-1B23-C96A-8A90-A4A84048D403}"/>
              </a:ext>
            </a:extLst>
          </p:cNvPr>
          <p:cNvSpPr/>
          <p:nvPr/>
        </p:nvSpPr>
        <p:spPr>
          <a:xfrm>
            <a:off x="649878" y="4079331"/>
            <a:ext cx="581959" cy="259551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pic>
        <p:nvPicPr>
          <p:cNvPr id="1346" name="Graphic 1345" descr="Web cam outline">
            <a:extLst>
              <a:ext uri="{FF2B5EF4-FFF2-40B4-BE49-F238E27FC236}">
                <a16:creationId xmlns:a16="http://schemas.microsoft.com/office/drawing/2014/main" id="{C94A66CE-8F6E-9FF1-3FF5-381E7D8E5C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395" y="1889101"/>
            <a:ext cx="273807" cy="273807"/>
          </a:xfrm>
          <a:prstGeom prst="rect">
            <a:avLst/>
          </a:prstGeom>
        </p:spPr>
      </p:pic>
      <p:pic>
        <p:nvPicPr>
          <p:cNvPr id="1348" name="Graphic 1347" descr="Web cam outline">
            <a:extLst>
              <a:ext uri="{FF2B5EF4-FFF2-40B4-BE49-F238E27FC236}">
                <a16:creationId xmlns:a16="http://schemas.microsoft.com/office/drawing/2014/main" id="{628C0304-7293-0EEA-579E-504950070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186" y="2011588"/>
            <a:ext cx="257318" cy="257318"/>
          </a:xfrm>
          <a:prstGeom prst="rect">
            <a:avLst/>
          </a:prstGeom>
        </p:spPr>
      </p:pic>
      <p:cxnSp>
        <p:nvCxnSpPr>
          <p:cNvPr id="1353" name="Straight Connector 1352">
            <a:extLst>
              <a:ext uri="{FF2B5EF4-FFF2-40B4-BE49-F238E27FC236}">
                <a16:creationId xmlns:a16="http://schemas.microsoft.com/office/drawing/2014/main" id="{FF4D76F2-03F2-4848-5495-8188E6217F54}"/>
              </a:ext>
            </a:extLst>
          </p:cNvPr>
          <p:cNvCxnSpPr>
            <a:cxnSpLocks/>
            <a:stCxn id="1348" idx="0"/>
            <a:endCxn id="1410" idx="1"/>
          </p:cNvCxnSpPr>
          <p:nvPr/>
        </p:nvCxnSpPr>
        <p:spPr>
          <a:xfrm>
            <a:off x="423845" y="2011588"/>
            <a:ext cx="1813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BB7EBD4-8E00-BCDF-93D4-E453708F6AD6}"/>
              </a:ext>
            </a:extLst>
          </p:cNvPr>
          <p:cNvSpPr/>
          <p:nvPr/>
        </p:nvSpPr>
        <p:spPr>
          <a:xfrm>
            <a:off x="649618" y="4548791"/>
            <a:ext cx="260217" cy="180797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I/O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A13DA7-DA55-BC18-9D1C-44591FD2ADE6}"/>
              </a:ext>
            </a:extLst>
          </p:cNvPr>
          <p:cNvSpPr/>
          <p:nvPr/>
        </p:nvSpPr>
        <p:spPr>
          <a:xfrm>
            <a:off x="649618" y="4350835"/>
            <a:ext cx="260217" cy="180797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ADC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224270-FD5A-9299-B989-C940C773461B}"/>
              </a:ext>
            </a:extLst>
          </p:cNvPr>
          <p:cNvSpPr/>
          <p:nvPr/>
        </p:nvSpPr>
        <p:spPr>
          <a:xfrm>
            <a:off x="934840" y="4555936"/>
            <a:ext cx="282709" cy="17271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SPI</a:t>
            </a:r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A3BD9D0D-6E75-8BFD-4CFE-2E9A95D7A7C7}"/>
              </a:ext>
            </a:extLst>
          </p:cNvPr>
          <p:cNvSpPr/>
          <p:nvPr/>
        </p:nvSpPr>
        <p:spPr>
          <a:xfrm>
            <a:off x="1852069" y="4942427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Edge ECU</a:t>
            </a:r>
          </a:p>
        </p:txBody>
      </p:sp>
      <p:cxnSp>
        <p:nvCxnSpPr>
          <p:cNvPr id="1358" name="Straight Connector 1357">
            <a:extLst>
              <a:ext uri="{FF2B5EF4-FFF2-40B4-BE49-F238E27FC236}">
                <a16:creationId xmlns:a16="http://schemas.microsoft.com/office/drawing/2014/main" id="{6C971651-0C80-9D55-896F-8DBA72A1E0BA}"/>
              </a:ext>
            </a:extLst>
          </p:cNvPr>
          <p:cNvCxnSpPr>
            <a:cxnSpLocks/>
            <a:stCxn id="1354" idx="0"/>
          </p:cNvCxnSpPr>
          <p:nvPr/>
        </p:nvCxnSpPr>
        <p:spPr>
          <a:xfrm flipH="1" flipV="1">
            <a:off x="2076683" y="4639230"/>
            <a:ext cx="929" cy="30319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8" name="Rectangle 1367">
            <a:extLst>
              <a:ext uri="{FF2B5EF4-FFF2-40B4-BE49-F238E27FC236}">
                <a16:creationId xmlns:a16="http://schemas.microsoft.com/office/drawing/2014/main" id="{CACA14C7-F128-3892-ACC1-6D48511417D1}"/>
              </a:ext>
            </a:extLst>
          </p:cNvPr>
          <p:cNvSpPr/>
          <p:nvPr/>
        </p:nvSpPr>
        <p:spPr>
          <a:xfrm>
            <a:off x="1900692" y="5001740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Edge ECU</a:t>
            </a:r>
          </a:p>
        </p:txBody>
      </p:sp>
      <p:sp>
        <p:nvSpPr>
          <p:cNvPr id="1384" name="Rectangle 1383">
            <a:extLst>
              <a:ext uri="{FF2B5EF4-FFF2-40B4-BE49-F238E27FC236}">
                <a16:creationId xmlns:a16="http://schemas.microsoft.com/office/drawing/2014/main" id="{4F4D495C-01C6-27C4-A015-ECEDA75C30C8}"/>
              </a:ext>
            </a:extLst>
          </p:cNvPr>
          <p:cNvSpPr/>
          <p:nvPr/>
        </p:nvSpPr>
        <p:spPr>
          <a:xfrm>
            <a:off x="1955021" y="5054892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Edge ECU</a:t>
            </a:r>
          </a:p>
        </p:txBody>
      </p:sp>
      <p:sp>
        <p:nvSpPr>
          <p:cNvPr id="1386" name="Rectangle 1385">
            <a:extLst>
              <a:ext uri="{FF2B5EF4-FFF2-40B4-BE49-F238E27FC236}">
                <a16:creationId xmlns:a16="http://schemas.microsoft.com/office/drawing/2014/main" id="{4468BC22-C329-6F3A-3458-6054B85783AD}"/>
              </a:ext>
            </a:extLst>
          </p:cNvPr>
          <p:cNvSpPr/>
          <p:nvPr/>
        </p:nvSpPr>
        <p:spPr>
          <a:xfrm>
            <a:off x="937218" y="4358289"/>
            <a:ext cx="291046" cy="17334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PWM</a:t>
            </a:r>
          </a:p>
        </p:txBody>
      </p:sp>
      <p:grpSp>
        <p:nvGrpSpPr>
          <p:cNvPr id="1286" name="Group 1285">
            <a:extLst>
              <a:ext uri="{FF2B5EF4-FFF2-40B4-BE49-F238E27FC236}">
                <a16:creationId xmlns:a16="http://schemas.microsoft.com/office/drawing/2014/main" id="{03EB5ACA-7D44-499A-E0DB-3E58FDAD0DBE}"/>
              </a:ext>
            </a:extLst>
          </p:cNvPr>
          <p:cNvGrpSpPr/>
          <p:nvPr/>
        </p:nvGrpSpPr>
        <p:grpSpPr>
          <a:xfrm>
            <a:off x="1253019" y="4082613"/>
            <a:ext cx="1160392" cy="646041"/>
            <a:chOff x="7896982" y="3907630"/>
            <a:chExt cx="1193146" cy="796251"/>
          </a:xfrm>
        </p:grpSpPr>
        <p:sp>
          <p:nvSpPr>
            <p:cNvPr id="1287" name="TextBox 1286">
              <a:extLst>
                <a:ext uri="{FF2B5EF4-FFF2-40B4-BE49-F238E27FC236}">
                  <a16:creationId xmlns:a16="http://schemas.microsoft.com/office/drawing/2014/main" id="{63A97A12-38FC-2BAC-2AF0-01FDA70BA027}"/>
                </a:ext>
              </a:extLst>
            </p:cNvPr>
            <p:cNvSpPr txBox="1"/>
            <p:nvPr/>
          </p:nvSpPr>
          <p:spPr>
            <a:xfrm>
              <a:off x="7896982" y="3907630"/>
              <a:ext cx="1193146" cy="79625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txBody>
            <a:bodyPr wrap="none" lIns="36000" tIns="36000" rIns="0" bIns="36000" rtlCol="0" anchor="t">
              <a:noAutofit/>
            </a:bodyPr>
            <a:lstStyle>
              <a:defPPr>
                <a:defRPr lang="de-DE"/>
              </a:defPPr>
              <a:lvl1pPr algn="ctr">
                <a:defRPr sz="800" b="1">
                  <a:latin typeface="Google San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Routing 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D7000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or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Tunneling</a:t>
              </a:r>
              <a:endPara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endParaRPr>
            </a:p>
          </p:txBody>
        </p:sp>
        <p:grpSp>
          <p:nvGrpSpPr>
            <p:cNvPr id="1288" name="Group 1287">
              <a:extLst>
                <a:ext uri="{FF2B5EF4-FFF2-40B4-BE49-F238E27FC236}">
                  <a16:creationId xmlns:a16="http://schemas.microsoft.com/office/drawing/2014/main" id="{31E02CE6-8475-AA3E-7D39-14F3C2406350}"/>
                </a:ext>
              </a:extLst>
            </p:cNvPr>
            <p:cNvGrpSpPr/>
            <p:nvPr/>
          </p:nvGrpSpPr>
          <p:grpSpPr>
            <a:xfrm>
              <a:off x="7904127" y="4331052"/>
              <a:ext cx="1148131" cy="351954"/>
              <a:chOff x="7896983" y="4277523"/>
              <a:chExt cx="1148131" cy="383834"/>
            </a:xfrm>
          </p:grpSpPr>
          <p:sp>
            <p:nvSpPr>
              <p:cNvPr id="1289" name="TextBox 1288">
                <a:extLst>
                  <a:ext uri="{FF2B5EF4-FFF2-40B4-BE49-F238E27FC236}">
                    <a16:creationId xmlns:a16="http://schemas.microsoft.com/office/drawing/2014/main" id="{B0FDA5AB-637B-FCD2-BF3F-420AC7AC7728}"/>
                  </a:ext>
                </a:extLst>
              </p:cNvPr>
              <p:cNvSpPr txBox="1"/>
              <p:nvPr/>
            </p:nvSpPr>
            <p:spPr>
              <a:xfrm>
                <a:off x="7896983" y="4277526"/>
                <a:ext cx="529619" cy="3838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dash"/>
              </a:ln>
            </p:spPr>
            <p:txBody>
              <a:bodyPr wrap="none" lIns="36000" tIns="0" rIns="36000" bIns="36000" rtlCol="0" anchor="t">
                <a:noAutofit/>
              </a:bodyPr>
              <a:lstStyle>
                <a:defPPr>
                  <a:defRPr lang="de-DE"/>
                </a:defPPr>
                <a:lvl1pPr algn="ctr">
                  <a:defRPr sz="800" b="1">
                    <a:latin typeface="Google San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Routing</a:t>
                </a:r>
                <a:endPara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endParaRPr>
              </a:p>
            </p:txBody>
          </p:sp>
          <p:sp>
            <p:nvSpPr>
              <p:cNvPr id="1290" name="TextBox 1289">
                <a:extLst>
                  <a:ext uri="{FF2B5EF4-FFF2-40B4-BE49-F238E27FC236}">
                    <a16:creationId xmlns:a16="http://schemas.microsoft.com/office/drawing/2014/main" id="{8247F978-4571-AE26-AD3A-7D56B6264185}"/>
                  </a:ext>
                </a:extLst>
              </p:cNvPr>
              <p:cNvSpPr txBox="1"/>
              <p:nvPr/>
            </p:nvSpPr>
            <p:spPr>
              <a:xfrm>
                <a:off x="8464536" y="4277523"/>
                <a:ext cx="580578" cy="3838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dash"/>
              </a:ln>
            </p:spPr>
            <p:txBody>
              <a:bodyPr wrap="none" lIns="36000" tIns="0" rIns="36000" bIns="36000" rtlCol="0" anchor="t">
                <a:noAutofit/>
              </a:bodyPr>
              <a:lstStyle>
                <a:defPPr>
                  <a:defRPr lang="de-DE"/>
                </a:defPPr>
                <a:lvl1pPr>
                  <a:defRPr sz="1100"/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Tunneling</a:t>
                </a: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(CAN/LIN)</a:t>
                </a:r>
                <a:endPara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endParaRPr>
              </a:p>
            </p:txBody>
          </p:sp>
        </p:grpSp>
      </p:grpSp>
      <p:sp>
        <p:nvSpPr>
          <p:cNvPr id="1292" name="Oval 1291">
            <a:extLst>
              <a:ext uri="{FF2B5EF4-FFF2-40B4-BE49-F238E27FC236}">
                <a16:creationId xmlns:a16="http://schemas.microsoft.com/office/drawing/2014/main" id="{4A297D69-7F53-D806-7895-FBAE1FF51768}"/>
              </a:ext>
            </a:extLst>
          </p:cNvPr>
          <p:cNvSpPr/>
          <p:nvPr/>
        </p:nvSpPr>
        <p:spPr>
          <a:xfrm>
            <a:off x="1002024" y="5101331"/>
            <a:ext cx="169067" cy="190784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</a:t>
            </a:r>
          </a:p>
        </p:txBody>
      </p:sp>
      <p:cxnSp>
        <p:nvCxnSpPr>
          <p:cNvPr id="1293" name="Straight Connector 1292">
            <a:extLst>
              <a:ext uri="{FF2B5EF4-FFF2-40B4-BE49-F238E27FC236}">
                <a16:creationId xmlns:a16="http://schemas.microsoft.com/office/drawing/2014/main" id="{2F732B5B-A682-9112-D636-E921B5ADEF46}"/>
              </a:ext>
            </a:extLst>
          </p:cNvPr>
          <p:cNvCxnSpPr>
            <a:cxnSpLocks/>
            <a:stCxn id="1292" idx="0"/>
          </p:cNvCxnSpPr>
          <p:nvPr/>
        </p:nvCxnSpPr>
        <p:spPr>
          <a:xfrm flipV="1">
            <a:off x="1086558" y="4748084"/>
            <a:ext cx="0" cy="353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6" name="Straight Connector 1295">
            <a:extLst>
              <a:ext uri="{FF2B5EF4-FFF2-40B4-BE49-F238E27FC236}">
                <a16:creationId xmlns:a16="http://schemas.microsoft.com/office/drawing/2014/main" id="{0BFC256D-340F-840C-5F80-8B5FFBC05DBF}"/>
              </a:ext>
            </a:extLst>
          </p:cNvPr>
          <p:cNvCxnSpPr/>
          <p:nvPr/>
        </p:nvCxnSpPr>
        <p:spPr>
          <a:xfrm flipH="1">
            <a:off x="775118" y="4748084"/>
            <a:ext cx="1" cy="434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7" name="Oval 1296">
            <a:extLst>
              <a:ext uri="{FF2B5EF4-FFF2-40B4-BE49-F238E27FC236}">
                <a16:creationId xmlns:a16="http://schemas.microsoft.com/office/drawing/2014/main" id="{30E94619-6ACD-B09B-0582-34ECB44C42FC}"/>
              </a:ext>
            </a:extLst>
          </p:cNvPr>
          <p:cNvSpPr/>
          <p:nvPr/>
        </p:nvSpPr>
        <p:spPr>
          <a:xfrm>
            <a:off x="690584" y="5106434"/>
            <a:ext cx="169067" cy="190784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</a:t>
            </a:r>
          </a:p>
        </p:txBody>
      </p:sp>
      <p:sp>
        <p:nvSpPr>
          <p:cNvPr id="1298" name="Oval 1297">
            <a:extLst>
              <a:ext uri="{FF2B5EF4-FFF2-40B4-BE49-F238E27FC236}">
                <a16:creationId xmlns:a16="http://schemas.microsoft.com/office/drawing/2014/main" id="{C9E3AF6D-786A-96B7-72BD-28F7125CB732}"/>
              </a:ext>
            </a:extLst>
          </p:cNvPr>
          <p:cNvSpPr/>
          <p:nvPr/>
        </p:nvSpPr>
        <p:spPr>
          <a:xfrm>
            <a:off x="1032459" y="5148502"/>
            <a:ext cx="169067" cy="190784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</a:t>
            </a:r>
          </a:p>
        </p:txBody>
      </p:sp>
      <p:sp>
        <p:nvSpPr>
          <p:cNvPr id="1300" name="Oval 1299">
            <a:extLst>
              <a:ext uri="{FF2B5EF4-FFF2-40B4-BE49-F238E27FC236}">
                <a16:creationId xmlns:a16="http://schemas.microsoft.com/office/drawing/2014/main" id="{149ACEE6-A936-EADE-9BFF-91A7EC237790}"/>
              </a:ext>
            </a:extLst>
          </p:cNvPr>
          <p:cNvSpPr/>
          <p:nvPr/>
        </p:nvSpPr>
        <p:spPr>
          <a:xfrm>
            <a:off x="719552" y="5145213"/>
            <a:ext cx="169067" cy="190784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</a:t>
            </a:r>
          </a:p>
        </p:txBody>
      </p:sp>
      <p:cxnSp>
        <p:nvCxnSpPr>
          <p:cNvPr id="1675" name="Connector: Elbow 1674">
            <a:extLst>
              <a:ext uri="{FF2B5EF4-FFF2-40B4-BE49-F238E27FC236}">
                <a16:creationId xmlns:a16="http://schemas.microsoft.com/office/drawing/2014/main" id="{25AFD5DF-3C3D-A628-D8AA-0106A73983F7}"/>
              </a:ext>
            </a:extLst>
          </p:cNvPr>
          <p:cNvCxnSpPr>
            <a:cxnSpLocks/>
            <a:stCxn id="23" idx="2"/>
            <a:endCxn id="9" idx="0"/>
          </p:cNvCxnSpPr>
          <p:nvPr/>
        </p:nvCxnSpPr>
        <p:spPr>
          <a:xfrm rot="16200000" flipH="1">
            <a:off x="1164194" y="3428015"/>
            <a:ext cx="753851" cy="1970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6" name="Group 1735">
            <a:extLst>
              <a:ext uri="{FF2B5EF4-FFF2-40B4-BE49-F238E27FC236}">
                <a16:creationId xmlns:a16="http://schemas.microsoft.com/office/drawing/2014/main" id="{C867822D-A0F1-F90D-5D1A-5204A248CF23}"/>
              </a:ext>
            </a:extLst>
          </p:cNvPr>
          <p:cNvGrpSpPr/>
          <p:nvPr/>
        </p:nvGrpSpPr>
        <p:grpSpPr>
          <a:xfrm>
            <a:off x="4329551" y="3789703"/>
            <a:ext cx="3049266" cy="1518176"/>
            <a:chOff x="4264754" y="3781154"/>
            <a:chExt cx="3049266" cy="1518176"/>
          </a:xfrm>
        </p:grpSpPr>
        <p:sp>
          <p:nvSpPr>
            <p:cNvPr id="1393" name="Rectangle 1392">
              <a:extLst>
                <a:ext uri="{FF2B5EF4-FFF2-40B4-BE49-F238E27FC236}">
                  <a16:creationId xmlns:a16="http://schemas.microsoft.com/office/drawing/2014/main" id="{536F675F-914C-239A-2B7E-6C92C0008FDD}"/>
                </a:ext>
              </a:extLst>
            </p:cNvPr>
            <p:cNvSpPr/>
            <p:nvPr/>
          </p:nvSpPr>
          <p:spPr>
            <a:xfrm>
              <a:off x="4264754" y="3781154"/>
              <a:ext cx="3049266" cy="9578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Body Zone Controller</a:t>
              </a:r>
            </a:p>
          </p:txBody>
        </p:sp>
        <p:sp>
          <p:nvSpPr>
            <p:cNvPr id="1394" name="Rectangle 1393">
              <a:extLst>
                <a:ext uri="{FF2B5EF4-FFF2-40B4-BE49-F238E27FC236}">
                  <a16:creationId xmlns:a16="http://schemas.microsoft.com/office/drawing/2014/main" id="{AAC8A219-BE7D-F973-4058-0650BB855FCB}"/>
                </a:ext>
              </a:extLst>
            </p:cNvPr>
            <p:cNvSpPr/>
            <p:nvPr/>
          </p:nvSpPr>
          <p:spPr>
            <a:xfrm>
              <a:off x="5495308" y="4054559"/>
              <a:ext cx="581959" cy="259551"/>
            </a:xfrm>
            <a:prstGeom prst="rect">
              <a:avLst/>
            </a:prstGeom>
            <a:solidFill>
              <a:schemeClr val="bg1"/>
            </a:solidFill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RCP Server</a:t>
              </a:r>
            </a:p>
          </p:txBody>
        </p:sp>
        <p:sp>
          <p:nvSpPr>
            <p:cNvPr id="1401" name="Rectangle 1400">
              <a:extLst>
                <a:ext uri="{FF2B5EF4-FFF2-40B4-BE49-F238E27FC236}">
                  <a16:creationId xmlns:a16="http://schemas.microsoft.com/office/drawing/2014/main" id="{3571FDE4-0544-194B-8A54-9C76B9A518F4}"/>
                </a:ext>
              </a:extLst>
            </p:cNvPr>
            <p:cNvSpPr/>
            <p:nvPr/>
          </p:nvSpPr>
          <p:spPr>
            <a:xfrm>
              <a:off x="5495048" y="4524019"/>
              <a:ext cx="260217" cy="180797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I/O</a:t>
              </a:r>
            </a:p>
          </p:txBody>
        </p:sp>
        <p:sp>
          <p:nvSpPr>
            <p:cNvPr id="1402" name="Rectangle 1401">
              <a:extLst>
                <a:ext uri="{FF2B5EF4-FFF2-40B4-BE49-F238E27FC236}">
                  <a16:creationId xmlns:a16="http://schemas.microsoft.com/office/drawing/2014/main" id="{24EED9C8-EB99-AD89-3218-FC9DA29ED384}"/>
                </a:ext>
              </a:extLst>
            </p:cNvPr>
            <p:cNvSpPr/>
            <p:nvPr/>
          </p:nvSpPr>
          <p:spPr>
            <a:xfrm>
              <a:off x="5495048" y="4326063"/>
              <a:ext cx="260217" cy="180797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ADC</a:t>
              </a:r>
            </a:p>
          </p:txBody>
        </p:sp>
        <p:sp>
          <p:nvSpPr>
            <p:cNvPr id="1406" name="Rectangle 1405">
              <a:extLst>
                <a:ext uri="{FF2B5EF4-FFF2-40B4-BE49-F238E27FC236}">
                  <a16:creationId xmlns:a16="http://schemas.microsoft.com/office/drawing/2014/main" id="{43239E09-51BE-06B7-675A-BB194558456B}"/>
                </a:ext>
              </a:extLst>
            </p:cNvPr>
            <p:cNvSpPr/>
            <p:nvPr/>
          </p:nvSpPr>
          <p:spPr>
            <a:xfrm>
              <a:off x="5780270" y="4531164"/>
              <a:ext cx="282709" cy="17271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SPI</a:t>
              </a:r>
            </a:p>
          </p:txBody>
        </p:sp>
        <p:sp>
          <p:nvSpPr>
            <p:cNvPr id="1608" name="Oval 1607">
              <a:extLst>
                <a:ext uri="{FF2B5EF4-FFF2-40B4-BE49-F238E27FC236}">
                  <a16:creationId xmlns:a16="http://schemas.microsoft.com/office/drawing/2014/main" id="{2697D6BF-63DA-9570-B8AD-0F4A799DD28B}"/>
                </a:ext>
              </a:extLst>
            </p:cNvPr>
            <p:cNvSpPr/>
            <p:nvPr/>
          </p:nvSpPr>
          <p:spPr>
            <a:xfrm>
              <a:off x="5867725" y="5058063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cxnSp>
          <p:nvCxnSpPr>
            <p:cNvPr id="1609" name="Straight Connector 1608">
              <a:extLst>
                <a:ext uri="{FF2B5EF4-FFF2-40B4-BE49-F238E27FC236}">
                  <a16:creationId xmlns:a16="http://schemas.microsoft.com/office/drawing/2014/main" id="{3751AA3E-BD85-D597-D6B3-328E15E847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0826" y="4733434"/>
              <a:ext cx="1" cy="310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1609">
              <a:extLst>
                <a:ext uri="{FF2B5EF4-FFF2-40B4-BE49-F238E27FC236}">
                  <a16:creationId xmlns:a16="http://schemas.microsoft.com/office/drawing/2014/main" id="{A1F622AC-E140-5A8D-6729-C493D3E6FE0B}"/>
                </a:ext>
              </a:extLst>
            </p:cNvPr>
            <p:cNvCxnSpPr>
              <a:stCxn id="1401" idx="2"/>
            </p:cNvCxnSpPr>
            <p:nvPr/>
          </p:nvCxnSpPr>
          <p:spPr>
            <a:xfrm flipH="1">
              <a:off x="5625156" y="4704816"/>
              <a:ext cx="1" cy="434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1" name="Oval 1610">
              <a:extLst>
                <a:ext uri="{FF2B5EF4-FFF2-40B4-BE49-F238E27FC236}">
                  <a16:creationId xmlns:a16="http://schemas.microsoft.com/office/drawing/2014/main" id="{7E4772FD-7345-DBC6-107F-5D38B5A37973}"/>
                </a:ext>
              </a:extLst>
            </p:cNvPr>
            <p:cNvSpPr/>
            <p:nvPr/>
          </p:nvSpPr>
          <p:spPr>
            <a:xfrm>
              <a:off x="5540622" y="5063166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</a:t>
              </a:r>
            </a:p>
          </p:txBody>
        </p:sp>
        <p:sp>
          <p:nvSpPr>
            <p:cNvPr id="1615" name="Oval 1614">
              <a:extLst>
                <a:ext uri="{FF2B5EF4-FFF2-40B4-BE49-F238E27FC236}">
                  <a16:creationId xmlns:a16="http://schemas.microsoft.com/office/drawing/2014/main" id="{E98231BD-BFDD-562C-E353-C4B8604DED30}"/>
                </a:ext>
              </a:extLst>
            </p:cNvPr>
            <p:cNvSpPr/>
            <p:nvPr/>
          </p:nvSpPr>
          <p:spPr>
            <a:xfrm>
              <a:off x="5890339" y="5077069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sp>
          <p:nvSpPr>
            <p:cNvPr id="1618" name="Rectangle 1617">
              <a:extLst>
                <a:ext uri="{FF2B5EF4-FFF2-40B4-BE49-F238E27FC236}">
                  <a16:creationId xmlns:a16="http://schemas.microsoft.com/office/drawing/2014/main" id="{940CD433-A678-9972-8948-63CF41EF6839}"/>
                </a:ext>
              </a:extLst>
            </p:cNvPr>
            <p:cNvSpPr/>
            <p:nvPr/>
          </p:nvSpPr>
          <p:spPr>
            <a:xfrm>
              <a:off x="5782648" y="4333517"/>
              <a:ext cx="291046" cy="17334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PWM</a:t>
              </a:r>
            </a:p>
          </p:txBody>
        </p:sp>
        <p:sp>
          <p:nvSpPr>
            <p:cNvPr id="1619" name="TextBox 1618">
              <a:extLst>
                <a:ext uri="{FF2B5EF4-FFF2-40B4-BE49-F238E27FC236}">
                  <a16:creationId xmlns:a16="http://schemas.microsoft.com/office/drawing/2014/main" id="{9C0338AB-31E9-238A-E19C-0ADB1F992287}"/>
                </a:ext>
              </a:extLst>
            </p:cNvPr>
            <p:cNvSpPr txBox="1"/>
            <p:nvPr/>
          </p:nvSpPr>
          <p:spPr>
            <a:xfrm>
              <a:off x="4821940" y="4042841"/>
              <a:ext cx="626919" cy="6610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dash"/>
            </a:ln>
          </p:spPr>
          <p:txBody>
            <a:bodyPr wrap="none" lIns="36000" tIns="36000" rIns="36000" bIns="36000" rtlCol="0" anchor="t">
              <a:no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Local Body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Apps 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(ASIL-B)</a:t>
              </a:r>
            </a:p>
          </p:txBody>
        </p:sp>
        <p:sp>
          <p:nvSpPr>
            <p:cNvPr id="1260" name="Oval 1259">
              <a:extLst>
                <a:ext uri="{FF2B5EF4-FFF2-40B4-BE49-F238E27FC236}">
                  <a16:creationId xmlns:a16="http://schemas.microsoft.com/office/drawing/2014/main" id="{B5FC251D-C69F-1E79-9888-3F37889179C3}"/>
                </a:ext>
              </a:extLst>
            </p:cNvPr>
            <p:cNvSpPr/>
            <p:nvPr/>
          </p:nvSpPr>
          <p:spPr>
            <a:xfrm>
              <a:off x="5253523" y="5021598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cxnSp>
          <p:nvCxnSpPr>
            <p:cNvPr id="1262" name="Straight Connector 1261">
              <a:extLst>
                <a:ext uri="{FF2B5EF4-FFF2-40B4-BE49-F238E27FC236}">
                  <a16:creationId xmlns:a16="http://schemas.microsoft.com/office/drawing/2014/main" id="{AD0C1013-4EAD-5E18-75DB-D65FF8BFBB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6624" y="4696969"/>
              <a:ext cx="1" cy="310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3" name="Straight Connector 1262">
              <a:extLst>
                <a:ext uri="{FF2B5EF4-FFF2-40B4-BE49-F238E27FC236}">
                  <a16:creationId xmlns:a16="http://schemas.microsoft.com/office/drawing/2014/main" id="{C8B8B440-78A7-AE94-D25D-3E85D1506E3B}"/>
                </a:ext>
              </a:extLst>
            </p:cNvPr>
            <p:cNvCxnSpPr/>
            <p:nvPr/>
          </p:nvCxnSpPr>
          <p:spPr>
            <a:xfrm flipH="1">
              <a:off x="5010954" y="4696927"/>
              <a:ext cx="1" cy="434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4" name="Oval 1263">
              <a:extLst>
                <a:ext uri="{FF2B5EF4-FFF2-40B4-BE49-F238E27FC236}">
                  <a16:creationId xmlns:a16="http://schemas.microsoft.com/office/drawing/2014/main" id="{E9436E82-FCEF-8CDB-1E02-C3ED9CF912AF}"/>
                </a:ext>
              </a:extLst>
            </p:cNvPr>
            <p:cNvSpPr/>
            <p:nvPr/>
          </p:nvSpPr>
          <p:spPr>
            <a:xfrm>
              <a:off x="4926420" y="5055277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</a:t>
              </a: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FD58C8F9-6B53-F2C7-8DE4-2E203A11B347}"/>
                </a:ext>
              </a:extLst>
            </p:cNvPr>
            <p:cNvSpPr/>
            <p:nvPr/>
          </p:nvSpPr>
          <p:spPr>
            <a:xfrm>
              <a:off x="5276137" y="5054892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sp>
          <p:nvSpPr>
            <p:cNvPr id="1275" name="Rectangle 1274">
              <a:extLst>
                <a:ext uri="{FF2B5EF4-FFF2-40B4-BE49-F238E27FC236}">
                  <a16:creationId xmlns:a16="http://schemas.microsoft.com/office/drawing/2014/main" id="{46B858E4-30A0-4613-F118-91B3C9946A4A}"/>
                </a:ext>
              </a:extLst>
            </p:cNvPr>
            <p:cNvSpPr/>
            <p:nvPr/>
          </p:nvSpPr>
          <p:spPr>
            <a:xfrm>
              <a:off x="4293329" y="4047415"/>
              <a:ext cx="494822" cy="649323"/>
            </a:xfrm>
            <a:prstGeom prst="rect">
              <a:avLst/>
            </a:prstGeom>
            <a:solidFill>
              <a:schemeClr val="bg1"/>
            </a:solidFill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RCP Client</a:t>
              </a:r>
            </a:p>
          </p:txBody>
        </p:sp>
        <p:sp>
          <p:nvSpPr>
            <p:cNvPr id="1276" name="Rectangle 1275">
              <a:extLst>
                <a:ext uri="{FF2B5EF4-FFF2-40B4-BE49-F238E27FC236}">
                  <a16:creationId xmlns:a16="http://schemas.microsoft.com/office/drawing/2014/main" id="{0D0722BB-2915-451A-4D7C-A289DD3B9FA3}"/>
                </a:ext>
              </a:extLst>
            </p:cNvPr>
            <p:cNvSpPr/>
            <p:nvPr/>
          </p:nvSpPr>
          <p:spPr>
            <a:xfrm>
              <a:off x="4312115" y="4987541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SW Less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ECU</a:t>
              </a:r>
            </a:p>
          </p:txBody>
        </p:sp>
        <p:cxnSp>
          <p:nvCxnSpPr>
            <p:cNvPr id="1278" name="Straight Connector 1277">
              <a:extLst>
                <a:ext uri="{FF2B5EF4-FFF2-40B4-BE49-F238E27FC236}">
                  <a16:creationId xmlns:a16="http://schemas.microsoft.com/office/drawing/2014/main" id="{001232F1-23F5-BA8F-0A53-7B73F690B352}"/>
                </a:ext>
              </a:extLst>
            </p:cNvPr>
            <p:cNvCxnSpPr>
              <a:cxnSpLocks/>
              <a:stCxn id="1276" idx="0"/>
              <a:endCxn id="1275" idx="2"/>
            </p:cNvCxnSpPr>
            <p:nvPr/>
          </p:nvCxnSpPr>
          <p:spPr>
            <a:xfrm flipV="1">
              <a:off x="4537658" y="4696738"/>
              <a:ext cx="3082" cy="29080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2" name="図 1173" descr="黒い背景と男性の絵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A66892BB-16D1-F5AD-397E-BBC585B5A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48278" y="4415655"/>
              <a:ext cx="259544" cy="259544"/>
            </a:xfrm>
            <a:prstGeom prst="rect">
              <a:avLst/>
            </a:prstGeom>
          </p:spPr>
        </p:pic>
        <p:pic>
          <p:nvPicPr>
            <p:cNvPr id="1049" name="図 1173" descr="黒い背景と男性の絵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3D2F0904-20E9-18B6-AC4C-EFAAE58E3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30021" y="4419019"/>
              <a:ext cx="259544" cy="259544"/>
            </a:xfrm>
            <a:prstGeom prst="rect">
              <a:avLst/>
            </a:prstGeom>
          </p:spPr>
        </p:pic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F2FB4FC9-2E35-F127-664B-5B38698283E0}"/>
                </a:ext>
              </a:extLst>
            </p:cNvPr>
            <p:cNvSpPr/>
            <p:nvPr/>
          </p:nvSpPr>
          <p:spPr>
            <a:xfrm>
              <a:off x="4388385" y="5039786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SW Less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ECU</a:t>
              </a:r>
            </a:p>
          </p:txBody>
        </p:sp>
        <p:sp>
          <p:nvSpPr>
            <p:cNvPr id="1682" name="Rectangle 1681">
              <a:extLst>
                <a:ext uri="{FF2B5EF4-FFF2-40B4-BE49-F238E27FC236}">
                  <a16:creationId xmlns:a16="http://schemas.microsoft.com/office/drawing/2014/main" id="{1FEE371D-0FF2-CE32-7B6B-E72F19D168F8}"/>
                </a:ext>
              </a:extLst>
            </p:cNvPr>
            <p:cNvSpPr/>
            <p:nvPr/>
          </p:nvSpPr>
          <p:spPr>
            <a:xfrm>
              <a:off x="6776394" y="4914373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Edge ECU</a:t>
              </a:r>
            </a:p>
          </p:txBody>
        </p:sp>
        <p:cxnSp>
          <p:nvCxnSpPr>
            <p:cNvPr id="1683" name="Straight Connector 1682">
              <a:extLst>
                <a:ext uri="{FF2B5EF4-FFF2-40B4-BE49-F238E27FC236}">
                  <a16:creationId xmlns:a16="http://schemas.microsoft.com/office/drawing/2014/main" id="{26192E2F-8AE7-54A3-1D89-D5BC14E1C5BF}"/>
                </a:ext>
              </a:extLst>
            </p:cNvPr>
            <p:cNvCxnSpPr>
              <a:cxnSpLocks/>
              <a:stCxn id="1682" idx="0"/>
            </p:cNvCxnSpPr>
            <p:nvPr/>
          </p:nvCxnSpPr>
          <p:spPr>
            <a:xfrm flipH="1" flipV="1">
              <a:off x="7001008" y="4611176"/>
              <a:ext cx="929" cy="30319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4" name="Rectangle 1683">
              <a:extLst>
                <a:ext uri="{FF2B5EF4-FFF2-40B4-BE49-F238E27FC236}">
                  <a16:creationId xmlns:a16="http://schemas.microsoft.com/office/drawing/2014/main" id="{9D5AD407-EE4F-0954-D2E2-22F05B37798D}"/>
                </a:ext>
              </a:extLst>
            </p:cNvPr>
            <p:cNvSpPr/>
            <p:nvPr/>
          </p:nvSpPr>
          <p:spPr>
            <a:xfrm>
              <a:off x="6825017" y="4973686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Edge ECU</a:t>
              </a:r>
            </a:p>
          </p:txBody>
        </p:sp>
        <p:grpSp>
          <p:nvGrpSpPr>
            <p:cNvPr id="1686" name="Group 1685">
              <a:extLst>
                <a:ext uri="{FF2B5EF4-FFF2-40B4-BE49-F238E27FC236}">
                  <a16:creationId xmlns:a16="http://schemas.microsoft.com/office/drawing/2014/main" id="{17C8FE93-A95C-6D24-BAA2-AA1D3F342325}"/>
                </a:ext>
              </a:extLst>
            </p:cNvPr>
            <p:cNvGrpSpPr/>
            <p:nvPr/>
          </p:nvGrpSpPr>
          <p:grpSpPr>
            <a:xfrm>
              <a:off x="6098763" y="4054559"/>
              <a:ext cx="1160392" cy="646041"/>
              <a:chOff x="7896982" y="3907630"/>
              <a:chExt cx="1193146" cy="796251"/>
            </a:xfrm>
          </p:grpSpPr>
          <p:sp>
            <p:nvSpPr>
              <p:cNvPr id="1687" name="TextBox 1686">
                <a:extLst>
                  <a:ext uri="{FF2B5EF4-FFF2-40B4-BE49-F238E27FC236}">
                    <a16:creationId xmlns:a16="http://schemas.microsoft.com/office/drawing/2014/main" id="{E578E372-15D2-1312-7815-AE9FE08AEB36}"/>
                  </a:ext>
                </a:extLst>
              </p:cNvPr>
              <p:cNvSpPr txBox="1"/>
              <p:nvPr/>
            </p:nvSpPr>
            <p:spPr>
              <a:xfrm>
                <a:off x="7896982" y="3907630"/>
                <a:ext cx="1193146" cy="7962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solid"/>
              </a:ln>
            </p:spPr>
            <p:txBody>
              <a:bodyPr wrap="none" lIns="36000" tIns="36000" rIns="0" bIns="36000" rtlCol="0" anchor="t">
                <a:noAutofit/>
              </a:bodyPr>
              <a:lstStyle>
                <a:defPPr>
                  <a:defRPr lang="de-DE"/>
                </a:defPPr>
                <a:lvl1pPr algn="ctr">
                  <a:defRPr sz="800" b="1">
                    <a:latin typeface="Google San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Routing </a:t>
                </a: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D7000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or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Tunneling</a:t>
                </a:r>
                <a:endPara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endParaRPr>
              </a:p>
            </p:txBody>
          </p:sp>
          <p:grpSp>
            <p:nvGrpSpPr>
              <p:cNvPr id="1688" name="Group 1687">
                <a:extLst>
                  <a:ext uri="{FF2B5EF4-FFF2-40B4-BE49-F238E27FC236}">
                    <a16:creationId xmlns:a16="http://schemas.microsoft.com/office/drawing/2014/main" id="{E88951FB-FF5C-1DD4-D0FA-C07E7BA5A2FC}"/>
                  </a:ext>
                </a:extLst>
              </p:cNvPr>
              <p:cNvGrpSpPr/>
              <p:nvPr/>
            </p:nvGrpSpPr>
            <p:grpSpPr>
              <a:xfrm>
                <a:off x="7904127" y="4331052"/>
                <a:ext cx="1148131" cy="351954"/>
                <a:chOff x="7896983" y="4277523"/>
                <a:chExt cx="1148131" cy="383834"/>
              </a:xfrm>
            </p:grpSpPr>
            <p:sp>
              <p:nvSpPr>
                <p:cNvPr id="1689" name="TextBox 1688">
                  <a:extLst>
                    <a:ext uri="{FF2B5EF4-FFF2-40B4-BE49-F238E27FC236}">
                      <a16:creationId xmlns:a16="http://schemas.microsoft.com/office/drawing/2014/main" id="{6F19FF8C-FF6C-FFFE-D2CF-25E712ADBEA0}"/>
                    </a:ext>
                  </a:extLst>
                </p:cNvPr>
                <p:cNvSpPr txBox="1"/>
                <p:nvPr/>
              </p:nvSpPr>
              <p:spPr>
                <a:xfrm>
                  <a:off x="7896983" y="4277526"/>
                  <a:ext cx="529619" cy="3838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  <a:prstDash val="dash"/>
                </a:ln>
              </p:spPr>
              <p:txBody>
                <a:bodyPr wrap="none" lIns="36000" tIns="0" rIns="36000" bIns="36000" rtlCol="0" anchor="t">
                  <a:noAutofit/>
                </a:bodyPr>
                <a:lstStyle>
                  <a:defPPr>
                    <a:defRPr lang="de-DE"/>
                  </a:defPPr>
                  <a:lvl1pPr algn="ctr">
                    <a:defRPr sz="800" b="1">
                      <a:latin typeface="Google Sans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Routing</a:t>
                  </a:r>
                  <a:endPara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… </a:t>
                  </a:r>
                </a:p>
              </p:txBody>
            </p:sp>
            <p:sp>
              <p:nvSpPr>
                <p:cNvPr id="1690" name="TextBox 1689">
                  <a:extLst>
                    <a:ext uri="{FF2B5EF4-FFF2-40B4-BE49-F238E27FC236}">
                      <a16:creationId xmlns:a16="http://schemas.microsoft.com/office/drawing/2014/main" id="{651819B1-FB53-6A07-82AF-43C05522AE0A}"/>
                    </a:ext>
                  </a:extLst>
                </p:cNvPr>
                <p:cNvSpPr txBox="1"/>
                <p:nvPr/>
              </p:nvSpPr>
              <p:spPr>
                <a:xfrm>
                  <a:off x="8464536" y="4277523"/>
                  <a:ext cx="580578" cy="3838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  <a:prstDash val="dash"/>
                </a:ln>
              </p:spPr>
              <p:txBody>
                <a:bodyPr wrap="none" lIns="36000" tIns="36000" rIns="36000" bIns="36000" rtlCol="0" anchor="t">
                  <a:noAutofit/>
                </a:bodyPr>
                <a:lstStyle>
                  <a:defPPr>
                    <a:defRPr lang="de-DE"/>
                  </a:defPPr>
                  <a:lvl1pPr>
                    <a:defRPr sz="1100"/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Tunneling</a:t>
                  </a:r>
                  <a:endPara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(CAN/LIN)</a:t>
                  </a:r>
                  <a:endPara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</p:txBody>
            </p:sp>
          </p:grpSp>
        </p:grpSp>
      </p:grpSp>
      <p:grpSp>
        <p:nvGrpSpPr>
          <p:cNvPr id="1737" name="Group 1736">
            <a:extLst>
              <a:ext uri="{FF2B5EF4-FFF2-40B4-BE49-F238E27FC236}">
                <a16:creationId xmlns:a16="http://schemas.microsoft.com/office/drawing/2014/main" id="{D6902CA5-C202-4309-68F4-38D7D73E3B01}"/>
              </a:ext>
            </a:extLst>
          </p:cNvPr>
          <p:cNvGrpSpPr/>
          <p:nvPr/>
        </p:nvGrpSpPr>
        <p:grpSpPr>
          <a:xfrm>
            <a:off x="8113950" y="3781154"/>
            <a:ext cx="3687524" cy="1546752"/>
            <a:chOff x="8113950" y="3781154"/>
            <a:chExt cx="3687524" cy="1546752"/>
          </a:xfrm>
        </p:grpSpPr>
        <p:sp>
          <p:nvSpPr>
            <p:cNvPr id="1311" name="Rectangle 1310">
              <a:extLst>
                <a:ext uri="{FF2B5EF4-FFF2-40B4-BE49-F238E27FC236}">
                  <a16:creationId xmlns:a16="http://schemas.microsoft.com/office/drawing/2014/main" id="{E1EE4986-E133-36CB-DAB6-32A576931496}"/>
                </a:ext>
              </a:extLst>
            </p:cNvPr>
            <p:cNvSpPr/>
            <p:nvPr/>
          </p:nvSpPr>
          <p:spPr>
            <a:xfrm>
              <a:off x="8113950" y="3781154"/>
              <a:ext cx="3687524" cy="9578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X-Domain Zone Controller</a:t>
              </a:r>
            </a:p>
          </p:txBody>
        </p:sp>
        <p:sp>
          <p:nvSpPr>
            <p:cNvPr id="1632" name="Rectangle 1631">
              <a:extLst>
                <a:ext uri="{FF2B5EF4-FFF2-40B4-BE49-F238E27FC236}">
                  <a16:creationId xmlns:a16="http://schemas.microsoft.com/office/drawing/2014/main" id="{6B4EBBCD-58F4-D742-78DB-A5E5CD4D45E2}"/>
                </a:ext>
              </a:extLst>
            </p:cNvPr>
            <p:cNvSpPr/>
            <p:nvPr/>
          </p:nvSpPr>
          <p:spPr>
            <a:xfrm>
              <a:off x="9994589" y="4054559"/>
              <a:ext cx="581959" cy="259551"/>
            </a:xfrm>
            <a:prstGeom prst="rect">
              <a:avLst/>
            </a:prstGeom>
            <a:solidFill>
              <a:schemeClr val="bg1"/>
            </a:solidFill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RCP Server</a:t>
              </a:r>
            </a:p>
          </p:txBody>
        </p:sp>
        <p:sp>
          <p:nvSpPr>
            <p:cNvPr id="1633" name="Rectangle 1632">
              <a:extLst>
                <a:ext uri="{FF2B5EF4-FFF2-40B4-BE49-F238E27FC236}">
                  <a16:creationId xmlns:a16="http://schemas.microsoft.com/office/drawing/2014/main" id="{7D7E5DE7-F1E6-4DD6-B6A6-359CB756AE15}"/>
                </a:ext>
              </a:extLst>
            </p:cNvPr>
            <p:cNvSpPr/>
            <p:nvPr/>
          </p:nvSpPr>
          <p:spPr>
            <a:xfrm>
              <a:off x="9994329" y="4524019"/>
              <a:ext cx="260217" cy="180797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I/O</a:t>
              </a:r>
            </a:p>
          </p:txBody>
        </p:sp>
        <p:sp>
          <p:nvSpPr>
            <p:cNvPr id="1634" name="Rectangle 1633">
              <a:extLst>
                <a:ext uri="{FF2B5EF4-FFF2-40B4-BE49-F238E27FC236}">
                  <a16:creationId xmlns:a16="http://schemas.microsoft.com/office/drawing/2014/main" id="{C36A0F0E-543D-B8A2-6C7B-2E93B54985FA}"/>
                </a:ext>
              </a:extLst>
            </p:cNvPr>
            <p:cNvSpPr/>
            <p:nvPr/>
          </p:nvSpPr>
          <p:spPr>
            <a:xfrm>
              <a:off x="9994329" y="4326063"/>
              <a:ext cx="260217" cy="180797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ADC</a:t>
              </a:r>
            </a:p>
          </p:txBody>
        </p:sp>
        <p:sp>
          <p:nvSpPr>
            <p:cNvPr id="1635" name="Rectangle 1634">
              <a:extLst>
                <a:ext uri="{FF2B5EF4-FFF2-40B4-BE49-F238E27FC236}">
                  <a16:creationId xmlns:a16="http://schemas.microsoft.com/office/drawing/2014/main" id="{3F8E40E5-F1D9-FF53-EC48-399C88A7B605}"/>
                </a:ext>
              </a:extLst>
            </p:cNvPr>
            <p:cNvSpPr/>
            <p:nvPr/>
          </p:nvSpPr>
          <p:spPr>
            <a:xfrm>
              <a:off x="10279551" y="4531164"/>
              <a:ext cx="282709" cy="17271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SPI</a:t>
              </a:r>
            </a:p>
          </p:txBody>
        </p:sp>
        <p:sp>
          <p:nvSpPr>
            <p:cNvPr id="1636" name="Oval 1635">
              <a:extLst>
                <a:ext uri="{FF2B5EF4-FFF2-40B4-BE49-F238E27FC236}">
                  <a16:creationId xmlns:a16="http://schemas.microsoft.com/office/drawing/2014/main" id="{7C54C850-2CB5-E854-6301-ADCC0DCEA201}"/>
                </a:ext>
              </a:extLst>
            </p:cNvPr>
            <p:cNvSpPr/>
            <p:nvPr/>
          </p:nvSpPr>
          <p:spPr>
            <a:xfrm>
              <a:off x="10367006" y="5058063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cxnSp>
          <p:nvCxnSpPr>
            <p:cNvPr id="1637" name="Straight Connector 1636">
              <a:extLst>
                <a:ext uri="{FF2B5EF4-FFF2-40B4-BE49-F238E27FC236}">
                  <a16:creationId xmlns:a16="http://schemas.microsoft.com/office/drawing/2014/main" id="{8677F42F-6ACD-BB0A-6FC5-CE85DBC6B1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107" y="4733434"/>
              <a:ext cx="1" cy="310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8" name="Straight Connector 1637">
              <a:extLst>
                <a:ext uri="{FF2B5EF4-FFF2-40B4-BE49-F238E27FC236}">
                  <a16:creationId xmlns:a16="http://schemas.microsoft.com/office/drawing/2014/main" id="{F5F050BA-A1D8-EF03-9EA3-EB860E27D9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4332" y="4697697"/>
              <a:ext cx="1" cy="434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9" name="Oval 1638">
              <a:extLst>
                <a:ext uri="{FF2B5EF4-FFF2-40B4-BE49-F238E27FC236}">
                  <a16:creationId xmlns:a16="http://schemas.microsoft.com/office/drawing/2014/main" id="{C680D29B-088A-8E7E-A8D3-EAEA0EC87B4D}"/>
                </a:ext>
              </a:extLst>
            </p:cNvPr>
            <p:cNvSpPr/>
            <p:nvPr/>
          </p:nvSpPr>
          <p:spPr>
            <a:xfrm>
              <a:off x="10018471" y="5063166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</a:t>
              </a:r>
            </a:p>
          </p:txBody>
        </p:sp>
        <p:sp>
          <p:nvSpPr>
            <p:cNvPr id="1640" name="Oval 1639">
              <a:extLst>
                <a:ext uri="{FF2B5EF4-FFF2-40B4-BE49-F238E27FC236}">
                  <a16:creationId xmlns:a16="http://schemas.microsoft.com/office/drawing/2014/main" id="{8418B1E7-055E-2E56-5B3D-0412DF7B04A4}"/>
                </a:ext>
              </a:extLst>
            </p:cNvPr>
            <p:cNvSpPr/>
            <p:nvPr/>
          </p:nvSpPr>
          <p:spPr>
            <a:xfrm>
              <a:off x="10389620" y="5077069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sp>
          <p:nvSpPr>
            <p:cNvPr id="1641" name="Rectangle 1640">
              <a:extLst>
                <a:ext uri="{FF2B5EF4-FFF2-40B4-BE49-F238E27FC236}">
                  <a16:creationId xmlns:a16="http://schemas.microsoft.com/office/drawing/2014/main" id="{1A0636C8-F19C-0F31-EC8B-CC539903EC3A}"/>
                </a:ext>
              </a:extLst>
            </p:cNvPr>
            <p:cNvSpPr/>
            <p:nvPr/>
          </p:nvSpPr>
          <p:spPr>
            <a:xfrm>
              <a:off x="10281929" y="4333517"/>
              <a:ext cx="291046" cy="17334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PWM</a:t>
              </a:r>
            </a:p>
          </p:txBody>
        </p:sp>
        <p:sp>
          <p:nvSpPr>
            <p:cNvPr id="1642" name="TextBox 1641">
              <a:extLst>
                <a:ext uri="{FF2B5EF4-FFF2-40B4-BE49-F238E27FC236}">
                  <a16:creationId xmlns:a16="http://schemas.microsoft.com/office/drawing/2014/main" id="{6FC23E62-96FB-9AD9-FB3C-3D886C9E3AF8}"/>
                </a:ext>
              </a:extLst>
            </p:cNvPr>
            <p:cNvSpPr txBox="1"/>
            <p:nvPr/>
          </p:nvSpPr>
          <p:spPr>
            <a:xfrm>
              <a:off x="8656850" y="4042841"/>
              <a:ext cx="626919" cy="6610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dash"/>
            </a:ln>
          </p:spPr>
          <p:txBody>
            <a:bodyPr wrap="none" lIns="36000" tIns="36000" rIns="36000" bIns="36000" rtlCol="0" anchor="t">
              <a:no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Local Body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 Apps 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(ASIL-B)</a:t>
              </a:r>
            </a:p>
          </p:txBody>
        </p:sp>
        <p:sp>
          <p:nvSpPr>
            <p:cNvPr id="1643" name="Oval 1642">
              <a:extLst>
                <a:ext uri="{FF2B5EF4-FFF2-40B4-BE49-F238E27FC236}">
                  <a16:creationId xmlns:a16="http://schemas.microsoft.com/office/drawing/2014/main" id="{05650AB7-EE3E-5842-C625-806744549ADC}"/>
                </a:ext>
              </a:extLst>
            </p:cNvPr>
            <p:cNvSpPr/>
            <p:nvPr/>
          </p:nvSpPr>
          <p:spPr>
            <a:xfrm>
              <a:off x="9088433" y="5021598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cxnSp>
          <p:nvCxnSpPr>
            <p:cNvPr id="1644" name="Straight Connector 1643">
              <a:extLst>
                <a:ext uri="{FF2B5EF4-FFF2-40B4-BE49-F238E27FC236}">
                  <a16:creationId xmlns:a16="http://schemas.microsoft.com/office/drawing/2014/main" id="{BB443355-0A1E-64AC-9AA7-AA1238A970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1534" y="4696969"/>
              <a:ext cx="1" cy="310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1644">
              <a:extLst>
                <a:ext uri="{FF2B5EF4-FFF2-40B4-BE49-F238E27FC236}">
                  <a16:creationId xmlns:a16="http://schemas.microsoft.com/office/drawing/2014/main" id="{B81EECCF-D8D7-4C86-6CAC-FC98E59A4B2E}"/>
                </a:ext>
              </a:extLst>
            </p:cNvPr>
            <p:cNvCxnSpPr/>
            <p:nvPr/>
          </p:nvCxnSpPr>
          <p:spPr>
            <a:xfrm flipH="1">
              <a:off x="8845864" y="4696927"/>
              <a:ext cx="1" cy="434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6" name="Oval 1645">
              <a:extLst>
                <a:ext uri="{FF2B5EF4-FFF2-40B4-BE49-F238E27FC236}">
                  <a16:creationId xmlns:a16="http://schemas.microsoft.com/office/drawing/2014/main" id="{DD4ED972-1A2B-E2D8-3FC8-744665646B10}"/>
                </a:ext>
              </a:extLst>
            </p:cNvPr>
            <p:cNvSpPr/>
            <p:nvPr/>
          </p:nvSpPr>
          <p:spPr>
            <a:xfrm>
              <a:off x="8769310" y="5032568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</a:t>
              </a:r>
            </a:p>
          </p:txBody>
        </p:sp>
        <p:sp>
          <p:nvSpPr>
            <p:cNvPr id="1647" name="Oval 1646">
              <a:extLst>
                <a:ext uri="{FF2B5EF4-FFF2-40B4-BE49-F238E27FC236}">
                  <a16:creationId xmlns:a16="http://schemas.microsoft.com/office/drawing/2014/main" id="{4A06BA71-3BCC-A183-ED79-3052005A8635}"/>
                </a:ext>
              </a:extLst>
            </p:cNvPr>
            <p:cNvSpPr/>
            <p:nvPr/>
          </p:nvSpPr>
          <p:spPr>
            <a:xfrm>
              <a:off x="9111047" y="5054892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sp>
          <p:nvSpPr>
            <p:cNvPr id="1648" name="Rectangle 1647">
              <a:extLst>
                <a:ext uri="{FF2B5EF4-FFF2-40B4-BE49-F238E27FC236}">
                  <a16:creationId xmlns:a16="http://schemas.microsoft.com/office/drawing/2014/main" id="{4B903EC9-551D-F616-0525-6855ACB311A8}"/>
                </a:ext>
              </a:extLst>
            </p:cNvPr>
            <p:cNvSpPr/>
            <p:nvPr/>
          </p:nvSpPr>
          <p:spPr>
            <a:xfrm>
              <a:off x="8156815" y="4047415"/>
              <a:ext cx="472144" cy="649323"/>
            </a:xfrm>
            <a:prstGeom prst="rect">
              <a:avLst/>
            </a:prstGeom>
            <a:solidFill>
              <a:schemeClr val="bg1"/>
            </a:solidFill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RCP Client</a:t>
              </a:r>
            </a:p>
          </p:txBody>
        </p:sp>
        <p:sp>
          <p:nvSpPr>
            <p:cNvPr id="1649" name="Rectangle 1648">
              <a:extLst>
                <a:ext uri="{FF2B5EF4-FFF2-40B4-BE49-F238E27FC236}">
                  <a16:creationId xmlns:a16="http://schemas.microsoft.com/office/drawing/2014/main" id="{07B90FCC-3095-F3D3-D0D4-BFC7ADE19A14}"/>
                </a:ext>
              </a:extLst>
            </p:cNvPr>
            <p:cNvSpPr/>
            <p:nvPr/>
          </p:nvSpPr>
          <p:spPr>
            <a:xfrm>
              <a:off x="8168453" y="5016117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SW Less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ECU</a:t>
              </a:r>
            </a:p>
          </p:txBody>
        </p:sp>
        <p:cxnSp>
          <p:nvCxnSpPr>
            <p:cNvPr id="1650" name="Straight Connector 1649">
              <a:extLst>
                <a:ext uri="{FF2B5EF4-FFF2-40B4-BE49-F238E27FC236}">
                  <a16:creationId xmlns:a16="http://schemas.microsoft.com/office/drawing/2014/main" id="{BBE1F331-51E4-74E2-E375-46BD4CA163FE}"/>
                </a:ext>
              </a:extLst>
            </p:cNvPr>
            <p:cNvCxnSpPr>
              <a:cxnSpLocks/>
              <a:stCxn id="1649" idx="0"/>
              <a:endCxn id="1648" idx="2"/>
            </p:cNvCxnSpPr>
            <p:nvPr/>
          </p:nvCxnSpPr>
          <p:spPr>
            <a:xfrm flipH="1" flipV="1">
              <a:off x="8392887" y="4696738"/>
              <a:ext cx="1109" cy="31937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51" name="図 1173" descr="黒い背景と男性の絵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7E6E8830-48E8-A03A-1295-454085A8E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80597" y="4415700"/>
              <a:ext cx="259544" cy="259544"/>
            </a:xfrm>
            <a:prstGeom prst="rect">
              <a:avLst/>
            </a:prstGeom>
          </p:spPr>
        </p:pic>
        <p:pic>
          <p:nvPicPr>
            <p:cNvPr id="1652" name="図 1173" descr="黒い背景と男性の絵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397CF72D-FAC9-27E6-3279-2B7777F8F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53401" y="4419020"/>
              <a:ext cx="259544" cy="259544"/>
            </a:xfrm>
            <a:prstGeom prst="rect">
              <a:avLst/>
            </a:prstGeom>
          </p:spPr>
        </p:pic>
        <p:sp>
          <p:nvSpPr>
            <p:cNvPr id="1653" name="Rectangle 1652">
              <a:extLst>
                <a:ext uri="{FF2B5EF4-FFF2-40B4-BE49-F238E27FC236}">
                  <a16:creationId xmlns:a16="http://schemas.microsoft.com/office/drawing/2014/main" id="{E3CC5C97-5D76-C1C5-EC6C-F870420C7E0E}"/>
                </a:ext>
              </a:extLst>
            </p:cNvPr>
            <p:cNvSpPr/>
            <p:nvPr/>
          </p:nvSpPr>
          <p:spPr>
            <a:xfrm>
              <a:off x="8244723" y="5068362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SW Less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ECU</a:t>
              </a:r>
            </a:p>
          </p:txBody>
        </p:sp>
        <p:sp>
          <p:nvSpPr>
            <p:cNvPr id="1662" name="TextBox 1661">
              <a:extLst>
                <a:ext uri="{FF2B5EF4-FFF2-40B4-BE49-F238E27FC236}">
                  <a16:creationId xmlns:a16="http://schemas.microsoft.com/office/drawing/2014/main" id="{ADD5FED5-2177-66D7-9EB6-AE7C6C43A3E4}"/>
                </a:ext>
              </a:extLst>
            </p:cNvPr>
            <p:cNvSpPr txBox="1"/>
            <p:nvPr/>
          </p:nvSpPr>
          <p:spPr>
            <a:xfrm>
              <a:off x="9327957" y="4042841"/>
              <a:ext cx="626919" cy="66104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">
              <a:solidFill>
                <a:schemeClr val="tx1"/>
              </a:solidFill>
              <a:prstDash val="dash"/>
            </a:ln>
          </p:spPr>
          <p:txBody>
            <a:bodyPr wrap="none" lIns="36000" tIns="36000" rIns="36000" bIns="36000" rtlCol="0" anchor="t">
              <a:noAutofit/>
            </a:bodyPr>
            <a:lstStyle>
              <a:defPPr>
                <a:defRPr lang="de-DE"/>
              </a:defPPr>
              <a:lvl1pPr>
                <a:defRPr sz="11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Local Apps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Google Sans"/>
                  <a:ea typeface="メイリオ"/>
                  <a:cs typeface="+mn-cs"/>
                </a:rPr>
                <a:t>(ASIL-D)</a:t>
              </a:r>
            </a:p>
          </p:txBody>
        </p:sp>
        <p:pic>
          <p:nvPicPr>
            <p:cNvPr id="1663" name="図 1173" descr="黒い背景と男性の絵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5E7F3F65-3F38-8EBF-A558-E013F75A2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520746" y="4437194"/>
              <a:ext cx="259544" cy="259544"/>
            </a:xfrm>
            <a:prstGeom prst="rect">
              <a:avLst/>
            </a:prstGeom>
          </p:spPr>
        </p:pic>
        <p:sp>
          <p:nvSpPr>
            <p:cNvPr id="1664" name="Oval 1663">
              <a:extLst>
                <a:ext uri="{FF2B5EF4-FFF2-40B4-BE49-F238E27FC236}">
                  <a16:creationId xmlns:a16="http://schemas.microsoft.com/office/drawing/2014/main" id="{6E64C8FE-78CC-32CB-FDEB-293D84EA3815}"/>
                </a:ext>
              </a:extLst>
            </p:cNvPr>
            <p:cNvSpPr/>
            <p:nvPr/>
          </p:nvSpPr>
          <p:spPr>
            <a:xfrm>
              <a:off x="9730226" y="5037514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cxnSp>
          <p:nvCxnSpPr>
            <p:cNvPr id="1665" name="Straight Connector 1664">
              <a:extLst>
                <a:ext uri="{FF2B5EF4-FFF2-40B4-BE49-F238E27FC236}">
                  <a16:creationId xmlns:a16="http://schemas.microsoft.com/office/drawing/2014/main" id="{B3111265-C71D-112D-0CCD-A9C3751EA7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93327" y="4712885"/>
              <a:ext cx="1" cy="310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6" name="Straight Connector 1665">
              <a:extLst>
                <a:ext uri="{FF2B5EF4-FFF2-40B4-BE49-F238E27FC236}">
                  <a16:creationId xmlns:a16="http://schemas.microsoft.com/office/drawing/2014/main" id="{22B2BD4D-F7DA-03BE-7E7D-9D36B8345BC7}"/>
                </a:ext>
              </a:extLst>
            </p:cNvPr>
            <p:cNvCxnSpPr/>
            <p:nvPr/>
          </p:nvCxnSpPr>
          <p:spPr>
            <a:xfrm flipH="1">
              <a:off x="9487657" y="4712843"/>
              <a:ext cx="1" cy="434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7" name="Oval 1666">
              <a:extLst>
                <a:ext uri="{FF2B5EF4-FFF2-40B4-BE49-F238E27FC236}">
                  <a16:creationId xmlns:a16="http://schemas.microsoft.com/office/drawing/2014/main" id="{D1A3806B-F888-EB57-6044-B1EB26CF1EA0}"/>
                </a:ext>
              </a:extLst>
            </p:cNvPr>
            <p:cNvSpPr/>
            <p:nvPr/>
          </p:nvSpPr>
          <p:spPr>
            <a:xfrm>
              <a:off x="9403123" y="5071193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</a:t>
              </a:r>
            </a:p>
          </p:txBody>
        </p:sp>
        <p:sp>
          <p:nvSpPr>
            <p:cNvPr id="1668" name="Oval 1667">
              <a:extLst>
                <a:ext uri="{FF2B5EF4-FFF2-40B4-BE49-F238E27FC236}">
                  <a16:creationId xmlns:a16="http://schemas.microsoft.com/office/drawing/2014/main" id="{E91D8311-C3C1-F94F-64A4-8326D527AEC9}"/>
                </a:ext>
              </a:extLst>
            </p:cNvPr>
            <p:cNvSpPr/>
            <p:nvPr/>
          </p:nvSpPr>
          <p:spPr>
            <a:xfrm>
              <a:off x="9752840" y="5070808"/>
              <a:ext cx="169067" cy="190784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</a:t>
              </a:r>
            </a:p>
          </p:txBody>
        </p:sp>
        <p:sp>
          <p:nvSpPr>
            <p:cNvPr id="1694" name="Rectangle 1693">
              <a:extLst>
                <a:ext uri="{FF2B5EF4-FFF2-40B4-BE49-F238E27FC236}">
                  <a16:creationId xmlns:a16="http://schemas.microsoft.com/office/drawing/2014/main" id="{6CAE6E4E-AB84-F63E-9927-F8945BFE0A88}"/>
                </a:ext>
              </a:extLst>
            </p:cNvPr>
            <p:cNvSpPr/>
            <p:nvPr/>
          </p:nvSpPr>
          <p:spPr>
            <a:xfrm>
              <a:off x="11236400" y="4902796"/>
              <a:ext cx="451086" cy="2595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Edge ECU</a:t>
              </a:r>
            </a:p>
          </p:txBody>
        </p:sp>
        <p:cxnSp>
          <p:nvCxnSpPr>
            <p:cNvPr id="1695" name="Straight Connector 1694">
              <a:extLst>
                <a:ext uri="{FF2B5EF4-FFF2-40B4-BE49-F238E27FC236}">
                  <a16:creationId xmlns:a16="http://schemas.microsoft.com/office/drawing/2014/main" id="{365C0353-45C6-040E-DDFB-B640F72A70DC}"/>
                </a:ext>
              </a:extLst>
            </p:cNvPr>
            <p:cNvCxnSpPr>
              <a:cxnSpLocks/>
              <a:stCxn id="1694" idx="0"/>
            </p:cNvCxnSpPr>
            <p:nvPr/>
          </p:nvCxnSpPr>
          <p:spPr>
            <a:xfrm flipH="1" flipV="1">
              <a:off x="11461014" y="4599599"/>
              <a:ext cx="929" cy="30319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98" name="Group 1697">
              <a:extLst>
                <a:ext uri="{FF2B5EF4-FFF2-40B4-BE49-F238E27FC236}">
                  <a16:creationId xmlns:a16="http://schemas.microsoft.com/office/drawing/2014/main" id="{61853DAD-1FC0-EEF8-6A31-9EEDCDD909B1}"/>
                </a:ext>
              </a:extLst>
            </p:cNvPr>
            <p:cNvGrpSpPr/>
            <p:nvPr/>
          </p:nvGrpSpPr>
          <p:grpSpPr>
            <a:xfrm>
              <a:off x="10601631" y="4042982"/>
              <a:ext cx="1160392" cy="646041"/>
              <a:chOff x="7896982" y="3907630"/>
              <a:chExt cx="1193146" cy="796251"/>
            </a:xfrm>
          </p:grpSpPr>
          <p:sp>
            <p:nvSpPr>
              <p:cNvPr id="1699" name="TextBox 1698">
                <a:extLst>
                  <a:ext uri="{FF2B5EF4-FFF2-40B4-BE49-F238E27FC236}">
                    <a16:creationId xmlns:a16="http://schemas.microsoft.com/office/drawing/2014/main" id="{6D1852C7-3B6E-34C0-6959-01BACBD2F65E}"/>
                  </a:ext>
                </a:extLst>
              </p:cNvPr>
              <p:cNvSpPr txBox="1"/>
              <p:nvPr/>
            </p:nvSpPr>
            <p:spPr>
              <a:xfrm>
                <a:off x="7896982" y="3907630"/>
                <a:ext cx="1193146" cy="7962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solid"/>
              </a:ln>
            </p:spPr>
            <p:txBody>
              <a:bodyPr wrap="none" lIns="36000" tIns="36000" rIns="0" bIns="36000" rtlCol="0" anchor="t">
                <a:noAutofit/>
              </a:bodyPr>
              <a:lstStyle>
                <a:defPPr>
                  <a:defRPr lang="de-DE"/>
                </a:defPPr>
                <a:lvl1pPr algn="ctr">
                  <a:defRPr sz="800" b="1">
                    <a:latin typeface="Google San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Routing </a:t>
                </a: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D7000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or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rPr>
                  <a:t>Tunneling</a:t>
                </a:r>
                <a:endPara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endParaRPr>
              </a:p>
            </p:txBody>
          </p:sp>
          <p:grpSp>
            <p:nvGrpSpPr>
              <p:cNvPr id="1700" name="Group 1699">
                <a:extLst>
                  <a:ext uri="{FF2B5EF4-FFF2-40B4-BE49-F238E27FC236}">
                    <a16:creationId xmlns:a16="http://schemas.microsoft.com/office/drawing/2014/main" id="{FFD2B94F-BF04-8540-1723-A6EE3DC38B84}"/>
                  </a:ext>
                </a:extLst>
              </p:cNvPr>
              <p:cNvGrpSpPr/>
              <p:nvPr/>
            </p:nvGrpSpPr>
            <p:grpSpPr>
              <a:xfrm>
                <a:off x="7904127" y="4331052"/>
                <a:ext cx="1148131" cy="351954"/>
                <a:chOff x="7896983" y="4277523"/>
                <a:chExt cx="1148131" cy="383834"/>
              </a:xfrm>
            </p:grpSpPr>
            <p:sp>
              <p:nvSpPr>
                <p:cNvPr id="1701" name="TextBox 1700">
                  <a:extLst>
                    <a:ext uri="{FF2B5EF4-FFF2-40B4-BE49-F238E27FC236}">
                      <a16:creationId xmlns:a16="http://schemas.microsoft.com/office/drawing/2014/main" id="{8FD80371-7B2A-DCCE-02A8-0AF8BE633519}"/>
                    </a:ext>
                  </a:extLst>
                </p:cNvPr>
                <p:cNvSpPr txBox="1"/>
                <p:nvPr/>
              </p:nvSpPr>
              <p:spPr>
                <a:xfrm>
                  <a:off x="7896983" y="4277526"/>
                  <a:ext cx="529619" cy="3838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  <a:prstDash val="dash"/>
                </a:ln>
              </p:spPr>
              <p:txBody>
                <a:bodyPr wrap="none" lIns="36000" tIns="0" rIns="36000" bIns="36000" rtlCol="0" anchor="t">
                  <a:noAutofit/>
                </a:bodyPr>
                <a:lstStyle>
                  <a:defPPr>
                    <a:defRPr lang="de-DE"/>
                  </a:defPPr>
                  <a:lvl1pPr algn="ctr">
                    <a:defRPr sz="800" b="1">
                      <a:latin typeface="Google Sans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Routing</a:t>
                  </a:r>
                  <a:endPara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</p:txBody>
            </p:sp>
            <p:sp>
              <p:nvSpPr>
                <p:cNvPr id="1702" name="TextBox 1701">
                  <a:extLst>
                    <a:ext uri="{FF2B5EF4-FFF2-40B4-BE49-F238E27FC236}">
                      <a16:creationId xmlns:a16="http://schemas.microsoft.com/office/drawing/2014/main" id="{F88C001A-457A-9DC1-AE14-84A5D8C6B339}"/>
                    </a:ext>
                  </a:extLst>
                </p:cNvPr>
                <p:cNvSpPr txBox="1"/>
                <p:nvPr/>
              </p:nvSpPr>
              <p:spPr>
                <a:xfrm>
                  <a:off x="8464536" y="4277523"/>
                  <a:ext cx="580578" cy="3838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  <a:prstDash val="dash"/>
                </a:ln>
              </p:spPr>
              <p:txBody>
                <a:bodyPr wrap="none" lIns="36000" tIns="36000" rIns="36000" bIns="36000" rtlCol="0" anchor="t">
                  <a:noAutofit/>
                </a:bodyPr>
                <a:lstStyle>
                  <a:defPPr>
                    <a:defRPr lang="de-DE"/>
                  </a:defPPr>
                  <a:lvl1pPr>
                    <a:defRPr sz="1100"/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Tunneling</a:t>
                  </a:r>
                  <a:endPara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3C3C3B"/>
                      </a:solidFill>
                      <a:effectLst/>
                      <a:uLnTx/>
                      <a:uFillTx/>
                      <a:latin typeface="Google Sans"/>
                      <a:ea typeface="メイリオ"/>
                      <a:cs typeface="+mn-cs"/>
                    </a:rPr>
                    <a:t>(CAN/LIN)</a:t>
                  </a:r>
                  <a:endPara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Google Sans"/>
                    <a:ea typeface="メイリオ"/>
                    <a:cs typeface="+mn-cs"/>
                  </a:endParaRPr>
                </a:p>
              </p:txBody>
            </p:sp>
          </p:grpSp>
        </p:grpSp>
      </p:grpSp>
      <p:pic>
        <p:nvPicPr>
          <p:cNvPr id="1703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06089B2C-039D-5583-1617-7F51CA68A7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461" y="2493319"/>
            <a:ext cx="489716" cy="489716"/>
          </a:xfrm>
          <a:prstGeom prst="rect">
            <a:avLst/>
          </a:prstGeom>
        </p:spPr>
      </p:pic>
      <p:sp>
        <p:nvSpPr>
          <p:cNvPr id="1707" name="Rectangle 1706">
            <a:extLst>
              <a:ext uri="{FF2B5EF4-FFF2-40B4-BE49-F238E27FC236}">
                <a16:creationId xmlns:a16="http://schemas.microsoft.com/office/drawing/2014/main" id="{74F4360D-BEDC-0A18-50F2-14C8057A2466}"/>
              </a:ext>
            </a:extLst>
          </p:cNvPr>
          <p:cNvSpPr/>
          <p:nvPr/>
        </p:nvSpPr>
        <p:spPr>
          <a:xfrm>
            <a:off x="4916448" y="1791773"/>
            <a:ext cx="1881415" cy="34666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HPC</a:t>
            </a:r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CB9EED8E-A0DC-B1FA-A420-ABC377772388}"/>
              </a:ext>
            </a:extLst>
          </p:cNvPr>
          <p:cNvSpPr/>
          <p:nvPr/>
        </p:nvSpPr>
        <p:spPr>
          <a:xfrm>
            <a:off x="4916448" y="2175341"/>
            <a:ext cx="1869895" cy="830251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Real Time Vehicle Computer</a:t>
            </a:r>
          </a:p>
        </p:txBody>
      </p:sp>
      <p:sp>
        <p:nvSpPr>
          <p:cNvPr id="1709" name="Rectangle 1708">
            <a:extLst>
              <a:ext uri="{FF2B5EF4-FFF2-40B4-BE49-F238E27FC236}">
                <a16:creationId xmlns:a16="http://schemas.microsoft.com/office/drawing/2014/main" id="{D7107760-41AB-F46B-FE5E-3FA18C18C361}"/>
              </a:ext>
            </a:extLst>
          </p:cNvPr>
          <p:cNvSpPr/>
          <p:nvPr/>
        </p:nvSpPr>
        <p:spPr>
          <a:xfrm>
            <a:off x="4972708" y="1942084"/>
            <a:ext cx="853351" cy="17491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ADAS</a:t>
            </a:r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2C7DB8BC-EBDA-F147-5F4D-3F9F060F1170}"/>
              </a:ext>
            </a:extLst>
          </p:cNvPr>
          <p:cNvSpPr/>
          <p:nvPr/>
        </p:nvSpPr>
        <p:spPr>
          <a:xfrm>
            <a:off x="5851255" y="1945337"/>
            <a:ext cx="896058" cy="1710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IVI</a:t>
            </a:r>
          </a:p>
        </p:txBody>
      </p:sp>
      <p:pic>
        <p:nvPicPr>
          <p:cNvPr id="1712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B19B7A2D-0A0E-B738-A2FC-7EAC42D7D9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0702" y="2456783"/>
            <a:ext cx="489717" cy="489717"/>
          </a:xfrm>
          <a:prstGeom prst="rect">
            <a:avLst/>
          </a:prstGeom>
        </p:spPr>
      </p:pic>
      <p:pic>
        <p:nvPicPr>
          <p:cNvPr id="1714" name="Graphic 1713" descr="Web cam outline">
            <a:extLst>
              <a:ext uri="{FF2B5EF4-FFF2-40B4-BE49-F238E27FC236}">
                <a16:creationId xmlns:a16="http://schemas.microsoft.com/office/drawing/2014/main" id="{EF2AAD7C-7E91-C881-1D8A-6C1B0B1165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657" y="1842618"/>
            <a:ext cx="273807" cy="273807"/>
          </a:xfrm>
          <a:prstGeom prst="rect">
            <a:avLst/>
          </a:prstGeom>
        </p:spPr>
      </p:pic>
      <p:pic>
        <p:nvPicPr>
          <p:cNvPr id="1715" name="Graphic 1714" descr="Web cam outline">
            <a:extLst>
              <a:ext uri="{FF2B5EF4-FFF2-40B4-BE49-F238E27FC236}">
                <a16:creationId xmlns:a16="http://schemas.microsoft.com/office/drawing/2014/main" id="{921864AC-23F4-DECC-7CED-6B3E81CEA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6448" y="1965105"/>
            <a:ext cx="257318" cy="257318"/>
          </a:xfrm>
          <a:prstGeom prst="rect">
            <a:avLst/>
          </a:prstGeom>
        </p:spPr>
      </p:pic>
      <p:cxnSp>
        <p:nvCxnSpPr>
          <p:cNvPr id="1716" name="Straight Connector 1715">
            <a:extLst>
              <a:ext uri="{FF2B5EF4-FFF2-40B4-BE49-F238E27FC236}">
                <a16:creationId xmlns:a16="http://schemas.microsoft.com/office/drawing/2014/main" id="{7804065B-8EA9-D221-984B-58D258B1CB07}"/>
              </a:ext>
            </a:extLst>
          </p:cNvPr>
          <p:cNvCxnSpPr>
            <a:cxnSpLocks/>
            <a:stCxn id="1715" idx="0"/>
            <a:endCxn id="1707" idx="1"/>
          </p:cNvCxnSpPr>
          <p:nvPr/>
        </p:nvCxnSpPr>
        <p:spPr>
          <a:xfrm>
            <a:off x="4735107" y="1965105"/>
            <a:ext cx="1813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7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31AFE826-B5A4-DBDA-780E-F9995FD4A3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0771" y="2456783"/>
            <a:ext cx="489716" cy="489716"/>
          </a:xfrm>
          <a:prstGeom prst="rect">
            <a:avLst/>
          </a:prstGeom>
        </p:spPr>
      </p:pic>
      <p:sp>
        <p:nvSpPr>
          <p:cNvPr id="1718" name="Rectangle 1717">
            <a:extLst>
              <a:ext uri="{FF2B5EF4-FFF2-40B4-BE49-F238E27FC236}">
                <a16:creationId xmlns:a16="http://schemas.microsoft.com/office/drawing/2014/main" id="{06477BC5-458F-DED6-3B46-367C937D23D8}"/>
              </a:ext>
            </a:extLst>
          </p:cNvPr>
          <p:cNvSpPr/>
          <p:nvPr/>
        </p:nvSpPr>
        <p:spPr>
          <a:xfrm>
            <a:off x="8945235" y="1797219"/>
            <a:ext cx="1881415" cy="34666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HPC</a:t>
            </a:r>
          </a:p>
        </p:txBody>
      </p:sp>
      <p:sp>
        <p:nvSpPr>
          <p:cNvPr id="1719" name="Rectangle 1718">
            <a:extLst>
              <a:ext uri="{FF2B5EF4-FFF2-40B4-BE49-F238E27FC236}">
                <a16:creationId xmlns:a16="http://schemas.microsoft.com/office/drawing/2014/main" id="{1AD4175C-84DF-9B26-7525-04EA797574BC}"/>
              </a:ext>
            </a:extLst>
          </p:cNvPr>
          <p:cNvSpPr/>
          <p:nvPr/>
        </p:nvSpPr>
        <p:spPr>
          <a:xfrm>
            <a:off x="8945235" y="2180787"/>
            <a:ext cx="1881415" cy="830251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Real Time Vehicle Computer</a:t>
            </a:r>
          </a:p>
        </p:txBody>
      </p:sp>
      <p:sp>
        <p:nvSpPr>
          <p:cNvPr id="1720" name="Rectangle 1719">
            <a:extLst>
              <a:ext uri="{FF2B5EF4-FFF2-40B4-BE49-F238E27FC236}">
                <a16:creationId xmlns:a16="http://schemas.microsoft.com/office/drawing/2014/main" id="{702B3C61-25A8-7CCC-9664-4BA3D5BD9FC1}"/>
              </a:ext>
            </a:extLst>
          </p:cNvPr>
          <p:cNvSpPr/>
          <p:nvPr/>
        </p:nvSpPr>
        <p:spPr>
          <a:xfrm>
            <a:off x="9001495" y="1947530"/>
            <a:ext cx="853351" cy="17491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ADAS</a:t>
            </a:r>
          </a:p>
        </p:txBody>
      </p:sp>
      <p:sp>
        <p:nvSpPr>
          <p:cNvPr id="1721" name="Rectangle 1720">
            <a:extLst>
              <a:ext uri="{FF2B5EF4-FFF2-40B4-BE49-F238E27FC236}">
                <a16:creationId xmlns:a16="http://schemas.microsoft.com/office/drawing/2014/main" id="{2524C7DE-D81D-3FCD-5D0D-2CD9599971CE}"/>
              </a:ext>
            </a:extLst>
          </p:cNvPr>
          <p:cNvSpPr/>
          <p:nvPr/>
        </p:nvSpPr>
        <p:spPr>
          <a:xfrm>
            <a:off x="9880042" y="1950783"/>
            <a:ext cx="896058" cy="1710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IVI</a:t>
            </a:r>
          </a:p>
        </p:txBody>
      </p:sp>
      <p:pic>
        <p:nvPicPr>
          <p:cNvPr id="1725" name="Graphic 1724" descr="Web cam outline">
            <a:extLst>
              <a:ext uri="{FF2B5EF4-FFF2-40B4-BE49-F238E27FC236}">
                <a16:creationId xmlns:a16="http://schemas.microsoft.com/office/drawing/2014/main" id="{B886D23C-8788-E5E3-65E5-7E3E365103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4444" y="1848064"/>
            <a:ext cx="273807" cy="273807"/>
          </a:xfrm>
          <a:prstGeom prst="rect">
            <a:avLst/>
          </a:prstGeom>
        </p:spPr>
      </p:pic>
      <p:pic>
        <p:nvPicPr>
          <p:cNvPr id="1726" name="Graphic 1725" descr="Web cam outline">
            <a:extLst>
              <a:ext uri="{FF2B5EF4-FFF2-40B4-BE49-F238E27FC236}">
                <a16:creationId xmlns:a16="http://schemas.microsoft.com/office/drawing/2014/main" id="{57E89649-6F7C-39C9-96D2-6A47EF84E0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5235" y="1970551"/>
            <a:ext cx="257318" cy="257318"/>
          </a:xfrm>
          <a:prstGeom prst="rect">
            <a:avLst/>
          </a:prstGeom>
        </p:spPr>
      </p:pic>
      <p:cxnSp>
        <p:nvCxnSpPr>
          <p:cNvPr id="1727" name="Straight Connector 1726">
            <a:extLst>
              <a:ext uri="{FF2B5EF4-FFF2-40B4-BE49-F238E27FC236}">
                <a16:creationId xmlns:a16="http://schemas.microsoft.com/office/drawing/2014/main" id="{9580B29C-C3BA-11D5-F8CC-E9A1D5E3CE47}"/>
              </a:ext>
            </a:extLst>
          </p:cNvPr>
          <p:cNvCxnSpPr>
            <a:cxnSpLocks/>
            <a:stCxn id="1726" idx="0"/>
            <a:endCxn id="1718" idx="1"/>
          </p:cNvCxnSpPr>
          <p:nvPr/>
        </p:nvCxnSpPr>
        <p:spPr>
          <a:xfrm>
            <a:off x="8763894" y="1970551"/>
            <a:ext cx="1813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28" name="図 1173" descr="黒い背景と男性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13592F1E-7203-A7EF-018E-0A0D80CDD3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9734" y="2407472"/>
            <a:ext cx="489716" cy="489716"/>
          </a:xfrm>
          <a:prstGeom prst="rect">
            <a:avLst/>
          </a:prstGeom>
        </p:spPr>
      </p:pic>
      <p:sp>
        <p:nvSpPr>
          <p:cNvPr id="1729" name="Rectangle 1728">
            <a:extLst>
              <a:ext uri="{FF2B5EF4-FFF2-40B4-BE49-F238E27FC236}">
                <a16:creationId xmlns:a16="http://schemas.microsoft.com/office/drawing/2014/main" id="{C9A658CD-0A17-3AC5-4739-C14E8DACFC9F}"/>
              </a:ext>
            </a:extLst>
          </p:cNvPr>
          <p:cNvSpPr/>
          <p:nvPr/>
        </p:nvSpPr>
        <p:spPr>
          <a:xfrm>
            <a:off x="4029548" y="1269859"/>
            <a:ext cx="7944207" cy="444398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1D49876D-3339-C14A-5A2A-2D9924E7C8CA}"/>
              </a:ext>
            </a:extLst>
          </p:cNvPr>
          <p:cNvSpPr txBox="1"/>
          <p:nvPr/>
        </p:nvSpPr>
        <p:spPr>
          <a:xfrm>
            <a:off x="7162811" y="109881"/>
            <a:ext cx="4943819" cy="3385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# 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ADAS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, 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IVI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 and 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Drivetrain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 remain separated</a:t>
            </a:r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37EDB777-4103-265A-7704-A28154EFEF90}"/>
              </a:ext>
            </a:extLst>
          </p:cNvPr>
          <p:cNvSpPr txBox="1"/>
          <p:nvPr/>
        </p:nvSpPr>
        <p:spPr>
          <a:xfrm>
            <a:off x="6805916" y="1274590"/>
            <a:ext cx="249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Intelligent Zones</a:t>
            </a:r>
          </a:p>
        </p:txBody>
      </p:sp>
      <p:sp>
        <p:nvSpPr>
          <p:cNvPr id="1732" name="TextBox 1731">
            <a:extLst>
              <a:ext uri="{FF2B5EF4-FFF2-40B4-BE49-F238E27FC236}">
                <a16:creationId xmlns:a16="http://schemas.microsoft.com/office/drawing/2014/main" id="{64527D4B-69DF-43EB-8CF4-CB946DAE6DAA}"/>
              </a:ext>
            </a:extLst>
          </p:cNvPr>
          <p:cNvSpPr txBox="1"/>
          <p:nvPr/>
        </p:nvSpPr>
        <p:spPr>
          <a:xfrm>
            <a:off x="4666153" y="1218257"/>
            <a:ext cx="2364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“Body”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Integration</a:t>
            </a:r>
          </a:p>
        </p:txBody>
      </p:sp>
      <p:sp>
        <p:nvSpPr>
          <p:cNvPr id="1733" name="TextBox 1732">
            <a:extLst>
              <a:ext uri="{FF2B5EF4-FFF2-40B4-BE49-F238E27FC236}">
                <a16:creationId xmlns:a16="http://schemas.microsoft.com/office/drawing/2014/main" id="{26A85220-BB9F-B0E7-D371-679005A6AF93}"/>
              </a:ext>
            </a:extLst>
          </p:cNvPr>
          <p:cNvSpPr txBox="1"/>
          <p:nvPr/>
        </p:nvSpPr>
        <p:spPr>
          <a:xfrm>
            <a:off x="8491972" y="1238661"/>
            <a:ext cx="28233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“X-Domain”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Integration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Google Sans"/>
              <a:ea typeface="メイリオ"/>
              <a:cs typeface="+mn-cs"/>
            </a:endParaRPr>
          </a:p>
        </p:txBody>
      </p:sp>
      <p:cxnSp>
        <p:nvCxnSpPr>
          <p:cNvPr id="1735" name="Connector: Elbow 1734">
            <a:extLst>
              <a:ext uri="{FF2B5EF4-FFF2-40B4-BE49-F238E27FC236}">
                <a16:creationId xmlns:a16="http://schemas.microsoft.com/office/drawing/2014/main" id="{3EA0410A-6B09-CAA9-687D-55FE0829C547}"/>
              </a:ext>
            </a:extLst>
          </p:cNvPr>
          <p:cNvCxnSpPr>
            <a:cxnSpLocks/>
            <a:stCxn id="1708" idx="2"/>
          </p:cNvCxnSpPr>
          <p:nvPr/>
        </p:nvCxnSpPr>
        <p:spPr>
          <a:xfrm rot="16200000" flipH="1">
            <a:off x="5460735" y="3396253"/>
            <a:ext cx="784111" cy="2788"/>
          </a:xfrm>
          <a:prstGeom prst="bent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8" name="Connector: Elbow 1737">
            <a:extLst>
              <a:ext uri="{FF2B5EF4-FFF2-40B4-BE49-F238E27FC236}">
                <a16:creationId xmlns:a16="http://schemas.microsoft.com/office/drawing/2014/main" id="{92620266-73D5-7538-81AE-C399E0C6495E}"/>
              </a:ext>
            </a:extLst>
          </p:cNvPr>
          <p:cNvCxnSpPr/>
          <p:nvPr/>
        </p:nvCxnSpPr>
        <p:spPr>
          <a:xfrm rot="16200000" flipH="1">
            <a:off x="9555667" y="3387574"/>
            <a:ext cx="775562" cy="2287"/>
          </a:xfrm>
          <a:prstGeom prst="bent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9" name="TextBox 1738">
            <a:extLst>
              <a:ext uri="{FF2B5EF4-FFF2-40B4-BE49-F238E27FC236}">
                <a16:creationId xmlns:a16="http://schemas.microsoft.com/office/drawing/2014/main" id="{194A1B09-B7A7-A985-DA90-8CF39A591EE1}"/>
              </a:ext>
            </a:extLst>
          </p:cNvPr>
          <p:cNvSpPr txBox="1"/>
          <p:nvPr/>
        </p:nvSpPr>
        <p:spPr>
          <a:xfrm>
            <a:off x="623892" y="3190556"/>
            <a:ext cx="785926" cy="28601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100MB /1Gb</a:t>
            </a:r>
          </a:p>
        </p:txBody>
      </p:sp>
      <p:sp>
        <p:nvSpPr>
          <p:cNvPr id="1740" name="TextBox 1739">
            <a:extLst>
              <a:ext uri="{FF2B5EF4-FFF2-40B4-BE49-F238E27FC236}">
                <a16:creationId xmlns:a16="http://schemas.microsoft.com/office/drawing/2014/main" id="{D63C1A53-1E74-6EAD-C270-7D8393C16FDE}"/>
              </a:ext>
            </a:extLst>
          </p:cNvPr>
          <p:cNvSpPr txBox="1"/>
          <p:nvPr/>
        </p:nvSpPr>
        <p:spPr>
          <a:xfrm>
            <a:off x="5235528" y="3194642"/>
            <a:ext cx="566910" cy="23435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100MB </a:t>
            </a:r>
          </a:p>
        </p:txBody>
      </p:sp>
      <p:sp>
        <p:nvSpPr>
          <p:cNvPr id="1741" name="TextBox 1740">
            <a:extLst>
              <a:ext uri="{FF2B5EF4-FFF2-40B4-BE49-F238E27FC236}">
                <a16:creationId xmlns:a16="http://schemas.microsoft.com/office/drawing/2014/main" id="{20916080-E819-F263-1C12-405C3E06891B}"/>
              </a:ext>
            </a:extLst>
          </p:cNvPr>
          <p:cNvSpPr txBox="1"/>
          <p:nvPr/>
        </p:nvSpPr>
        <p:spPr>
          <a:xfrm>
            <a:off x="9297464" y="3136069"/>
            <a:ext cx="591309" cy="2052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1GB </a:t>
            </a:r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317186AD-1A5E-635E-9CD7-35CD9EE483B4}"/>
              </a:ext>
            </a:extLst>
          </p:cNvPr>
          <p:cNvSpPr txBox="1"/>
          <p:nvPr/>
        </p:nvSpPr>
        <p:spPr>
          <a:xfrm>
            <a:off x="2758148" y="5817591"/>
            <a:ext cx="1254094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~3 OEMS</a:t>
            </a:r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D6CD1593-D057-FD19-7D98-AE1B64B96E5D}"/>
              </a:ext>
            </a:extLst>
          </p:cNvPr>
          <p:cNvSpPr txBox="1"/>
          <p:nvPr/>
        </p:nvSpPr>
        <p:spPr>
          <a:xfrm>
            <a:off x="5470193" y="5799682"/>
            <a:ext cx="119671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~6 OEMS</a:t>
            </a:r>
          </a:p>
        </p:txBody>
      </p:sp>
      <p:sp>
        <p:nvSpPr>
          <p:cNvPr id="1747" name="TextBox 1746">
            <a:extLst>
              <a:ext uri="{FF2B5EF4-FFF2-40B4-BE49-F238E27FC236}">
                <a16:creationId xmlns:a16="http://schemas.microsoft.com/office/drawing/2014/main" id="{135F9F1D-8A9D-20D1-B8BC-37D07B509E35}"/>
              </a:ext>
            </a:extLst>
          </p:cNvPr>
          <p:cNvSpPr txBox="1"/>
          <p:nvPr/>
        </p:nvSpPr>
        <p:spPr>
          <a:xfrm>
            <a:off x="9378957" y="5817591"/>
            <a:ext cx="119671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~6 OEMS</a:t>
            </a:r>
          </a:p>
        </p:txBody>
      </p:sp>
      <p:sp>
        <p:nvSpPr>
          <p:cNvPr id="1748" name="Arrow: Curved Up 1747">
            <a:extLst>
              <a:ext uri="{FF2B5EF4-FFF2-40B4-BE49-F238E27FC236}">
                <a16:creationId xmlns:a16="http://schemas.microsoft.com/office/drawing/2014/main" id="{6B0F6D55-2E6C-DEBB-C900-993250F3E13B}"/>
              </a:ext>
            </a:extLst>
          </p:cNvPr>
          <p:cNvSpPr/>
          <p:nvPr/>
        </p:nvSpPr>
        <p:spPr>
          <a:xfrm rot="5400000">
            <a:off x="9963941" y="3315763"/>
            <a:ext cx="490321" cy="205118"/>
          </a:xfrm>
          <a:prstGeom prst="curvedUpArrow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749" name="Arrow: Curved Up 1748">
            <a:extLst>
              <a:ext uri="{FF2B5EF4-FFF2-40B4-BE49-F238E27FC236}">
                <a16:creationId xmlns:a16="http://schemas.microsoft.com/office/drawing/2014/main" id="{ED27206C-E32B-1C45-F550-2CCD3990FFF3}"/>
              </a:ext>
            </a:extLst>
          </p:cNvPr>
          <p:cNvSpPr/>
          <p:nvPr/>
        </p:nvSpPr>
        <p:spPr>
          <a:xfrm rot="16200000">
            <a:off x="10268397" y="3295993"/>
            <a:ext cx="490321" cy="202833"/>
          </a:xfrm>
          <a:prstGeom prst="curvedUpArrow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750" name="TextBox 1749">
            <a:extLst>
              <a:ext uri="{FF2B5EF4-FFF2-40B4-BE49-F238E27FC236}">
                <a16:creationId xmlns:a16="http://schemas.microsoft.com/office/drawing/2014/main" id="{36BF8B8C-A7FC-CF6D-511B-7446ACF6608A}"/>
              </a:ext>
            </a:extLst>
          </p:cNvPr>
          <p:cNvSpPr txBox="1"/>
          <p:nvPr/>
        </p:nvSpPr>
        <p:spPr>
          <a:xfrm>
            <a:off x="10745290" y="3215109"/>
            <a:ext cx="1081269" cy="33407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ETH Ring /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Hybrid Architecture</a:t>
            </a:r>
          </a:p>
        </p:txBody>
      </p:sp>
      <p:sp>
        <p:nvSpPr>
          <p:cNvPr id="1752" name="TextBox 1751">
            <a:extLst>
              <a:ext uri="{FF2B5EF4-FFF2-40B4-BE49-F238E27FC236}">
                <a16:creationId xmlns:a16="http://schemas.microsoft.com/office/drawing/2014/main" id="{DAABCF84-15BE-0F95-5F22-8CC996E2C6D5}"/>
              </a:ext>
            </a:extLst>
          </p:cNvPr>
          <p:cNvSpPr txBox="1"/>
          <p:nvPr/>
        </p:nvSpPr>
        <p:spPr>
          <a:xfrm>
            <a:off x="4043836" y="4735798"/>
            <a:ext cx="593192" cy="286014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10BT1-S</a:t>
            </a:r>
          </a:p>
        </p:txBody>
      </p:sp>
      <p:sp>
        <p:nvSpPr>
          <p:cNvPr id="1753" name="TextBox 1752">
            <a:extLst>
              <a:ext uri="{FF2B5EF4-FFF2-40B4-BE49-F238E27FC236}">
                <a16:creationId xmlns:a16="http://schemas.microsoft.com/office/drawing/2014/main" id="{FBC43796-516E-58A4-00C6-3D010BA78699}"/>
              </a:ext>
            </a:extLst>
          </p:cNvPr>
          <p:cNvSpPr txBox="1"/>
          <p:nvPr/>
        </p:nvSpPr>
        <p:spPr>
          <a:xfrm>
            <a:off x="7817177" y="4722870"/>
            <a:ext cx="593192" cy="286014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txBody>
          <a:bodyPr wrap="none" lIns="36000" tIns="36000" rIns="36000" bIns="36000" rtlCol="0" anchor="ctr">
            <a:noAutofit/>
          </a:bodyPr>
          <a:lstStyle>
            <a:defPPr>
              <a:defRPr lang="ja-JP"/>
            </a:defPPr>
            <a:lvl1pPr algn="ctr">
              <a:defRPr sz="1100" b="1">
                <a:latin typeface="Google San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10BT1-S</a:t>
            </a:r>
          </a:p>
        </p:txBody>
      </p:sp>
      <p:grpSp>
        <p:nvGrpSpPr>
          <p:cNvPr id="1756" name="Group 1755">
            <a:extLst>
              <a:ext uri="{FF2B5EF4-FFF2-40B4-BE49-F238E27FC236}">
                <a16:creationId xmlns:a16="http://schemas.microsoft.com/office/drawing/2014/main" id="{4CEEF89C-E0C6-6B5C-D51A-80C4DD267C01}"/>
              </a:ext>
            </a:extLst>
          </p:cNvPr>
          <p:cNvGrpSpPr/>
          <p:nvPr/>
        </p:nvGrpSpPr>
        <p:grpSpPr>
          <a:xfrm>
            <a:off x="1297522" y="4606746"/>
            <a:ext cx="451087" cy="125566"/>
            <a:chOff x="735535" y="5879119"/>
            <a:chExt cx="614914" cy="193477"/>
          </a:xfrm>
        </p:grpSpPr>
        <p:sp>
          <p:nvSpPr>
            <p:cNvPr id="1754" name="Rectangle 1753">
              <a:extLst>
                <a:ext uri="{FF2B5EF4-FFF2-40B4-BE49-F238E27FC236}">
                  <a16:creationId xmlns:a16="http://schemas.microsoft.com/office/drawing/2014/main" id="{37B6D74B-7007-43DA-1E8C-4865CAF1120F}"/>
                </a:ext>
              </a:extLst>
            </p:cNvPr>
            <p:cNvSpPr/>
            <p:nvPr/>
          </p:nvSpPr>
          <p:spPr>
            <a:xfrm>
              <a:off x="735535" y="5879119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ETH</a:t>
              </a:r>
            </a:p>
          </p:txBody>
        </p:sp>
        <p:sp>
          <p:nvSpPr>
            <p:cNvPr id="1755" name="Rectangle 1754">
              <a:extLst>
                <a:ext uri="{FF2B5EF4-FFF2-40B4-BE49-F238E27FC236}">
                  <a16:creationId xmlns:a16="http://schemas.microsoft.com/office/drawing/2014/main" id="{78204754-4CDB-DF4A-1F25-E62633ABE096}"/>
                </a:ext>
              </a:extLst>
            </p:cNvPr>
            <p:cNvSpPr/>
            <p:nvPr/>
          </p:nvSpPr>
          <p:spPr>
            <a:xfrm>
              <a:off x="1059828" y="5881812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CAN</a:t>
              </a:r>
            </a:p>
          </p:txBody>
        </p:sp>
      </p:grpSp>
      <p:grpSp>
        <p:nvGrpSpPr>
          <p:cNvPr id="1757" name="Group 1756">
            <a:extLst>
              <a:ext uri="{FF2B5EF4-FFF2-40B4-BE49-F238E27FC236}">
                <a16:creationId xmlns:a16="http://schemas.microsoft.com/office/drawing/2014/main" id="{F8B3B587-A098-96C1-E64E-93DE1C50B431}"/>
              </a:ext>
            </a:extLst>
          </p:cNvPr>
          <p:cNvGrpSpPr/>
          <p:nvPr/>
        </p:nvGrpSpPr>
        <p:grpSpPr>
          <a:xfrm>
            <a:off x="6186275" y="4571856"/>
            <a:ext cx="451086" cy="125566"/>
            <a:chOff x="735535" y="5879119"/>
            <a:chExt cx="614914" cy="193477"/>
          </a:xfrm>
        </p:grpSpPr>
        <p:sp>
          <p:nvSpPr>
            <p:cNvPr id="1758" name="Rectangle 1757">
              <a:extLst>
                <a:ext uri="{FF2B5EF4-FFF2-40B4-BE49-F238E27FC236}">
                  <a16:creationId xmlns:a16="http://schemas.microsoft.com/office/drawing/2014/main" id="{AC315F87-0D13-466F-5704-D9A6B9F29ABA}"/>
                </a:ext>
              </a:extLst>
            </p:cNvPr>
            <p:cNvSpPr/>
            <p:nvPr/>
          </p:nvSpPr>
          <p:spPr>
            <a:xfrm>
              <a:off x="735535" y="5879119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ETH</a:t>
              </a:r>
            </a:p>
          </p:txBody>
        </p:sp>
        <p:sp>
          <p:nvSpPr>
            <p:cNvPr id="1759" name="Rectangle 1758">
              <a:extLst>
                <a:ext uri="{FF2B5EF4-FFF2-40B4-BE49-F238E27FC236}">
                  <a16:creationId xmlns:a16="http://schemas.microsoft.com/office/drawing/2014/main" id="{18C5D26A-FCD2-84F9-96E7-386829B323C0}"/>
                </a:ext>
              </a:extLst>
            </p:cNvPr>
            <p:cNvSpPr/>
            <p:nvPr/>
          </p:nvSpPr>
          <p:spPr>
            <a:xfrm>
              <a:off x="1059828" y="5881812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CAN</a:t>
              </a:r>
            </a:p>
          </p:txBody>
        </p:sp>
      </p:grpSp>
      <p:grpSp>
        <p:nvGrpSpPr>
          <p:cNvPr id="1760" name="Group 1759">
            <a:extLst>
              <a:ext uri="{FF2B5EF4-FFF2-40B4-BE49-F238E27FC236}">
                <a16:creationId xmlns:a16="http://schemas.microsoft.com/office/drawing/2014/main" id="{8AD08A1C-8793-6A16-AF44-6387EAAFC4A3}"/>
              </a:ext>
            </a:extLst>
          </p:cNvPr>
          <p:cNvGrpSpPr/>
          <p:nvPr/>
        </p:nvGrpSpPr>
        <p:grpSpPr>
          <a:xfrm>
            <a:off x="10636406" y="4556550"/>
            <a:ext cx="451086" cy="125566"/>
            <a:chOff x="735535" y="5879119"/>
            <a:chExt cx="614914" cy="193477"/>
          </a:xfrm>
        </p:grpSpPr>
        <p:sp>
          <p:nvSpPr>
            <p:cNvPr id="1761" name="Rectangle 1760">
              <a:extLst>
                <a:ext uri="{FF2B5EF4-FFF2-40B4-BE49-F238E27FC236}">
                  <a16:creationId xmlns:a16="http://schemas.microsoft.com/office/drawing/2014/main" id="{C9B938D4-1BA5-A69A-9458-311CB26668A4}"/>
                </a:ext>
              </a:extLst>
            </p:cNvPr>
            <p:cNvSpPr/>
            <p:nvPr/>
          </p:nvSpPr>
          <p:spPr>
            <a:xfrm>
              <a:off x="735535" y="5879119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ETH</a:t>
              </a:r>
            </a:p>
          </p:txBody>
        </p:sp>
        <p:sp>
          <p:nvSpPr>
            <p:cNvPr id="1762" name="Rectangle 1761">
              <a:extLst>
                <a:ext uri="{FF2B5EF4-FFF2-40B4-BE49-F238E27FC236}">
                  <a16:creationId xmlns:a16="http://schemas.microsoft.com/office/drawing/2014/main" id="{F66DD9C2-70A8-2252-0EDC-4CC5D63032A5}"/>
                </a:ext>
              </a:extLst>
            </p:cNvPr>
            <p:cNvSpPr/>
            <p:nvPr/>
          </p:nvSpPr>
          <p:spPr>
            <a:xfrm>
              <a:off x="1059828" y="5881812"/>
              <a:ext cx="290621" cy="19078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Google Sans"/>
                  <a:ea typeface="メイリオ"/>
                  <a:cs typeface="+mn-cs"/>
                </a:rPr>
                <a:t>CAN</a:t>
              </a:r>
            </a:p>
          </p:txBody>
        </p:sp>
      </p:grpSp>
      <p:sp>
        <p:nvSpPr>
          <p:cNvPr id="1764" name="Rectangle 1763">
            <a:extLst>
              <a:ext uri="{FF2B5EF4-FFF2-40B4-BE49-F238E27FC236}">
                <a16:creationId xmlns:a16="http://schemas.microsoft.com/office/drawing/2014/main" id="{38508575-5FE7-113F-361B-B8360DC61F56}"/>
              </a:ext>
            </a:extLst>
          </p:cNvPr>
          <p:cNvSpPr/>
          <p:nvPr/>
        </p:nvSpPr>
        <p:spPr>
          <a:xfrm>
            <a:off x="1315634" y="4972520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SW Less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ECU</a:t>
            </a:r>
          </a:p>
        </p:txBody>
      </p:sp>
      <p:sp>
        <p:nvSpPr>
          <p:cNvPr id="1765" name="Rectangle 1764">
            <a:extLst>
              <a:ext uri="{FF2B5EF4-FFF2-40B4-BE49-F238E27FC236}">
                <a16:creationId xmlns:a16="http://schemas.microsoft.com/office/drawing/2014/main" id="{58C2B230-EBBA-B907-2F4E-3D36F415C1DB}"/>
              </a:ext>
            </a:extLst>
          </p:cNvPr>
          <p:cNvSpPr/>
          <p:nvPr/>
        </p:nvSpPr>
        <p:spPr>
          <a:xfrm>
            <a:off x="1467005" y="5209736"/>
            <a:ext cx="451086" cy="200945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cxnSp>
        <p:nvCxnSpPr>
          <p:cNvPr id="1766" name="Straight Connector 1765">
            <a:extLst>
              <a:ext uri="{FF2B5EF4-FFF2-40B4-BE49-F238E27FC236}">
                <a16:creationId xmlns:a16="http://schemas.microsoft.com/office/drawing/2014/main" id="{69C26490-ED8D-64FD-9905-78C685593ED3}"/>
              </a:ext>
            </a:extLst>
          </p:cNvPr>
          <p:cNvCxnSpPr>
            <a:cxnSpLocks/>
            <a:stCxn id="1764" idx="0"/>
            <a:endCxn id="9" idx="2"/>
          </p:cNvCxnSpPr>
          <p:nvPr/>
        </p:nvCxnSpPr>
        <p:spPr>
          <a:xfrm flipV="1">
            <a:off x="1541177" y="4763810"/>
            <a:ext cx="927" cy="208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0" name="Rectangle 1769">
            <a:extLst>
              <a:ext uri="{FF2B5EF4-FFF2-40B4-BE49-F238E27FC236}">
                <a16:creationId xmlns:a16="http://schemas.microsoft.com/office/drawing/2014/main" id="{7CEF628E-2426-A2A0-5090-FBDC1D80851C}"/>
              </a:ext>
            </a:extLst>
          </p:cNvPr>
          <p:cNvSpPr/>
          <p:nvPr/>
        </p:nvSpPr>
        <p:spPr>
          <a:xfrm>
            <a:off x="4711133" y="5261284"/>
            <a:ext cx="451086" cy="200945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sp>
        <p:nvSpPr>
          <p:cNvPr id="1771" name="Rectangle 1770">
            <a:extLst>
              <a:ext uri="{FF2B5EF4-FFF2-40B4-BE49-F238E27FC236}">
                <a16:creationId xmlns:a16="http://schemas.microsoft.com/office/drawing/2014/main" id="{3574FF38-DCE1-F376-0773-BC8EB2F6EB2A}"/>
              </a:ext>
            </a:extLst>
          </p:cNvPr>
          <p:cNvSpPr/>
          <p:nvPr/>
        </p:nvSpPr>
        <p:spPr>
          <a:xfrm>
            <a:off x="8611347" y="5288839"/>
            <a:ext cx="451086" cy="200945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sp>
        <p:nvSpPr>
          <p:cNvPr id="1773" name="Rectangle 1772">
            <a:extLst>
              <a:ext uri="{FF2B5EF4-FFF2-40B4-BE49-F238E27FC236}">
                <a16:creationId xmlns:a16="http://schemas.microsoft.com/office/drawing/2014/main" id="{8DCD203C-1E5D-1081-A044-A67376B2A747}"/>
              </a:ext>
            </a:extLst>
          </p:cNvPr>
          <p:cNvSpPr/>
          <p:nvPr/>
        </p:nvSpPr>
        <p:spPr>
          <a:xfrm>
            <a:off x="6272156" y="4932932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SW Less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ECU</a:t>
            </a:r>
          </a:p>
        </p:txBody>
      </p:sp>
      <p:cxnSp>
        <p:nvCxnSpPr>
          <p:cNvPr id="1774" name="Straight Connector 1773">
            <a:extLst>
              <a:ext uri="{FF2B5EF4-FFF2-40B4-BE49-F238E27FC236}">
                <a16:creationId xmlns:a16="http://schemas.microsoft.com/office/drawing/2014/main" id="{0806E9DB-34A7-BB91-58BA-784C94CACCAE}"/>
              </a:ext>
            </a:extLst>
          </p:cNvPr>
          <p:cNvCxnSpPr>
            <a:cxnSpLocks/>
            <a:stCxn id="1773" idx="0"/>
          </p:cNvCxnSpPr>
          <p:nvPr/>
        </p:nvCxnSpPr>
        <p:spPr>
          <a:xfrm flipV="1">
            <a:off x="6497699" y="4748084"/>
            <a:ext cx="0" cy="18484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8" name="Rectangle 1777">
            <a:extLst>
              <a:ext uri="{FF2B5EF4-FFF2-40B4-BE49-F238E27FC236}">
                <a16:creationId xmlns:a16="http://schemas.microsoft.com/office/drawing/2014/main" id="{2F81570F-D85E-0CD4-80CA-9545A82D157F}"/>
              </a:ext>
            </a:extLst>
          </p:cNvPr>
          <p:cNvSpPr/>
          <p:nvPr/>
        </p:nvSpPr>
        <p:spPr>
          <a:xfrm>
            <a:off x="6392337" y="5170817"/>
            <a:ext cx="451086" cy="200945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sp>
        <p:nvSpPr>
          <p:cNvPr id="1779" name="Rectangle 1778">
            <a:extLst>
              <a:ext uri="{FF2B5EF4-FFF2-40B4-BE49-F238E27FC236}">
                <a16:creationId xmlns:a16="http://schemas.microsoft.com/office/drawing/2014/main" id="{97F3AFAD-06FA-F39F-B775-11973C15B553}"/>
              </a:ext>
            </a:extLst>
          </p:cNvPr>
          <p:cNvSpPr/>
          <p:nvPr/>
        </p:nvSpPr>
        <p:spPr>
          <a:xfrm>
            <a:off x="10655919" y="4905279"/>
            <a:ext cx="451086" cy="25954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SW Less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ECU</a:t>
            </a:r>
          </a:p>
        </p:txBody>
      </p:sp>
      <p:sp>
        <p:nvSpPr>
          <p:cNvPr id="1780" name="Rectangle 1779">
            <a:extLst>
              <a:ext uri="{FF2B5EF4-FFF2-40B4-BE49-F238E27FC236}">
                <a16:creationId xmlns:a16="http://schemas.microsoft.com/office/drawing/2014/main" id="{F96C7F65-CACE-314F-2C83-7DF182A7DE77}"/>
              </a:ext>
            </a:extLst>
          </p:cNvPr>
          <p:cNvSpPr/>
          <p:nvPr/>
        </p:nvSpPr>
        <p:spPr>
          <a:xfrm>
            <a:off x="10776100" y="5111665"/>
            <a:ext cx="451086" cy="200945"/>
          </a:xfrm>
          <a:prstGeom prst="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RCP Server</a:t>
            </a:r>
          </a:p>
        </p:txBody>
      </p:sp>
      <p:cxnSp>
        <p:nvCxnSpPr>
          <p:cNvPr id="1781" name="Straight Connector 1780">
            <a:extLst>
              <a:ext uri="{FF2B5EF4-FFF2-40B4-BE49-F238E27FC236}">
                <a16:creationId xmlns:a16="http://schemas.microsoft.com/office/drawing/2014/main" id="{EDA15823-AC32-3BE9-8252-D0AE584D0974}"/>
              </a:ext>
            </a:extLst>
          </p:cNvPr>
          <p:cNvCxnSpPr>
            <a:cxnSpLocks/>
            <a:stCxn id="1779" idx="0"/>
          </p:cNvCxnSpPr>
          <p:nvPr/>
        </p:nvCxnSpPr>
        <p:spPr>
          <a:xfrm flipV="1">
            <a:off x="10881462" y="4726652"/>
            <a:ext cx="0" cy="1786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186BA75-CCF5-AA0F-93B1-611FDE4AD6A3}"/>
              </a:ext>
            </a:extLst>
          </p:cNvPr>
          <p:cNvSpPr/>
          <p:nvPr/>
        </p:nvSpPr>
        <p:spPr>
          <a:xfrm rot="1138585" flipH="1">
            <a:off x="1579305" y="5578820"/>
            <a:ext cx="1245480" cy="478183"/>
          </a:xfrm>
          <a:prstGeom prst="rightArrow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target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9D591F-1CFB-10F5-C24C-C9A562BA7159}"/>
              </a:ext>
            </a:extLst>
          </p:cNvPr>
          <p:cNvSpPr txBox="1"/>
          <p:nvPr/>
        </p:nvSpPr>
        <p:spPr>
          <a:xfrm>
            <a:off x="5570738" y="296070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E17E2E4-5A01-3859-40F7-93EA6FE10877}"/>
              </a:ext>
            </a:extLst>
          </p:cNvPr>
          <p:cNvSpPr/>
          <p:nvPr/>
        </p:nvSpPr>
        <p:spPr>
          <a:xfrm>
            <a:off x="351091" y="1807533"/>
            <a:ext cx="3420569" cy="2934582"/>
          </a:xfrm>
          <a:prstGeom prst="roundRect">
            <a:avLst>
              <a:gd name="adj" fmla="val 10919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3C3C3B"/>
                </a:solidFill>
                <a:latin typeface="Google Sans"/>
                <a:ea typeface="メイリオ"/>
              </a:rPr>
              <a:t>Key Requirements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  <a:ea typeface="メイリオ"/>
              </a:rPr>
              <a:t>HW Tunneling/Routing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  <a:ea typeface="メイリオ"/>
              </a:rPr>
              <a:t>Low-Latency COMMs protocol conversion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  <a:ea typeface="メイリオ"/>
              </a:rPr>
              <a:t>HW </a:t>
            </a:r>
            <a:r>
              <a:rPr lang="en-US" sz="1200" err="1">
                <a:solidFill>
                  <a:srgbClr val="3C3C3B"/>
                </a:solidFill>
                <a:latin typeface="Google Sans"/>
                <a:ea typeface="メイリオ"/>
              </a:rPr>
              <a:t>MACSec</a:t>
            </a:r>
            <a:endParaRPr lang="en-US" sz="1200">
              <a:solidFill>
                <a:srgbClr val="3C3C3B"/>
              </a:solidFill>
              <a:latin typeface="Google Sans"/>
              <a:ea typeface="メイリオ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  <a:ea typeface="メイリオ"/>
              </a:rPr>
              <a:t>Low-Power Core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  <a:ea typeface="メイリオ"/>
              </a:rPr>
              <a:t>Integrated Eth Switch &gt;= 3 ports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&gt;250 I/</a:t>
            </a:r>
            <a:r>
              <a:rPr lang="en-US" sz="1200" err="1">
                <a:solidFill>
                  <a:srgbClr val="3C3C3B"/>
                </a:solidFill>
                <a:latin typeface="Google Sans"/>
              </a:rPr>
              <a:t>Os</a:t>
            </a:r>
            <a:r>
              <a:rPr lang="en-US" sz="1200">
                <a:solidFill>
                  <a:srgbClr val="3C3C3B"/>
                </a:solidFill>
                <a:latin typeface="Google Sans"/>
              </a:rPr>
              <a:t> &amp; &gt;100 Analog Inputs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&gt;1Gb ETH (for latency, not bandwidth)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>
              <a:solidFill>
                <a:srgbClr val="3C3C3B"/>
              </a:solidFill>
              <a:latin typeface="Google Sans"/>
              <a:ea typeface="メイリオ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>
              <a:solidFill>
                <a:srgbClr val="3C3C3B"/>
              </a:solidFill>
              <a:latin typeface="Google Sans"/>
              <a:ea typeface="メイリオ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Google Sans"/>
              <a:ea typeface="メイリオ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AD97D52-B375-7233-9275-AB1B7B14DB76}"/>
              </a:ext>
            </a:extLst>
          </p:cNvPr>
          <p:cNvSpPr/>
          <p:nvPr/>
        </p:nvSpPr>
        <p:spPr>
          <a:xfrm>
            <a:off x="4705308" y="1796197"/>
            <a:ext cx="6825246" cy="2934582"/>
          </a:xfrm>
          <a:prstGeom prst="roundRect">
            <a:avLst>
              <a:gd name="adj" fmla="val 10919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3C3C3B"/>
                </a:solidFill>
                <a:latin typeface="Google Sans"/>
                <a:ea typeface="メイリオ"/>
              </a:rPr>
              <a:t>Key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Scalable Performance =&gt; Up to 10K DMIPS (&gt;=6 Cores)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Up to 24MB NVM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Hypervisor support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Larger SRAM to support ETH Buffers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Up to ASIL-D with Strong QoS and FFI Support =&gt; Mainly for x-Domain Zones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Audio PLL &amp; SRC + TDM/I2S for High Res. Sound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Edge AI/ML Support (Predictive Maintenance, Virtual Sensors, Intrusion detections…)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HW Tunneling/Routing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HW MACSec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Low-Power Core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Integrated Switch &gt;= 3 Ports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3C3C3B"/>
                </a:solidFill>
                <a:latin typeface="Google Sans"/>
              </a:rPr>
              <a:t>&gt;350 I/Os &amp; &gt;100 Analog Inputs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Google Sans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031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BF78-7611-4AB3-0A64-F168A2D4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6638D-9F7D-98AA-5605-ECAE33484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94" y="471566"/>
            <a:ext cx="11061753" cy="443198"/>
          </a:xfrm>
        </p:spPr>
        <p:txBody>
          <a:bodyPr/>
          <a:lstStyle/>
          <a:p>
            <a:r>
              <a:rPr lang="en-US"/>
              <a:t>R-Car U5H Family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7A7B7E-A64A-EDBC-19FD-95C2EFB92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6418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Page </a:t>
            </a:r>
            <a:fld id="{7CABC4B2-2886-4E0A-AABC-EDE495E6497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6418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6418C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7939BA-09FE-7546-5E81-A3B3B402594E}"/>
              </a:ext>
            </a:extLst>
          </p:cNvPr>
          <p:cNvSpPr txBox="1"/>
          <p:nvPr/>
        </p:nvSpPr>
        <p:spPr>
          <a:xfrm>
            <a:off x="436095" y="1033454"/>
            <a:ext cx="11319807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U5H delivers Best‑in‑class perf, connectivity, and system efficiency — minimizes SW complexity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E81E6-3E9F-A76E-63F8-5BF6FDA9947F}"/>
              </a:ext>
            </a:extLst>
          </p:cNvPr>
          <p:cNvSpPr txBox="1"/>
          <p:nvPr/>
        </p:nvSpPr>
        <p:spPr>
          <a:xfrm>
            <a:off x="457092" y="1545820"/>
            <a:ext cx="4841052" cy="33855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Target Applications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3DB7D9A-9EE1-70EB-862D-680033E7246F}"/>
              </a:ext>
            </a:extLst>
          </p:cNvPr>
          <p:cNvSpPr txBox="1">
            <a:spLocks/>
          </p:cNvSpPr>
          <p:nvPr/>
        </p:nvSpPr>
        <p:spPr>
          <a:xfrm>
            <a:off x="457091" y="1919974"/>
            <a:ext cx="4841053" cy="126188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fontAlgn="t">
              <a:lnSpc>
                <a:spcPts val="1500"/>
              </a:lnSpc>
              <a:buNone/>
              <a:defRPr sz="1400" b="1"/>
            </a:lvl1pPr>
            <a:lvl2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  <a:defRPr sz="1200"/>
            </a:lvl2pPr>
            <a:lvl3pPr marL="355600" lvl="2" indent="-177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200">
                <a:latin typeface="Google Sans"/>
              </a:defRPr>
            </a:lvl3pPr>
            <a:lvl4pPr marL="539750" indent="-18415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/>
            </a:lvl4pPr>
            <a:lvl5pPr marL="719138" indent="-179388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000"/>
            </a:lvl9pPr>
          </a:lstStyle>
          <a:p>
            <a:pPr marL="355600" marR="0" lvl="2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Zone Controllers</a:t>
            </a:r>
          </a:p>
          <a:p>
            <a:pPr marL="355600" marR="0" lvl="2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IO Aggregators</a:t>
            </a:r>
          </a:p>
          <a:p>
            <a:pPr marL="355600" marR="0" lvl="2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Domain Controllers</a:t>
            </a:r>
          </a:p>
          <a:p>
            <a:pPr marL="355600" marR="0" lvl="2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Central Body Controllers &amp; Gateway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B2CD286-8D35-8240-6D62-113CC595D8BE}"/>
              </a:ext>
            </a:extLst>
          </p:cNvPr>
          <p:cNvSpPr txBox="1">
            <a:spLocks/>
          </p:cNvSpPr>
          <p:nvPr/>
        </p:nvSpPr>
        <p:spPr>
          <a:xfrm>
            <a:off x="446592" y="3621466"/>
            <a:ext cx="4851552" cy="271497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fontAlgn="t">
              <a:lnSpc>
                <a:spcPts val="1500"/>
              </a:lnSpc>
              <a:buNone/>
              <a:defRPr sz="1400" b="1"/>
            </a:lvl1pPr>
            <a:lvl2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  <a:defRPr sz="1200"/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ARM 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Cortex-R52+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</a:t>
            </a:r>
            <a:r>
              <a:rPr kumimoji="1" lang="en-US" altLang="ja-JP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up to (5+5 -&gt; 8+2) @ </a:t>
            </a:r>
            <a:r>
              <a:rPr kumimoji="1" lang="en-US" altLang="ja-JP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600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MHz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Edge AI Support: Up to 38 GFOPS (SIMD) + 150 GOPS (U55)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NVM: 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10-24 MB Flash 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/ up to 7 MB RAM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3 x 2.5 Gb </a:t>
            </a:r>
            <a:r>
              <a:rPr kumimoji="1" lang="en-US" altLang="ja-JP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Eth Switch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, 10BT1S, CAN FD/XL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Routing &amp; Tunneling Accelerators (TUBE)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Security: EVITA Full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, ISO21434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, 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HW </a:t>
            </a:r>
            <a:r>
              <a:rPr kumimoji="1" lang="en-US" altLang="zh-CN" sz="1300" b="1" i="0" u="none" strike="noStrike" kern="1200" cap="none" spc="0" normalizeH="0" baseline="0" noProof="0" err="1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MACSec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,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</a:t>
            </a:r>
            <a:r>
              <a:rPr kumimoji="1" lang="en-US" altLang="zh-CN" sz="1300" b="0" i="0" u="none" strike="noStrike" kern="1200" cap="none" spc="0" normalizeH="0" baseline="0" noProof="0" err="1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SecOC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Safety: 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ISO26262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up to 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ASIL-D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Pin Packages: BGA292 and BGA476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500A06-CBE3-3A0D-7351-11797FBE11DF}"/>
              </a:ext>
            </a:extLst>
          </p:cNvPr>
          <p:cNvSpPr txBox="1"/>
          <p:nvPr/>
        </p:nvSpPr>
        <p:spPr>
          <a:xfrm>
            <a:off x="457091" y="3294726"/>
            <a:ext cx="4841053" cy="33855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Key Features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2F956-96F9-948E-3726-8C74898A7A4B}"/>
              </a:ext>
            </a:extLst>
          </p:cNvPr>
          <p:cNvSpPr txBox="1"/>
          <p:nvPr/>
        </p:nvSpPr>
        <p:spPr>
          <a:xfrm>
            <a:off x="5348254" y="4175349"/>
            <a:ext cx="6407648" cy="33855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Benefits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3BC431-C03C-3060-9993-1676C0480FE7}"/>
              </a:ext>
            </a:extLst>
          </p:cNvPr>
          <p:cNvSpPr txBox="1"/>
          <p:nvPr/>
        </p:nvSpPr>
        <p:spPr>
          <a:xfrm>
            <a:off x="5348254" y="4596010"/>
            <a:ext cx="6407648" cy="171588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🔹High Performance with Split-lock Flexibly, FFI &amp; QoS: </a:t>
            </a:r>
          </a:p>
          <a:p>
            <a:pPr marL="628650" marR="0" lvl="1" indent="-1714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R52+ w/ Hypervisor support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🔹Built for Future E/E Networking: </a:t>
            </a:r>
          </a:p>
          <a:p>
            <a:pPr marL="628650" marR="0" lvl="1" indent="-1714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2.5Gb ETH, switch, MACSec, HW IEEE1722 tunneling, lower latency comms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🔹MRAM = Faster, Safer, Lower Power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Higher endurance, Faster updates, Better power efficiency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🔹Reduce BOM &amp; External ICs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High I/O count, 5V Support, Built‑in switch, Fewer expanders, fewer PHYs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D8EBC9-C0E8-FBE7-45F5-46433359BE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123" y="1587217"/>
            <a:ext cx="6314779" cy="244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925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5A050-0A01-4E20-7B08-BCE49F42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A7C77-CB52-EF21-4750-D34D5B1F89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964065"/>
          </a:xfrm>
        </p:spPr>
        <p:txBody>
          <a:bodyPr/>
          <a:lstStyle/>
          <a:p>
            <a:r>
              <a:rPr lang="en-US"/>
              <a:t>Competitive position</a:t>
            </a:r>
          </a:p>
        </p:txBody>
      </p:sp>
    </p:spTree>
    <p:extLst>
      <p:ext uri="{BB962C8B-B14F-4D97-AF65-F5344CB8AC3E}">
        <p14:creationId xmlns:p14="http://schemas.microsoft.com/office/powerpoint/2010/main" val="2497394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0545-6339-F8DA-03E1-2C870D097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00" y="397022"/>
            <a:ext cx="11061753" cy="775597"/>
          </a:xfrm>
        </p:spPr>
        <p:txBody>
          <a:bodyPr/>
          <a:lstStyle/>
          <a:p>
            <a:r>
              <a:rPr lang="en-US" noProof="0">
                <a:latin typeface="Segoe UI" panose="020B0502040204020203" pitchFamily="34" charset="0"/>
              </a:rPr>
              <a:t>U5H</a:t>
            </a:r>
            <a:r>
              <a:rPr lang="en-US">
                <a:latin typeface="Segoe UI" panose="020B0502040204020203" pitchFamily="34" charset="0"/>
              </a:rPr>
              <a:t> Family</a:t>
            </a:r>
            <a:r>
              <a:rPr lang="en-US" noProof="0">
                <a:latin typeface="Segoe UI" panose="020B0502040204020203" pitchFamily="34" charset="0"/>
              </a:rPr>
              <a:t> </a:t>
            </a:r>
            <a:br>
              <a:rPr lang="en-US" noProof="0">
                <a:latin typeface="Segoe UI" panose="020B0502040204020203" pitchFamily="34" charset="0"/>
              </a:rPr>
            </a:br>
            <a:r>
              <a:rPr lang="en-US" sz="2400" b="0" noProof="0">
                <a:latin typeface="Segoe UI" panose="020B0502040204020203" pitchFamily="34" charset="0"/>
              </a:rPr>
              <a:t>The most balanced high-performance zone controller mcu  </a:t>
            </a:r>
            <a:endParaRPr lang="en-US" sz="2400" b="0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BFEDC-B8DF-61C1-9A43-AFAF67038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99989" y="6241378"/>
            <a:ext cx="623392" cy="219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6418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Page </a:t>
            </a:r>
            <a:fld id="{7CABC4B2-2886-4E0A-AABC-EDE495E6497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6418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6418C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41516E-E639-9C80-5D06-325F49ACB4DB}"/>
              </a:ext>
            </a:extLst>
          </p:cNvPr>
          <p:cNvSpPr txBox="1"/>
          <p:nvPr/>
        </p:nvSpPr>
        <p:spPr>
          <a:xfrm>
            <a:off x="345000" y="1273538"/>
            <a:ext cx="1124870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Segoe UI" panose="020B0502040204020203" pitchFamily="34" charset="0"/>
                <a:ea typeface="メイリオ"/>
                <a:cs typeface="+mn-cs"/>
              </a:rPr>
              <a:t>U5H delivers Best‑in‑class perf, connectivity, and system efficiency — without SW complexity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B08B85D-7B17-088F-6D87-673FB261F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308699"/>
              </p:ext>
            </p:extLst>
          </p:nvPr>
        </p:nvGraphicFramePr>
        <p:xfrm>
          <a:off x="345000" y="1771783"/>
          <a:ext cx="7984613" cy="4350171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761054">
                  <a:extLst>
                    <a:ext uri="{9D8B030D-6E8A-4147-A177-3AD203B41FA5}">
                      <a16:colId xmlns:a16="http://schemas.microsoft.com/office/drawing/2014/main" val="2098408292"/>
                    </a:ext>
                  </a:extLst>
                </a:gridCol>
                <a:gridCol w="1244712">
                  <a:extLst>
                    <a:ext uri="{9D8B030D-6E8A-4147-A177-3AD203B41FA5}">
                      <a16:colId xmlns:a16="http://schemas.microsoft.com/office/drawing/2014/main" val="1396953146"/>
                    </a:ext>
                  </a:extLst>
                </a:gridCol>
                <a:gridCol w="920725">
                  <a:extLst>
                    <a:ext uri="{9D8B030D-6E8A-4147-A177-3AD203B41FA5}">
                      <a16:colId xmlns:a16="http://schemas.microsoft.com/office/drawing/2014/main" val="4017690994"/>
                    </a:ext>
                  </a:extLst>
                </a:gridCol>
                <a:gridCol w="877820">
                  <a:extLst>
                    <a:ext uri="{9D8B030D-6E8A-4147-A177-3AD203B41FA5}">
                      <a16:colId xmlns:a16="http://schemas.microsoft.com/office/drawing/2014/main" val="3919501717"/>
                    </a:ext>
                  </a:extLst>
                </a:gridCol>
                <a:gridCol w="964164">
                  <a:extLst>
                    <a:ext uri="{9D8B030D-6E8A-4147-A177-3AD203B41FA5}">
                      <a16:colId xmlns:a16="http://schemas.microsoft.com/office/drawing/2014/main" val="2653523566"/>
                    </a:ext>
                  </a:extLst>
                </a:gridCol>
                <a:gridCol w="2216138">
                  <a:extLst>
                    <a:ext uri="{9D8B030D-6E8A-4147-A177-3AD203B41FA5}">
                      <a16:colId xmlns:a16="http://schemas.microsoft.com/office/drawing/2014/main" val="599087505"/>
                    </a:ext>
                  </a:extLst>
                </a:gridCol>
              </a:tblGrid>
              <a:tr h="34881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b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b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b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b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Notes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821100"/>
                  </a:ext>
                </a:extLst>
              </a:tr>
              <a:tr h="440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</a:rPr>
                        <a:t>Performance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◻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effectLst/>
                        </a:rPr>
                        <a:t>◻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000">
                          <a:effectLst/>
                          <a:latin typeface="Google Sans"/>
                        </a:rPr>
                        <a:t>U5H24 =&gt; </a:t>
                      </a:r>
                      <a:r>
                        <a:rPr lang="en-US" sz="1000" b="1">
                          <a:effectLst/>
                          <a:latin typeface="Google Sans"/>
                        </a:rPr>
                        <a:t>10K</a:t>
                      </a:r>
                      <a:r>
                        <a:rPr lang="en-US" sz="1000">
                          <a:effectLst/>
                          <a:latin typeface="Google Sans"/>
                        </a:rPr>
                        <a:t>, SR6G7 =&gt; 5K, S32K5 =&gt; 11K, TC4Z =&gt; 6,5K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74387"/>
                  </a:ext>
                </a:extLst>
              </a:tr>
              <a:tr h="360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</a:rPr>
                        <a:t>Core homogeneity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kumimoji="1" lang="en-US" sz="1000" kern="1200">
                          <a:solidFill>
                            <a:schemeClr val="dk1"/>
                          </a:solidFill>
                          <a:effectLst/>
                          <a:latin typeface="Google Sans"/>
                          <a:ea typeface="+mn-ea"/>
                          <a:cs typeface="+mn-cs"/>
                        </a:rPr>
                        <a:t>S32K5 =&gt; </a:t>
                      </a:r>
                      <a:r>
                        <a:rPr kumimoji="1" lang="en-US" sz="1000" kern="1200">
                          <a:solidFill>
                            <a:schemeClr val="tx1"/>
                          </a:solidFill>
                          <a:effectLst/>
                          <a:latin typeface="Google Sans"/>
                          <a:ea typeface="+mn-ea"/>
                          <a:cs typeface="+mn-cs"/>
                        </a:rPr>
                        <a:t>R52 &amp; M7 mix 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944721"/>
                  </a:ext>
                </a:extLst>
              </a:tr>
              <a:tr h="360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</a:rPr>
                        <a:t>Edge AI Accelerators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⚠️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effectLst/>
                          <a:latin typeface="Google Sans"/>
                        </a:rPr>
                        <a:t>U5H24 =&gt; </a:t>
                      </a:r>
                      <a:r>
                        <a:rPr kumimoji="1" lang="en-US" altLang="zh-CN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C3C3B"/>
                          </a:solidFill>
                          <a:effectLst/>
                          <a:uLnTx/>
                          <a:uFillTx/>
                          <a:latin typeface="Google Sans"/>
                          <a:ea typeface="+mn-ea"/>
                          <a:cs typeface="+mn-cs"/>
                        </a:rPr>
                        <a:t>38 GFOPS + 150 GOPS (U55); </a:t>
                      </a:r>
                      <a:r>
                        <a:rPr kumimoji="1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C3C3B"/>
                          </a:solidFill>
                          <a:effectLst/>
                          <a:uLnTx/>
                          <a:uFillTx/>
                          <a:latin typeface="Google Sans"/>
                          <a:ea typeface="+mn-ea"/>
                          <a:cs typeface="+mn-cs"/>
                        </a:rPr>
                        <a:t>TC4x =&gt; PPU N/A on ZC; SR6G =&gt; DFA</a:t>
                      </a:r>
                      <a:endParaRPr lang="en-US" sz="1000" b="0">
                        <a:effectLst/>
                        <a:latin typeface="Google Sans"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526773"/>
                  </a:ext>
                </a:extLst>
              </a:tr>
              <a:tr h="440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</a:rPr>
                        <a:t>Flexible core configs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◻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</a:rPr>
                        <a:t>◻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  <a:latin typeface="Google Sans"/>
                        </a:rPr>
                        <a:t>To cover more SW Architectures / Application with same silicon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634304"/>
                  </a:ext>
                </a:extLst>
              </a:tr>
              <a:tr h="360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</a:rPr>
                        <a:t>Integrated switch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  <a:latin typeface="Google Sans"/>
                        </a:rPr>
                        <a:t>&gt;= $2 BOM savings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373008"/>
                  </a:ext>
                </a:extLst>
              </a:tr>
              <a:tr h="360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</a:rPr>
                        <a:t>2.5Gb Ethernet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⚠️ 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  <a:latin typeface="Google Sans"/>
                        </a:rPr>
                        <a:t>TC4x has up to 5Gb, but no switch, so Cores cannot “Consume” &gt; 1GB Traffic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113068"/>
                  </a:ext>
                </a:extLst>
              </a:tr>
              <a:tr h="439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</a:rPr>
                        <a:t>HW IEEE1722 tunneling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  <a:latin typeface="Google Sans"/>
                        </a:rPr>
                        <a:t>HW Solution offers lower latency possible for CAN/LIN Tunneling over ETH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505861"/>
                  </a:ext>
                </a:extLst>
              </a:tr>
              <a:tr h="43981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kumimoji="1" lang="en-US" sz="11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latency COMMs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C3C3B"/>
                          </a:solidFill>
                          <a:effectLst/>
                          <a:uLnTx/>
                          <a:uFillTx/>
                          <a:latin typeface="Arial"/>
                          <a:ea typeface="メイリオ"/>
                          <a:cs typeface="+mn-cs"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C3C3B"/>
                          </a:solidFill>
                          <a:effectLst/>
                          <a:uLnTx/>
                          <a:uFillTx/>
                          <a:latin typeface="Arial"/>
                          <a:ea typeface="メイリオ"/>
                          <a:cs typeface="+mn-cs"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C3C3B"/>
                          </a:solidFill>
                          <a:effectLst/>
                          <a:uLnTx/>
                          <a:uFillTx/>
                          <a:latin typeface="Arial"/>
                          <a:ea typeface="メイリオ"/>
                          <a:cs typeface="+mn-cs"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  <a:latin typeface="Google Sans"/>
                        </a:rPr>
                        <a:t>Nobody has a system like TUBE to support low-latency COMMs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936647"/>
                  </a:ext>
                </a:extLst>
              </a:tr>
              <a:tr h="43981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kumimoji="1" lang="en-US" sz="11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 PLL &amp; SRC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effectLst/>
                          <a:latin typeface="Google Sans"/>
                        </a:rPr>
                        <a:t>~ $1 BOM savings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876887"/>
                  </a:ext>
                </a:extLst>
              </a:tr>
              <a:tr h="360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</a:rPr>
                        <a:t>5V I/O + ADC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◻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✅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❌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  <a:latin typeface="Google Sans"/>
                        </a:rPr>
                        <a:t>For legacy sensors reusage with minimum costs</a:t>
                      </a:r>
                    </a:p>
                  </a:txBody>
                  <a:tcPr marL="30943" marR="30943" marT="15472" marB="15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5259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22FA389-892C-EC2A-5A74-7665F00B7C63}"/>
              </a:ext>
            </a:extLst>
          </p:cNvPr>
          <p:cNvSpPr txBox="1"/>
          <p:nvPr/>
        </p:nvSpPr>
        <p:spPr>
          <a:xfrm>
            <a:off x="8465344" y="1691051"/>
            <a:ext cx="3521869" cy="463246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 High Performance, Simplified Architecture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High core count with split lock flexibility for Application partitioning</a:t>
            </a: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Support Hypervisor</a:t>
            </a: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More SRAM to support Message buffers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🔹Built for Zonal Networking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3x 2.5Gb + 2x 10BT1S w/ integrated switch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メイリオ"/>
              <a:cs typeface="+mn-cs"/>
            </a:endParaRP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HW MACSec</a:t>
            </a: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HW IEEE1722 tunneling</a:t>
            </a: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Lower latency communications (TUBE)</a:t>
            </a: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solidFill>
                  <a:srgbClr val="3C3C3B"/>
                </a:solidFill>
                <a:latin typeface="Arial"/>
                <a:ea typeface="メイリオ"/>
              </a:rPr>
              <a:t>Low power subsystem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 MRAM = Faster, Safer, Lower Power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Higher endurance</a:t>
            </a: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Faster OTA updates</a:t>
            </a: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Better power efficiency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🔹Reduce BOM &amp; External ICs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High I/O count</a:t>
            </a: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5V Support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Built‑in switch </a:t>
            </a:r>
            <a:r>
              <a:rPr lang="en-US" sz="1000">
                <a:solidFill>
                  <a:srgbClr val="3C3C3B"/>
                </a:solidFill>
                <a:highlight>
                  <a:srgbClr val="FFFF00"/>
                </a:highlight>
              </a:rPr>
              <a:t>(-$2)</a:t>
            </a: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>
                <a:solidFill>
                  <a:srgbClr val="3C3C3B"/>
                </a:solidFill>
                <a:latin typeface="Arial"/>
                <a:ea typeface="メイリオ"/>
              </a:rPr>
              <a:t>Audio PLL + SRC </a:t>
            </a:r>
            <a:r>
              <a:rPr lang="en-US" sz="1000">
                <a:solidFill>
                  <a:srgbClr val="3C3C3B"/>
                </a:solidFill>
                <a:highlight>
                  <a:srgbClr val="FFFF00"/>
                </a:highlight>
                <a:latin typeface="Arial"/>
                <a:ea typeface="メイリオ"/>
              </a:rPr>
              <a:t>(-$1)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メイリオ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77716A-A465-A294-ED4F-D5CD7CBA1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53621" y="1786071"/>
            <a:ext cx="454023" cy="31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8A9689C-9472-7B87-E3D7-BFC14A03D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99544" y="1786071"/>
            <a:ext cx="800445" cy="31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7D8DCE2-C813-EEA8-A225-556A0F5B5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1248" y="1793991"/>
            <a:ext cx="654609" cy="288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67BAFDB-A7CE-B1A5-D541-F3D44C2A4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404" y="1864646"/>
            <a:ext cx="1193953" cy="199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469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744BC-0100-9DA7-BD20-4B3D5C47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62B8D-9547-A79F-146D-1BEFF87FB3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964065"/>
          </a:xfrm>
        </p:spPr>
        <p:txBody>
          <a:bodyPr/>
          <a:lstStyle/>
          <a:p>
            <a:r>
              <a:rPr lang="en-US"/>
              <a:t>Product spec - Rationale</a:t>
            </a:r>
          </a:p>
        </p:txBody>
      </p:sp>
    </p:spTree>
    <p:extLst>
      <p:ext uri="{BB962C8B-B14F-4D97-AF65-F5344CB8AC3E}">
        <p14:creationId xmlns:p14="http://schemas.microsoft.com/office/powerpoint/2010/main" val="860399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BF7E-9122-434E-2D8F-9D8FDA0CF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2765"/>
            <a:ext cx="11391056" cy="443198"/>
          </a:xfrm>
        </p:spPr>
        <p:txBody>
          <a:bodyPr/>
          <a:lstStyle/>
          <a:p>
            <a:r>
              <a:rPr lang="en-US"/>
              <a:t>U5H - Before/After </a:t>
            </a:r>
            <a:r>
              <a:rPr lang="en-US" err="1"/>
              <a:t>Obeya</a:t>
            </a:r>
            <a:r>
              <a:rPr lang="en-US"/>
              <a:t> spec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417D31-837D-7CBD-B839-CB5C1A8C7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/>
              <a:t>Page </a:t>
            </a:r>
            <a:fld id="{7CABC4B2-2886-4E0A-AABC-EDE495E6497B}" type="slidenum">
              <a:rPr lang="ja-JP" altLang="en-US" smtClean="0"/>
              <a:pPr/>
              <a:t>14</a:t>
            </a:fld>
            <a:endParaRPr lang="ja-JP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07053-5BF7-A6B8-1BE2-266BEF7C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3" y="914400"/>
            <a:ext cx="5383110" cy="30597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ACE3D-3696-BA0B-C6B4-69AFB2D68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744" y="892998"/>
            <a:ext cx="5477653" cy="30811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1E55C4-1A7E-EEE8-D49F-ABA035DF0965}"/>
              </a:ext>
            </a:extLst>
          </p:cNvPr>
          <p:cNvSpPr txBox="1"/>
          <p:nvPr/>
        </p:nvSpPr>
        <p:spPr>
          <a:xfrm>
            <a:off x="417510" y="4128052"/>
            <a:ext cx="11391055" cy="21427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3 Cores (3+3, no split-lock, no COMMs offloading)	=&gt; 	Up to </a:t>
            </a:r>
            <a:r>
              <a:rPr lang="en-US" sz="1200">
                <a:solidFill>
                  <a:schemeClr val="accent4">
                    <a:lumMod val="75000"/>
                  </a:schemeClr>
                </a:solidFill>
              </a:rPr>
              <a:t>8 + 1 Cores </a:t>
            </a:r>
            <a:r>
              <a:rPr lang="en-US" sz="1200"/>
              <a:t>(Higher Flexibility to cover different SW architectures)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No Hypervisor supported                   		=&gt; 	</a:t>
            </a:r>
            <a:r>
              <a:rPr lang="en-US" sz="1200">
                <a:solidFill>
                  <a:schemeClr val="accent4">
                    <a:lumMod val="75000"/>
                  </a:schemeClr>
                </a:solidFill>
              </a:rPr>
              <a:t>Hypervisor</a:t>
            </a:r>
            <a:r>
              <a:rPr lang="en-US" sz="1200"/>
              <a:t> supported to enable multi-applications on same core with FFI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No LP Core &amp; Peripherals                  		=&gt; 	</a:t>
            </a:r>
            <a:r>
              <a:rPr lang="en-US" sz="1200">
                <a:solidFill>
                  <a:schemeClr val="accent4">
                    <a:lumMod val="75000"/>
                  </a:schemeClr>
                </a:solidFill>
              </a:rPr>
              <a:t>LP Core </a:t>
            </a:r>
            <a:r>
              <a:rPr lang="en-US" sz="1200"/>
              <a:t>+ CAN/LIN to manage inside same MCU more advanced low power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No Edge AI Support                           		=&gt; 	Math Acceleration (SIMD) for AI/ML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No embedded Switch                                           		=&gt; 	</a:t>
            </a:r>
            <a:r>
              <a:rPr lang="en-US" sz="1200">
                <a:solidFill>
                  <a:schemeClr val="accent4">
                    <a:lumMod val="75000"/>
                  </a:schemeClr>
                </a:solidFill>
              </a:rPr>
              <a:t>Integrated switch </a:t>
            </a:r>
            <a:r>
              <a:rPr lang="en-US" sz="1200"/>
              <a:t>to enable up to $2 BOM Savings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No Audio PLL &amp; Sample Rate Conv. (SRC)                         	=&gt; 	</a:t>
            </a:r>
            <a:r>
              <a:rPr lang="en-US" sz="1200">
                <a:solidFill>
                  <a:schemeClr val="accent4">
                    <a:lumMod val="75000"/>
                  </a:schemeClr>
                </a:solidFill>
              </a:rPr>
              <a:t>Audio PLL &amp; SRC </a:t>
            </a:r>
            <a:r>
              <a:rPr lang="en-US" sz="1200"/>
              <a:t>to enable BOM savings ~$1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GTM                                                   		=&gt; 	No GTM (not needed =&gt; less costs)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1:2 SRAM/NVM                                  		=&gt; 	1:3,75 SRAM/NVM =&gt; Better costs and lower leakage, no Flip Chip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BGA516 (25x25)                                 		=&gt; 	</a:t>
            </a:r>
            <a:r>
              <a:rPr lang="en-US" sz="1200">
                <a:solidFill>
                  <a:schemeClr val="accent4">
                    <a:lumMod val="75000"/>
                  </a:schemeClr>
                </a:solidFill>
              </a:rPr>
              <a:t>BGA476</a:t>
            </a:r>
            <a:r>
              <a:rPr lang="en-US" sz="1200"/>
              <a:t> Better costs (</a:t>
            </a:r>
            <a:r>
              <a:rPr lang="en-US" sz="1200">
                <a:solidFill>
                  <a:schemeClr val="accent4">
                    <a:lumMod val="75000"/>
                  </a:schemeClr>
                </a:solidFill>
              </a:rPr>
              <a:t>21x21</a:t>
            </a:r>
            <a:r>
              <a:rPr lang="en-US" sz="1200"/>
              <a:t>), similar number of I/Os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No System Manager Core			=&gt; 	Added </a:t>
            </a:r>
            <a:r>
              <a:rPr lang="en-US" sz="1200">
                <a:solidFill>
                  <a:schemeClr val="accent4">
                    <a:lumMod val="75000"/>
                  </a:schemeClr>
                </a:solidFill>
              </a:rPr>
              <a:t>System Manager Core </a:t>
            </a:r>
            <a:r>
              <a:rPr lang="en-US" sz="1200"/>
              <a:t>(improved FFI, COMMs offloading)    </a:t>
            </a:r>
          </a:p>
        </p:txBody>
      </p:sp>
    </p:spTree>
    <p:extLst>
      <p:ext uri="{BB962C8B-B14F-4D97-AF65-F5344CB8AC3E}">
        <p14:creationId xmlns:p14="http://schemas.microsoft.com/office/powerpoint/2010/main" val="2626656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7001-ABC0-F907-C49D-765AA6CF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7B0AF-8CC0-0192-7D1F-6BA1989C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966" y="283677"/>
            <a:ext cx="11540002" cy="775597"/>
          </a:xfrm>
        </p:spPr>
        <p:txBody>
          <a:bodyPr/>
          <a:lstStyle/>
          <a:p>
            <a:r>
              <a:rPr lang="en-US"/>
              <a:t>U5H Family Concept- </a:t>
            </a:r>
            <a:r>
              <a:rPr lang="en-US" err="1"/>
              <a:t>Obeya</a:t>
            </a:r>
            <a:r>
              <a:rPr lang="en-US"/>
              <a:t> Updates</a:t>
            </a:r>
            <a:br>
              <a:rPr lang="en-US" sz="2400" b="0" noProof="0">
                <a:solidFill>
                  <a:srgbClr val="06418C"/>
                </a:solidFill>
                <a:effectLst/>
                <a:latin typeface="Arial" panose="020B0604020202020204" pitchFamily="34" charset="0"/>
              </a:rPr>
            </a:br>
            <a:endParaRPr lang="en-US" sz="2400" b="0" noProof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24D2FE-7C73-A9C6-FE6C-C601B554B3BA}"/>
              </a:ext>
            </a:extLst>
          </p:cNvPr>
          <p:cNvSpPr txBox="1"/>
          <p:nvPr/>
        </p:nvSpPr>
        <p:spPr>
          <a:xfrm>
            <a:off x="116937" y="1789925"/>
            <a:ext cx="1088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U5H24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246B8D7B-6E03-2ABF-3088-81E4891524F4}"/>
              </a:ext>
            </a:extLst>
          </p:cNvPr>
          <p:cNvSpPr/>
          <p:nvPr/>
        </p:nvSpPr>
        <p:spPr>
          <a:xfrm>
            <a:off x="10572550" y="1824443"/>
            <a:ext cx="708044" cy="9027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7MB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SRAM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724929FD-C136-2261-706A-EFBB2626C766}"/>
              </a:ext>
            </a:extLst>
          </p:cNvPr>
          <p:cNvSpPr/>
          <p:nvPr/>
        </p:nvSpPr>
        <p:spPr>
          <a:xfrm>
            <a:off x="11315924" y="1815698"/>
            <a:ext cx="708044" cy="911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24MB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(NVM)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F991FC5-B621-4E8F-406C-47591C540DFD}"/>
              </a:ext>
            </a:extLst>
          </p:cNvPr>
          <p:cNvGrpSpPr/>
          <p:nvPr/>
        </p:nvGrpSpPr>
        <p:grpSpPr>
          <a:xfrm>
            <a:off x="5734185" y="1824733"/>
            <a:ext cx="754467" cy="906058"/>
            <a:chOff x="4986138" y="1744437"/>
            <a:chExt cx="754467" cy="906058"/>
          </a:xfrm>
        </p:grpSpPr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E50F9E5F-F887-67B3-15DC-6F2DD85A1FCE}"/>
                </a:ext>
              </a:extLst>
            </p:cNvPr>
            <p:cNvSpPr/>
            <p:nvPr/>
          </p:nvSpPr>
          <p:spPr>
            <a:xfrm rot="10800000" flipV="1">
              <a:off x="4991817" y="1754865"/>
              <a:ext cx="748788" cy="895630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Low Power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Sub-system</a:t>
              </a: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DDF1FA33-4632-9EF9-C883-5367C90E482F}"/>
                </a:ext>
              </a:extLst>
            </p:cNvPr>
            <p:cNvSpPr/>
            <p:nvPr/>
          </p:nvSpPr>
          <p:spPr>
            <a:xfrm>
              <a:off x="5113866" y="1893234"/>
              <a:ext cx="492544" cy="25372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M23</a:t>
              </a: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36C0EDC9-6102-12B6-97CC-DA810905A4B9}"/>
                </a:ext>
              </a:extLst>
            </p:cNvPr>
            <p:cNvSpPr/>
            <p:nvPr/>
          </p:nvSpPr>
          <p:spPr>
            <a:xfrm>
              <a:off x="5112947" y="2189214"/>
              <a:ext cx="492544" cy="15750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ADCs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3380E76-2D91-5639-116A-1719742E423F}"/>
                </a:ext>
              </a:extLst>
            </p:cNvPr>
            <p:cNvSpPr/>
            <p:nvPr/>
          </p:nvSpPr>
          <p:spPr>
            <a:xfrm rot="10800000" flipV="1">
              <a:off x="4986138" y="1744437"/>
              <a:ext cx="748788" cy="906058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ea typeface="メイリオ"/>
                  <a:cs typeface="+mn-cs"/>
                </a:rPr>
                <a:t>Low Power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ea typeface="メイリオ"/>
                  <a:cs typeface="+mn-cs"/>
                </a:rPr>
                <a:t>Sub-system</a:t>
              </a: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364915F8-E9FF-4345-7AB1-A22F2D67E017}"/>
                </a:ext>
              </a:extLst>
            </p:cNvPr>
            <p:cNvSpPr/>
            <p:nvPr/>
          </p:nvSpPr>
          <p:spPr>
            <a:xfrm>
              <a:off x="5074396" y="1836758"/>
              <a:ext cx="492544" cy="25372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M23</a:t>
              </a: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183A892A-D54C-7AA8-4E3F-C6E6FEE37D45}"/>
                </a:ext>
              </a:extLst>
            </p:cNvPr>
            <p:cNvSpPr/>
            <p:nvPr/>
          </p:nvSpPr>
          <p:spPr>
            <a:xfrm>
              <a:off x="5071547" y="2112776"/>
              <a:ext cx="615364" cy="13037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LP-ADCs</a:t>
              </a: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524E8EC9-B394-CA79-60AC-95145A08AF55}"/>
                </a:ext>
              </a:extLst>
            </p:cNvPr>
            <p:cNvSpPr/>
            <p:nvPr/>
          </p:nvSpPr>
          <p:spPr>
            <a:xfrm>
              <a:off x="5072815" y="2261785"/>
              <a:ext cx="619245" cy="126321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LP-LIN/CAN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E027AB47-F7E6-A52F-9BBB-3C2F50EAB6BB}"/>
              </a:ext>
            </a:extLst>
          </p:cNvPr>
          <p:cNvSpPr/>
          <p:nvPr/>
        </p:nvSpPr>
        <p:spPr>
          <a:xfrm rot="10800000" flipV="1">
            <a:off x="1111978" y="1825872"/>
            <a:ext cx="3121525" cy="905862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43C522-6982-5646-C781-36D0CDEA2B08}"/>
              </a:ext>
            </a:extLst>
          </p:cNvPr>
          <p:cNvSpPr txBox="1"/>
          <p:nvPr/>
        </p:nvSpPr>
        <p:spPr>
          <a:xfrm>
            <a:off x="118054" y="2106335"/>
            <a:ext cx="1001830" cy="1146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BGA476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BGA292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(0.8mm pitch)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B4C5DD-F319-A860-E741-A7028CBB5A4D}"/>
              </a:ext>
            </a:extLst>
          </p:cNvPr>
          <p:cNvSpPr txBox="1"/>
          <p:nvPr/>
        </p:nvSpPr>
        <p:spPr>
          <a:xfrm>
            <a:off x="1907165" y="2716205"/>
            <a:ext cx="1149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5V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906DFA2D-4F7F-9CA8-8734-E9A73E8AF3BC}"/>
              </a:ext>
            </a:extLst>
          </p:cNvPr>
          <p:cNvSpPr/>
          <p:nvPr/>
        </p:nvSpPr>
        <p:spPr>
          <a:xfrm rot="10800000" flipV="1">
            <a:off x="6515269" y="1828959"/>
            <a:ext cx="3003468" cy="902775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D2249119-2655-183C-EA18-98F8F35095D3}"/>
              </a:ext>
            </a:extLst>
          </p:cNvPr>
          <p:cNvSpPr/>
          <p:nvPr/>
        </p:nvSpPr>
        <p:spPr>
          <a:xfrm>
            <a:off x="6559477" y="1916064"/>
            <a:ext cx="748788" cy="7656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TUBE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Routing</a:t>
            </a:r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F17DE91C-7E79-E8D7-C490-A26E9156FA6D}"/>
              </a:ext>
            </a:extLst>
          </p:cNvPr>
          <p:cNvGrpSpPr/>
          <p:nvPr/>
        </p:nvGrpSpPr>
        <p:grpSpPr>
          <a:xfrm>
            <a:off x="5032987" y="1832363"/>
            <a:ext cx="666389" cy="895630"/>
            <a:chOff x="5624683" y="491189"/>
            <a:chExt cx="666389" cy="895630"/>
          </a:xfrm>
        </p:grpSpPr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F1163130-8A3D-B3DD-B1EF-E27ABED6974C}"/>
                </a:ext>
              </a:extLst>
            </p:cNvPr>
            <p:cNvSpPr/>
            <p:nvPr/>
          </p:nvSpPr>
          <p:spPr>
            <a:xfrm rot="10800000" flipV="1">
              <a:off x="5624683" y="491189"/>
              <a:ext cx="666389" cy="895630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ea typeface="メイリオ"/>
                  <a:cs typeface="+mn-cs"/>
                </a:rPr>
                <a:t>AI/ML/NN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B922944-BC2F-5757-3CF5-9B8CD9AC1D64}"/>
                </a:ext>
              </a:extLst>
            </p:cNvPr>
            <p:cNvSpPr/>
            <p:nvPr/>
          </p:nvSpPr>
          <p:spPr>
            <a:xfrm>
              <a:off x="5652897" y="554281"/>
              <a:ext cx="599026" cy="653841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Ethos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U55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150 GOPS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EF4564A-9BCE-A479-B809-3435F325B9EA}"/>
              </a:ext>
            </a:extLst>
          </p:cNvPr>
          <p:cNvSpPr txBox="1"/>
          <p:nvPr/>
        </p:nvSpPr>
        <p:spPr>
          <a:xfrm>
            <a:off x="1042897" y="1484350"/>
            <a:ext cx="5022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Core Configs: 5+5, 6+4, 7+3, 8+2 =&gt; DMIPS 6.8k – 10.6K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C1B18C-F91E-2859-4F6B-EF4A4DA301B6}"/>
              </a:ext>
            </a:extLst>
          </p:cNvPr>
          <p:cNvSpPr/>
          <p:nvPr/>
        </p:nvSpPr>
        <p:spPr>
          <a:xfrm>
            <a:off x="10621329" y="2320338"/>
            <a:ext cx="600719" cy="36133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256K Retention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CD6D5C0-EF16-4AFD-439E-25BED978CB30}"/>
              </a:ext>
            </a:extLst>
          </p:cNvPr>
          <p:cNvGrpSpPr/>
          <p:nvPr/>
        </p:nvGrpSpPr>
        <p:grpSpPr>
          <a:xfrm>
            <a:off x="4259278" y="1833057"/>
            <a:ext cx="748788" cy="903088"/>
            <a:chOff x="3818202" y="1753029"/>
            <a:chExt cx="748788" cy="90308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F080148-F313-BF27-9C1B-B0FC525A6593}"/>
                </a:ext>
              </a:extLst>
            </p:cNvPr>
            <p:cNvSpPr/>
            <p:nvPr/>
          </p:nvSpPr>
          <p:spPr>
            <a:xfrm rot="10800000" flipV="1">
              <a:off x="3818202" y="1753029"/>
              <a:ext cx="748788" cy="903088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ea typeface="メイリオ"/>
                  <a:cs typeface="+mn-cs"/>
                </a:rPr>
                <a:t>System Manager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1D3F665-6714-1FDE-378D-EE29DBD8656C}"/>
                </a:ext>
              </a:extLst>
            </p:cNvPr>
            <p:cNvSpPr/>
            <p:nvPr/>
          </p:nvSpPr>
          <p:spPr>
            <a:xfrm>
              <a:off x="3883625" y="1822407"/>
              <a:ext cx="492544" cy="509965"/>
            </a:xfrm>
            <a:prstGeom prst="rect">
              <a:avLst/>
            </a:prstGeom>
            <a:solidFill>
              <a:schemeClr val="bg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M33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MHz</a:t>
              </a:r>
            </a:p>
          </p:txBody>
        </p:sp>
      </p:grpSp>
      <p:sp>
        <p:nvSpPr>
          <p:cNvPr id="246" name="TextBox 245">
            <a:extLst>
              <a:ext uri="{FF2B5EF4-FFF2-40B4-BE49-F238E27FC236}">
                <a16:creationId xmlns:a16="http://schemas.microsoft.com/office/drawing/2014/main" id="{A2519C10-CF70-EC45-39E6-4AC8BE0D08D2}"/>
              </a:ext>
            </a:extLst>
          </p:cNvPr>
          <p:cNvSpPr txBox="1"/>
          <p:nvPr/>
        </p:nvSpPr>
        <p:spPr>
          <a:xfrm>
            <a:off x="1017242" y="2726722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~ 350 I/O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5343F1-F151-CC69-E160-596B69C6635E}"/>
              </a:ext>
            </a:extLst>
          </p:cNvPr>
          <p:cNvSpPr/>
          <p:nvPr/>
        </p:nvSpPr>
        <p:spPr>
          <a:xfrm>
            <a:off x="4397199" y="1978167"/>
            <a:ext cx="492544" cy="509965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M33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F7A1470-1210-032C-705A-B99A4A6C65E2}"/>
              </a:ext>
            </a:extLst>
          </p:cNvPr>
          <p:cNvSpPr/>
          <p:nvPr/>
        </p:nvSpPr>
        <p:spPr>
          <a:xfrm rot="10800000" flipV="1">
            <a:off x="9542635" y="1833311"/>
            <a:ext cx="854432" cy="902774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621A767-D1A7-F0A2-35C0-F668676F912F}"/>
              </a:ext>
            </a:extLst>
          </p:cNvPr>
          <p:cNvSpPr/>
          <p:nvPr/>
        </p:nvSpPr>
        <p:spPr>
          <a:xfrm>
            <a:off x="9608877" y="1926719"/>
            <a:ext cx="705225" cy="2099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I2S/TDM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0C7A010-DFAC-DD6F-AE48-302B18970F8E}"/>
              </a:ext>
            </a:extLst>
          </p:cNvPr>
          <p:cNvSpPr/>
          <p:nvPr/>
        </p:nvSpPr>
        <p:spPr>
          <a:xfrm>
            <a:off x="10537220" y="3385888"/>
            <a:ext cx="708044" cy="9027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5MB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SRAM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FA2A288-1398-8046-2BCC-5FCC366D0367}"/>
              </a:ext>
            </a:extLst>
          </p:cNvPr>
          <p:cNvSpPr/>
          <p:nvPr/>
        </p:nvSpPr>
        <p:spPr>
          <a:xfrm>
            <a:off x="11280594" y="3377143"/>
            <a:ext cx="708044" cy="911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16MB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(NVM)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BF5C525-DD72-D616-D1A8-970A1BCABBB1}"/>
              </a:ext>
            </a:extLst>
          </p:cNvPr>
          <p:cNvGrpSpPr/>
          <p:nvPr/>
        </p:nvGrpSpPr>
        <p:grpSpPr>
          <a:xfrm>
            <a:off x="5698855" y="3386178"/>
            <a:ext cx="754467" cy="906058"/>
            <a:chOff x="4986138" y="1744437"/>
            <a:chExt cx="754467" cy="906058"/>
          </a:xfrm>
        </p:grpSpPr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DA26EA17-6655-0B1D-D84A-186522A7B0AA}"/>
                </a:ext>
              </a:extLst>
            </p:cNvPr>
            <p:cNvSpPr/>
            <p:nvPr/>
          </p:nvSpPr>
          <p:spPr>
            <a:xfrm rot="10800000" flipV="1">
              <a:off x="4991817" y="1754865"/>
              <a:ext cx="748788" cy="895630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Low Power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Sub-system</a:t>
              </a: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70450889-9189-CBB0-F181-D6FA3B819F1C}"/>
                </a:ext>
              </a:extLst>
            </p:cNvPr>
            <p:cNvSpPr/>
            <p:nvPr/>
          </p:nvSpPr>
          <p:spPr>
            <a:xfrm>
              <a:off x="5113866" y="1893234"/>
              <a:ext cx="492544" cy="25372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M23</a:t>
              </a: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3855B899-D888-62A9-F5B6-4170DEDAE74C}"/>
                </a:ext>
              </a:extLst>
            </p:cNvPr>
            <p:cNvSpPr/>
            <p:nvPr/>
          </p:nvSpPr>
          <p:spPr>
            <a:xfrm>
              <a:off x="5112947" y="2189214"/>
              <a:ext cx="492544" cy="15750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ADCs</a:t>
              </a: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2FEE9F21-1201-9973-6288-CF1DD3ADA809}"/>
                </a:ext>
              </a:extLst>
            </p:cNvPr>
            <p:cNvSpPr/>
            <p:nvPr/>
          </p:nvSpPr>
          <p:spPr>
            <a:xfrm rot="10800000" flipV="1">
              <a:off x="4986138" y="1744437"/>
              <a:ext cx="748788" cy="906058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Low Power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Sub-system</a:t>
              </a: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D2EAEA3B-8B0C-19DF-D119-F1F1A6536100}"/>
                </a:ext>
              </a:extLst>
            </p:cNvPr>
            <p:cNvSpPr/>
            <p:nvPr/>
          </p:nvSpPr>
          <p:spPr>
            <a:xfrm>
              <a:off x="5074396" y="1836758"/>
              <a:ext cx="492544" cy="25372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M23</a:t>
              </a: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F31A5FAA-4DCC-F33E-1AC3-9657E6945E29}"/>
                </a:ext>
              </a:extLst>
            </p:cNvPr>
            <p:cNvSpPr/>
            <p:nvPr/>
          </p:nvSpPr>
          <p:spPr>
            <a:xfrm>
              <a:off x="5071547" y="2112776"/>
              <a:ext cx="615364" cy="13037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LP-ADCs</a:t>
              </a: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18D6B9BB-822B-8EB5-4E82-B872FCB990FD}"/>
                </a:ext>
              </a:extLst>
            </p:cNvPr>
            <p:cNvSpPr/>
            <p:nvPr/>
          </p:nvSpPr>
          <p:spPr>
            <a:xfrm>
              <a:off x="5072815" y="2261785"/>
              <a:ext cx="619245" cy="126321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LP-LIN/CAN</a:t>
              </a:r>
            </a:p>
          </p:txBody>
        </p:sp>
      </p:grpSp>
      <p:sp>
        <p:nvSpPr>
          <p:cNvPr id="307" name="Rectangle 306">
            <a:extLst>
              <a:ext uri="{FF2B5EF4-FFF2-40B4-BE49-F238E27FC236}">
                <a16:creationId xmlns:a16="http://schemas.microsoft.com/office/drawing/2014/main" id="{AD19476F-A342-A17A-87C4-45D11301E347}"/>
              </a:ext>
            </a:extLst>
          </p:cNvPr>
          <p:cNvSpPr/>
          <p:nvPr/>
        </p:nvSpPr>
        <p:spPr>
          <a:xfrm rot="10800000" flipV="1">
            <a:off x="1076648" y="3387317"/>
            <a:ext cx="3121525" cy="905862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4D2E30D-4071-4DAA-93AA-E8EFCA18CFC7}"/>
              </a:ext>
            </a:extLst>
          </p:cNvPr>
          <p:cNvSpPr txBox="1"/>
          <p:nvPr/>
        </p:nvSpPr>
        <p:spPr>
          <a:xfrm>
            <a:off x="1870860" y="4270511"/>
            <a:ext cx="1149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5V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D57D9B5-21D1-4E9A-5C67-E16C6F9DA503}"/>
              </a:ext>
            </a:extLst>
          </p:cNvPr>
          <p:cNvSpPr/>
          <p:nvPr/>
        </p:nvSpPr>
        <p:spPr>
          <a:xfrm rot="10800000" flipV="1">
            <a:off x="6479939" y="3390404"/>
            <a:ext cx="3003468" cy="902775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D9C2244-9BF5-EFA6-1BDA-B937C8AF7AD4}"/>
              </a:ext>
            </a:extLst>
          </p:cNvPr>
          <p:cNvSpPr txBox="1"/>
          <p:nvPr/>
        </p:nvSpPr>
        <p:spPr>
          <a:xfrm>
            <a:off x="1017242" y="3038880"/>
            <a:ext cx="5022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Core Configs: 4+4, 6+2 =&gt; DMIPS 5.6K – 8.1K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86A49AB-5060-C54A-184D-A4036D2F5B53}"/>
              </a:ext>
            </a:extLst>
          </p:cNvPr>
          <p:cNvSpPr/>
          <p:nvPr/>
        </p:nvSpPr>
        <p:spPr>
          <a:xfrm>
            <a:off x="10585999" y="3881783"/>
            <a:ext cx="600719" cy="36133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256K Retention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269F4A5-1504-9FF7-3455-8ADC56847B0A}"/>
              </a:ext>
            </a:extLst>
          </p:cNvPr>
          <p:cNvGrpSpPr/>
          <p:nvPr/>
        </p:nvGrpSpPr>
        <p:grpSpPr>
          <a:xfrm>
            <a:off x="4223948" y="3394502"/>
            <a:ext cx="748788" cy="903088"/>
            <a:chOff x="3818202" y="1753029"/>
            <a:chExt cx="748788" cy="903088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AFFCDFA-9081-9E0E-180B-92130EA22B11}"/>
                </a:ext>
              </a:extLst>
            </p:cNvPr>
            <p:cNvSpPr/>
            <p:nvPr/>
          </p:nvSpPr>
          <p:spPr>
            <a:xfrm rot="10800000" flipV="1">
              <a:off x="3818202" y="1753029"/>
              <a:ext cx="748788" cy="903088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System Manager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E1FC710-309F-63DA-189B-24BCC870694E}"/>
                </a:ext>
              </a:extLst>
            </p:cNvPr>
            <p:cNvSpPr/>
            <p:nvPr/>
          </p:nvSpPr>
          <p:spPr>
            <a:xfrm>
              <a:off x="3883625" y="1822407"/>
              <a:ext cx="492544" cy="509965"/>
            </a:xfrm>
            <a:prstGeom prst="rect">
              <a:avLst/>
            </a:prstGeom>
            <a:solidFill>
              <a:schemeClr val="bg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M33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MHz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1EBE3519-6FCF-372D-C4C1-6B9C30DD970A}"/>
              </a:ext>
            </a:extLst>
          </p:cNvPr>
          <p:cNvSpPr txBox="1"/>
          <p:nvPr/>
        </p:nvSpPr>
        <p:spPr>
          <a:xfrm>
            <a:off x="981912" y="4288167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~ 350 I/O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D73128A-03C9-C5FA-D052-A14473FDEF31}"/>
              </a:ext>
            </a:extLst>
          </p:cNvPr>
          <p:cNvSpPr/>
          <p:nvPr/>
        </p:nvSpPr>
        <p:spPr>
          <a:xfrm>
            <a:off x="4361869" y="3539612"/>
            <a:ext cx="492544" cy="509965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M33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ABE40A56-0153-93C8-9F77-060C485338BC}"/>
              </a:ext>
            </a:extLst>
          </p:cNvPr>
          <p:cNvSpPr txBox="1"/>
          <p:nvPr/>
        </p:nvSpPr>
        <p:spPr>
          <a:xfrm>
            <a:off x="67612" y="3351025"/>
            <a:ext cx="1088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U5H16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15C90FD6-0A9B-AFC2-E611-2217382695FA}"/>
              </a:ext>
            </a:extLst>
          </p:cNvPr>
          <p:cNvSpPr txBox="1"/>
          <p:nvPr/>
        </p:nvSpPr>
        <p:spPr>
          <a:xfrm>
            <a:off x="68729" y="3667435"/>
            <a:ext cx="1001830" cy="9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BGA476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BGA292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(0.8mm pitch)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FE12EB21-6F58-7C39-A10F-348EAA88E551}"/>
              </a:ext>
            </a:extLst>
          </p:cNvPr>
          <p:cNvSpPr/>
          <p:nvPr/>
        </p:nvSpPr>
        <p:spPr>
          <a:xfrm>
            <a:off x="10556023" y="4985067"/>
            <a:ext cx="659265" cy="88022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2.5MB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SRAM</a:t>
            </a: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9E8348BE-B246-C765-C77B-D52BF806A880}"/>
              </a:ext>
            </a:extLst>
          </p:cNvPr>
          <p:cNvSpPr/>
          <p:nvPr/>
        </p:nvSpPr>
        <p:spPr>
          <a:xfrm>
            <a:off x="11261908" y="4976321"/>
            <a:ext cx="708044" cy="88897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10MB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MRAM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(NVM)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メイリオ"/>
              <a:cs typeface="+mn-cs"/>
            </a:endParaRPr>
          </a:p>
        </p:txBody>
      </p: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4DD6EA34-7025-9DE2-2D51-392BC236FD02}"/>
              </a:ext>
            </a:extLst>
          </p:cNvPr>
          <p:cNvGrpSpPr/>
          <p:nvPr/>
        </p:nvGrpSpPr>
        <p:grpSpPr>
          <a:xfrm>
            <a:off x="5663235" y="4976321"/>
            <a:ext cx="754467" cy="913860"/>
            <a:chOff x="4986138" y="1726681"/>
            <a:chExt cx="754467" cy="923814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7F6D0720-9A28-B317-E6E6-A1EFDF3E65D0}"/>
                </a:ext>
              </a:extLst>
            </p:cNvPr>
            <p:cNvSpPr/>
            <p:nvPr/>
          </p:nvSpPr>
          <p:spPr>
            <a:xfrm rot="10800000" flipV="1">
              <a:off x="4991817" y="1754865"/>
              <a:ext cx="748788" cy="895630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Low Power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Sub-system</a:t>
              </a: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0779D16B-ED64-5472-81BC-C721E11CA7DF}"/>
                </a:ext>
              </a:extLst>
            </p:cNvPr>
            <p:cNvSpPr/>
            <p:nvPr/>
          </p:nvSpPr>
          <p:spPr>
            <a:xfrm>
              <a:off x="5113866" y="1893234"/>
              <a:ext cx="492544" cy="25372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M23</a:t>
              </a: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A9AC8F2B-1529-86F7-209C-C6AB10E41793}"/>
                </a:ext>
              </a:extLst>
            </p:cNvPr>
            <p:cNvSpPr/>
            <p:nvPr/>
          </p:nvSpPr>
          <p:spPr>
            <a:xfrm>
              <a:off x="5112947" y="2189214"/>
              <a:ext cx="492544" cy="15750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ADCs</a:t>
              </a: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50DD8572-A34D-C8EB-DE6E-D20F8B851623}"/>
                </a:ext>
              </a:extLst>
            </p:cNvPr>
            <p:cNvSpPr/>
            <p:nvPr/>
          </p:nvSpPr>
          <p:spPr>
            <a:xfrm rot="10800000" flipV="1">
              <a:off x="4986138" y="1726681"/>
              <a:ext cx="748788" cy="906058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Low Power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Sub-system</a:t>
              </a: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E5DEA125-8BC0-3287-269D-0B9C9D409955}"/>
                </a:ext>
              </a:extLst>
            </p:cNvPr>
            <p:cNvSpPr/>
            <p:nvPr/>
          </p:nvSpPr>
          <p:spPr>
            <a:xfrm>
              <a:off x="5074396" y="1836758"/>
              <a:ext cx="492544" cy="25372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M23</a:t>
              </a: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827B0307-6D85-D481-A255-31868D0709DA}"/>
                </a:ext>
              </a:extLst>
            </p:cNvPr>
            <p:cNvSpPr/>
            <p:nvPr/>
          </p:nvSpPr>
          <p:spPr>
            <a:xfrm>
              <a:off x="5071547" y="2112776"/>
              <a:ext cx="615364" cy="13037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LP-ADCs</a:t>
              </a: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33D84FE5-0AE7-B3C7-7248-F45BF77BE165}"/>
                </a:ext>
              </a:extLst>
            </p:cNvPr>
            <p:cNvSpPr/>
            <p:nvPr/>
          </p:nvSpPr>
          <p:spPr>
            <a:xfrm>
              <a:off x="5072815" y="2261785"/>
              <a:ext cx="619245" cy="126321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LP-LIN/CAN</a:t>
              </a:r>
            </a:p>
          </p:txBody>
        </p:sp>
      </p:grpSp>
      <p:sp>
        <p:nvSpPr>
          <p:cNvPr id="362" name="Rectangle 361">
            <a:extLst>
              <a:ext uri="{FF2B5EF4-FFF2-40B4-BE49-F238E27FC236}">
                <a16:creationId xmlns:a16="http://schemas.microsoft.com/office/drawing/2014/main" id="{F4499C54-E2F5-41A7-411E-A82D5CCDE07B}"/>
              </a:ext>
            </a:extLst>
          </p:cNvPr>
          <p:cNvSpPr/>
          <p:nvPr/>
        </p:nvSpPr>
        <p:spPr>
          <a:xfrm rot="10800000" flipV="1">
            <a:off x="1057962" y="4950983"/>
            <a:ext cx="3121525" cy="905862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1BA5E72D-9874-762A-CEA4-FCD55D69AC68}"/>
              </a:ext>
            </a:extLst>
          </p:cNvPr>
          <p:cNvSpPr/>
          <p:nvPr/>
        </p:nvSpPr>
        <p:spPr>
          <a:xfrm rot="10800000" flipV="1">
            <a:off x="6461253" y="4989582"/>
            <a:ext cx="3003468" cy="902775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2C3F965F-A362-3FF8-641B-FFDD30CAE78E}"/>
              </a:ext>
            </a:extLst>
          </p:cNvPr>
          <p:cNvSpPr txBox="1"/>
          <p:nvPr/>
        </p:nvSpPr>
        <p:spPr>
          <a:xfrm>
            <a:off x="1042897" y="4647162"/>
            <a:ext cx="4728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Core Configs: 3+3, 4+2 =&gt; DMIPS 4.3K – 5.6K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2277B873-2255-BB74-5B4C-F647BA8D3374}"/>
              </a:ext>
            </a:extLst>
          </p:cNvPr>
          <p:cNvSpPr/>
          <p:nvPr/>
        </p:nvSpPr>
        <p:spPr>
          <a:xfrm>
            <a:off x="10585295" y="5442747"/>
            <a:ext cx="600719" cy="36133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256K Retention</a:t>
            </a:r>
          </a:p>
        </p:txBody>
      </p: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E9B42D52-9313-D2A9-CDAE-65585391A5F7}"/>
              </a:ext>
            </a:extLst>
          </p:cNvPr>
          <p:cNvGrpSpPr/>
          <p:nvPr/>
        </p:nvGrpSpPr>
        <p:grpSpPr>
          <a:xfrm>
            <a:off x="4205262" y="4949290"/>
            <a:ext cx="748788" cy="903088"/>
            <a:chOff x="3818202" y="1753029"/>
            <a:chExt cx="748788" cy="903088"/>
          </a:xfrm>
        </p:grpSpPr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E4B140F8-7445-10ED-FE2E-C159513C04CD}"/>
                </a:ext>
              </a:extLst>
            </p:cNvPr>
            <p:cNvSpPr/>
            <p:nvPr/>
          </p:nvSpPr>
          <p:spPr>
            <a:xfrm rot="10800000" flipV="1">
              <a:off x="3818202" y="1753029"/>
              <a:ext cx="748788" cy="903088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System Manager</a:t>
              </a: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344F5FD7-197C-321B-3104-960FFC50B4C7}"/>
                </a:ext>
              </a:extLst>
            </p:cNvPr>
            <p:cNvSpPr/>
            <p:nvPr/>
          </p:nvSpPr>
          <p:spPr>
            <a:xfrm>
              <a:off x="3883625" y="1822407"/>
              <a:ext cx="492544" cy="509965"/>
            </a:xfrm>
            <a:prstGeom prst="rect">
              <a:avLst/>
            </a:prstGeom>
            <a:solidFill>
              <a:schemeClr val="bg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M33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MHz</a:t>
              </a:r>
            </a:p>
          </p:txBody>
        </p:sp>
      </p:grpSp>
      <p:sp>
        <p:nvSpPr>
          <p:cNvPr id="385" name="Rectangle 384">
            <a:extLst>
              <a:ext uri="{FF2B5EF4-FFF2-40B4-BE49-F238E27FC236}">
                <a16:creationId xmlns:a16="http://schemas.microsoft.com/office/drawing/2014/main" id="{CDB578E7-DCF7-876A-497C-2F8FDEEFB567}"/>
              </a:ext>
            </a:extLst>
          </p:cNvPr>
          <p:cNvSpPr/>
          <p:nvPr/>
        </p:nvSpPr>
        <p:spPr>
          <a:xfrm>
            <a:off x="4343183" y="5138791"/>
            <a:ext cx="492544" cy="451436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M33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D9259E1A-38DC-E723-69FA-EB85688DA83E}"/>
              </a:ext>
            </a:extLst>
          </p:cNvPr>
          <p:cNvSpPr txBox="1"/>
          <p:nvPr/>
        </p:nvSpPr>
        <p:spPr>
          <a:xfrm>
            <a:off x="48926" y="4950203"/>
            <a:ext cx="1088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U5H10</a:t>
            </a: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7A398C0D-3B8A-941C-FB5B-A4A793CE60B4}"/>
              </a:ext>
            </a:extLst>
          </p:cNvPr>
          <p:cNvSpPr txBox="1"/>
          <p:nvPr/>
        </p:nvSpPr>
        <p:spPr>
          <a:xfrm>
            <a:off x="50043" y="5266613"/>
            <a:ext cx="100183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BGA292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(0.8mm pitch)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6840A-124C-0D05-67B6-426ADA738974}"/>
              </a:ext>
            </a:extLst>
          </p:cNvPr>
          <p:cNvSpPr txBox="1"/>
          <p:nvPr/>
        </p:nvSpPr>
        <p:spPr>
          <a:xfrm>
            <a:off x="981912" y="5846523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~ 200 I/O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D7E951-2407-0D34-8639-C94D062C5B8C}"/>
              </a:ext>
            </a:extLst>
          </p:cNvPr>
          <p:cNvSpPr/>
          <p:nvPr/>
        </p:nvSpPr>
        <p:spPr>
          <a:xfrm>
            <a:off x="6515269" y="3447161"/>
            <a:ext cx="748788" cy="7959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TUBE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Routing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D3B54-AE07-2D9E-CE65-814B9DF9C4D4}"/>
              </a:ext>
            </a:extLst>
          </p:cNvPr>
          <p:cNvSpPr txBox="1"/>
          <p:nvPr/>
        </p:nvSpPr>
        <p:spPr>
          <a:xfrm>
            <a:off x="1796331" y="5860152"/>
            <a:ext cx="1149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5V</a:t>
            </a:r>
          </a:p>
        </p:txBody>
      </p: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1A18A74-3355-2872-648B-393ADDC4BC8E}"/>
              </a:ext>
            </a:extLst>
          </p:cNvPr>
          <p:cNvGrpSpPr/>
          <p:nvPr/>
        </p:nvGrpSpPr>
        <p:grpSpPr>
          <a:xfrm>
            <a:off x="1163339" y="1927581"/>
            <a:ext cx="1149007" cy="588833"/>
            <a:chOff x="5877015" y="779936"/>
            <a:chExt cx="1313897" cy="664797"/>
          </a:xfrm>
        </p:grpSpPr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BB0652CE-7DF3-DE18-6BF1-9AFB99F30C05}"/>
                </a:ext>
              </a:extLst>
            </p:cNvPr>
            <p:cNvSpPr/>
            <p:nvPr/>
          </p:nvSpPr>
          <p:spPr>
            <a:xfrm rot="10800000" flipV="1">
              <a:off x="5877015" y="779936"/>
              <a:ext cx="1313897" cy="664797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9AB4C352-277E-EC74-2D12-1FA492C2BED0}"/>
                </a:ext>
              </a:extLst>
            </p:cNvPr>
            <p:cNvGrpSpPr/>
            <p:nvPr/>
          </p:nvGrpSpPr>
          <p:grpSpPr>
            <a:xfrm>
              <a:off x="5944857" y="859782"/>
              <a:ext cx="560604" cy="525508"/>
              <a:chOff x="1148936" y="1993629"/>
              <a:chExt cx="560604" cy="525508"/>
            </a:xfrm>
          </p:grpSpPr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0D2EE3D8-2F5A-84A4-5EC6-A66C6AEC2B9C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55A238A-FF34-4ABC-A169-1C4CCC899057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EB6BC1F0-978A-C025-D65E-AA8AD36140DC}"/>
                </a:ext>
              </a:extLst>
            </p:cNvPr>
            <p:cNvGrpSpPr/>
            <p:nvPr/>
          </p:nvGrpSpPr>
          <p:grpSpPr>
            <a:xfrm>
              <a:off x="6559477" y="869078"/>
              <a:ext cx="560604" cy="525508"/>
              <a:chOff x="1148936" y="1993629"/>
              <a:chExt cx="560604" cy="525508"/>
            </a:xfrm>
          </p:grpSpPr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5F8865AB-5434-6D77-5FF7-0974F827C0D5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FEB0B609-7E24-87D7-E24B-91EC6C494410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945C93B-B169-54ED-0159-BB3369949C9A}"/>
              </a:ext>
            </a:extLst>
          </p:cNvPr>
          <p:cNvGrpSpPr/>
          <p:nvPr/>
        </p:nvGrpSpPr>
        <p:grpSpPr>
          <a:xfrm>
            <a:off x="2346649" y="1927253"/>
            <a:ext cx="1149007" cy="588833"/>
            <a:chOff x="5877015" y="779936"/>
            <a:chExt cx="1313897" cy="66479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8C087A8-E90F-CDF1-2DBC-1E9D9DC65136}"/>
                </a:ext>
              </a:extLst>
            </p:cNvPr>
            <p:cNvSpPr/>
            <p:nvPr/>
          </p:nvSpPr>
          <p:spPr>
            <a:xfrm rot="10800000" flipV="1">
              <a:off x="5877015" y="779936"/>
              <a:ext cx="1313897" cy="664797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55FBE12-AF51-FB17-2BDB-92CE91CB9637}"/>
                </a:ext>
              </a:extLst>
            </p:cNvPr>
            <p:cNvGrpSpPr/>
            <p:nvPr/>
          </p:nvGrpSpPr>
          <p:grpSpPr>
            <a:xfrm>
              <a:off x="5944857" y="859782"/>
              <a:ext cx="560604" cy="525508"/>
              <a:chOff x="1148936" y="1993629"/>
              <a:chExt cx="560604" cy="52550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E2E0440-8AAE-E095-CB7B-38E2DB166111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EEABE98-13DF-2997-A2C7-D2D944995F65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5F7C7B0-A749-86F2-037D-6A0AA45B3630}"/>
                </a:ext>
              </a:extLst>
            </p:cNvPr>
            <p:cNvGrpSpPr/>
            <p:nvPr/>
          </p:nvGrpSpPr>
          <p:grpSpPr>
            <a:xfrm>
              <a:off x="6559477" y="869078"/>
              <a:ext cx="560604" cy="525508"/>
              <a:chOff x="1148936" y="1993629"/>
              <a:chExt cx="560604" cy="525508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13064A7-9D51-DCD3-9013-C977A3927648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D1C7E59-00D1-BB14-5300-4CB759FF767A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8E34FBD-48AD-912A-EEC0-C58B7C683A8B}"/>
              </a:ext>
            </a:extLst>
          </p:cNvPr>
          <p:cNvGrpSpPr/>
          <p:nvPr/>
        </p:nvGrpSpPr>
        <p:grpSpPr>
          <a:xfrm>
            <a:off x="3543189" y="1923365"/>
            <a:ext cx="630315" cy="590923"/>
            <a:chOff x="6471172" y="779936"/>
            <a:chExt cx="719739" cy="664797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7B0AE74-064C-AFFA-9E82-3030CD33398A}"/>
                </a:ext>
              </a:extLst>
            </p:cNvPr>
            <p:cNvSpPr/>
            <p:nvPr/>
          </p:nvSpPr>
          <p:spPr>
            <a:xfrm rot="10800000" flipV="1">
              <a:off x="6471172" y="779936"/>
              <a:ext cx="719739" cy="664797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A791DD50-D22C-6123-1BD3-B244851C7C1B}"/>
                </a:ext>
              </a:extLst>
            </p:cNvPr>
            <p:cNvGrpSpPr/>
            <p:nvPr/>
          </p:nvGrpSpPr>
          <p:grpSpPr>
            <a:xfrm>
              <a:off x="6559477" y="869078"/>
              <a:ext cx="560604" cy="525508"/>
              <a:chOff x="1148936" y="1993629"/>
              <a:chExt cx="560604" cy="525508"/>
            </a:xfrm>
          </p:grpSpPr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63113069-07BB-3615-43BD-4A81EC05BB9D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89969358-5116-DEF3-58A0-3542B2215397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5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D6AB9A75-C3EE-C9EB-6AE9-CC0B4E7533EB}"/>
              </a:ext>
            </a:extLst>
          </p:cNvPr>
          <p:cNvGrpSpPr/>
          <p:nvPr/>
        </p:nvGrpSpPr>
        <p:grpSpPr>
          <a:xfrm>
            <a:off x="2726692" y="1844491"/>
            <a:ext cx="403992" cy="170857"/>
            <a:chOff x="3656223" y="3458698"/>
            <a:chExt cx="403992" cy="170857"/>
          </a:xfrm>
        </p:grpSpPr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EC34082F-E58E-8933-B9DD-373F3D01E475}"/>
                </a:ext>
              </a:extLst>
            </p:cNvPr>
            <p:cNvSpPr/>
            <p:nvPr/>
          </p:nvSpPr>
          <p:spPr>
            <a:xfrm>
              <a:off x="3656223" y="3518404"/>
              <a:ext cx="147350" cy="1111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4A062186-E6E0-AF1E-6FD1-40B5E77B72D5}"/>
                </a:ext>
              </a:extLst>
            </p:cNvPr>
            <p:cNvSpPr/>
            <p:nvPr/>
          </p:nvSpPr>
          <p:spPr>
            <a:xfrm>
              <a:off x="3912865" y="3516906"/>
              <a:ext cx="147350" cy="111151"/>
            </a:xfrm>
            <a:prstGeom prst="rect">
              <a:avLst/>
            </a:prstGeom>
            <a:solidFill>
              <a:srgbClr val="B9D7FC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95" name="Arrow: Curved Right 294">
              <a:extLst>
                <a:ext uri="{FF2B5EF4-FFF2-40B4-BE49-F238E27FC236}">
                  <a16:creationId xmlns:a16="http://schemas.microsoft.com/office/drawing/2014/main" id="{0751A86E-E2B0-6507-98B6-1DF91CE781B6}"/>
                </a:ext>
              </a:extLst>
            </p:cNvPr>
            <p:cNvSpPr/>
            <p:nvPr/>
          </p:nvSpPr>
          <p:spPr>
            <a:xfrm rot="5400000" flipV="1">
              <a:off x="3836025" y="3396813"/>
              <a:ext cx="111153" cy="234924"/>
            </a:xfrm>
            <a:prstGeom prst="curvedRightArrow">
              <a:avLst>
                <a:gd name="adj1" fmla="val 17243"/>
                <a:gd name="adj2" fmla="val 50000"/>
                <a:gd name="adj3" fmla="val 3254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D1A7BE87-7A8C-9EF4-247D-83C4CD9E1991}"/>
              </a:ext>
            </a:extLst>
          </p:cNvPr>
          <p:cNvGrpSpPr/>
          <p:nvPr/>
        </p:nvGrpSpPr>
        <p:grpSpPr>
          <a:xfrm>
            <a:off x="3667999" y="1845701"/>
            <a:ext cx="403992" cy="170857"/>
            <a:chOff x="3656223" y="3458698"/>
            <a:chExt cx="403992" cy="170857"/>
          </a:xfrm>
        </p:grpSpPr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1087098D-AC31-6849-6924-57F245C73435}"/>
                </a:ext>
              </a:extLst>
            </p:cNvPr>
            <p:cNvSpPr/>
            <p:nvPr/>
          </p:nvSpPr>
          <p:spPr>
            <a:xfrm>
              <a:off x="3656223" y="3518404"/>
              <a:ext cx="147350" cy="1111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961343E5-6399-04A8-1A17-4FC478CC4876}"/>
                </a:ext>
              </a:extLst>
            </p:cNvPr>
            <p:cNvSpPr/>
            <p:nvPr/>
          </p:nvSpPr>
          <p:spPr>
            <a:xfrm>
              <a:off x="3912865" y="3516906"/>
              <a:ext cx="147350" cy="111151"/>
            </a:xfrm>
            <a:prstGeom prst="rect">
              <a:avLst/>
            </a:prstGeom>
            <a:solidFill>
              <a:srgbClr val="B9D7FC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313" name="Arrow: Curved Right 312">
              <a:extLst>
                <a:ext uri="{FF2B5EF4-FFF2-40B4-BE49-F238E27FC236}">
                  <a16:creationId xmlns:a16="http://schemas.microsoft.com/office/drawing/2014/main" id="{2933D09C-40E8-461B-0653-4639B51E5CAC}"/>
                </a:ext>
              </a:extLst>
            </p:cNvPr>
            <p:cNvSpPr/>
            <p:nvPr/>
          </p:nvSpPr>
          <p:spPr>
            <a:xfrm rot="5400000" flipV="1">
              <a:off x="3836025" y="3396813"/>
              <a:ext cx="111153" cy="234924"/>
            </a:xfrm>
            <a:prstGeom prst="curvedRightArrow">
              <a:avLst>
                <a:gd name="adj1" fmla="val 17243"/>
                <a:gd name="adj2" fmla="val 50000"/>
                <a:gd name="adj3" fmla="val 3254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DC748C83-5087-164D-7264-1536835047C6}"/>
              </a:ext>
            </a:extLst>
          </p:cNvPr>
          <p:cNvGrpSpPr/>
          <p:nvPr/>
        </p:nvGrpSpPr>
        <p:grpSpPr>
          <a:xfrm>
            <a:off x="1191382" y="3498353"/>
            <a:ext cx="1149007" cy="588833"/>
            <a:chOff x="5877015" y="779936"/>
            <a:chExt cx="1313897" cy="66479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6BD9A2C-756A-B122-627E-FE951A1909BC}"/>
                </a:ext>
              </a:extLst>
            </p:cNvPr>
            <p:cNvSpPr/>
            <p:nvPr/>
          </p:nvSpPr>
          <p:spPr>
            <a:xfrm rot="10800000" flipV="1">
              <a:off x="5877015" y="779936"/>
              <a:ext cx="1313897" cy="664797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3E9C156-8682-41D1-5386-DB45415081A9}"/>
                </a:ext>
              </a:extLst>
            </p:cNvPr>
            <p:cNvGrpSpPr/>
            <p:nvPr/>
          </p:nvGrpSpPr>
          <p:grpSpPr>
            <a:xfrm>
              <a:off x="5944857" y="859782"/>
              <a:ext cx="560604" cy="525508"/>
              <a:chOff x="1148936" y="1993629"/>
              <a:chExt cx="560604" cy="525508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6612BC3-BE8C-C70D-F87F-3FE3356D05EA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D9BCDBE-4D0D-6373-6643-6A839EB2AFEC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54F6762-B8E2-216D-15BF-86157414CB0E}"/>
                </a:ext>
              </a:extLst>
            </p:cNvPr>
            <p:cNvGrpSpPr/>
            <p:nvPr/>
          </p:nvGrpSpPr>
          <p:grpSpPr>
            <a:xfrm>
              <a:off x="6559477" y="869078"/>
              <a:ext cx="560604" cy="525508"/>
              <a:chOff x="1148936" y="1993629"/>
              <a:chExt cx="560604" cy="525508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1D60AFC-D6F2-D2EF-370B-7E22F4FF401F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C719DA0A-5C77-CBE1-77E5-CABC54796665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A480D93-ECB8-A8E3-9EA0-36D623DC2558}"/>
              </a:ext>
            </a:extLst>
          </p:cNvPr>
          <p:cNvGrpSpPr/>
          <p:nvPr/>
        </p:nvGrpSpPr>
        <p:grpSpPr>
          <a:xfrm>
            <a:off x="2374692" y="3498026"/>
            <a:ext cx="1149007" cy="588833"/>
            <a:chOff x="5877015" y="779936"/>
            <a:chExt cx="1313897" cy="664797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78C4A50A-60F1-413C-CE7C-2281942CB0D1}"/>
                </a:ext>
              </a:extLst>
            </p:cNvPr>
            <p:cNvSpPr/>
            <p:nvPr/>
          </p:nvSpPr>
          <p:spPr>
            <a:xfrm rot="10800000" flipV="1">
              <a:off x="5877015" y="779936"/>
              <a:ext cx="1313897" cy="664797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E2DDCD4E-5D6F-9601-1B25-F326259FFAB1}"/>
                </a:ext>
              </a:extLst>
            </p:cNvPr>
            <p:cNvGrpSpPr/>
            <p:nvPr/>
          </p:nvGrpSpPr>
          <p:grpSpPr>
            <a:xfrm>
              <a:off x="5944857" y="859782"/>
              <a:ext cx="560604" cy="525508"/>
              <a:chOff x="1148936" y="1993629"/>
              <a:chExt cx="560604" cy="525508"/>
            </a:xfrm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96D63677-3BA1-DE64-C7AD-53F1FB196B4F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474BD474-1F67-34C9-844D-E765BD8C4E51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895AB2D6-959E-C66C-4358-E7D7820D39B0}"/>
                </a:ext>
              </a:extLst>
            </p:cNvPr>
            <p:cNvGrpSpPr/>
            <p:nvPr/>
          </p:nvGrpSpPr>
          <p:grpSpPr>
            <a:xfrm>
              <a:off x="6559477" y="869078"/>
              <a:ext cx="560604" cy="525508"/>
              <a:chOff x="1148936" y="1993629"/>
              <a:chExt cx="560604" cy="525508"/>
            </a:xfrm>
          </p:grpSpPr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66B8638E-7FD4-C761-CADD-0108FF163EC8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612D4E55-E2FC-A794-FE2B-3108AB329087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2CF2835B-E2D2-6469-052C-37AD25A462E5}"/>
              </a:ext>
            </a:extLst>
          </p:cNvPr>
          <p:cNvGrpSpPr/>
          <p:nvPr/>
        </p:nvGrpSpPr>
        <p:grpSpPr>
          <a:xfrm>
            <a:off x="2754735" y="3361587"/>
            <a:ext cx="403992" cy="170857"/>
            <a:chOff x="3656223" y="3458698"/>
            <a:chExt cx="403992" cy="170857"/>
          </a:xfrm>
        </p:grpSpPr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994AF65F-FBF0-A4A0-57D2-8A22261DC6E9}"/>
                </a:ext>
              </a:extLst>
            </p:cNvPr>
            <p:cNvSpPr/>
            <p:nvPr/>
          </p:nvSpPr>
          <p:spPr>
            <a:xfrm>
              <a:off x="3656223" y="3518404"/>
              <a:ext cx="147350" cy="1111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B72B715-7F6D-42D9-4164-37CB2F5669F7}"/>
                </a:ext>
              </a:extLst>
            </p:cNvPr>
            <p:cNvSpPr/>
            <p:nvPr/>
          </p:nvSpPr>
          <p:spPr>
            <a:xfrm>
              <a:off x="3912865" y="3516906"/>
              <a:ext cx="147350" cy="111151"/>
            </a:xfrm>
            <a:prstGeom prst="rect">
              <a:avLst/>
            </a:prstGeom>
            <a:solidFill>
              <a:srgbClr val="B9D7FC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99" name="Arrow: Curved Right 98">
              <a:extLst>
                <a:ext uri="{FF2B5EF4-FFF2-40B4-BE49-F238E27FC236}">
                  <a16:creationId xmlns:a16="http://schemas.microsoft.com/office/drawing/2014/main" id="{EC9B0C4E-DF76-FCC6-6F5C-4907ECF2BBCD}"/>
                </a:ext>
              </a:extLst>
            </p:cNvPr>
            <p:cNvSpPr/>
            <p:nvPr/>
          </p:nvSpPr>
          <p:spPr>
            <a:xfrm rot="5400000" flipV="1">
              <a:off x="3836025" y="3396813"/>
              <a:ext cx="111153" cy="234924"/>
            </a:xfrm>
            <a:prstGeom prst="curvedRightArrow">
              <a:avLst>
                <a:gd name="adj1" fmla="val 17243"/>
                <a:gd name="adj2" fmla="val 50000"/>
                <a:gd name="adj3" fmla="val 3254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F4B88AA-4A2A-D08F-38E9-05BDF707BAA2}"/>
              </a:ext>
            </a:extLst>
          </p:cNvPr>
          <p:cNvGrpSpPr/>
          <p:nvPr/>
        </p:nvGrpSpPr>
        <p:grpSpPr>
          <a:xfrm>
            <a:off x="1153344" y="5042477"/>
            <a:ext cx="1149007" cy="588833"/>
            <a:chOff x="5877015" y="779936"/>
            <a:chExt cx="1313897" cy="664797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158D027-0D09-FEC5-E667-C06380534BC4}"/>
                </a:ext>
              </a:extLst>
            </p:cNvPr>
            <p:cNvSpPr/>
            <p:nvPr/>
          </p:nvSpPr>
          <p:spPr>
            <a:xfrm rot="10800000" flipV="1">
              <a:off x="5877015" y="779936"/>
              <a:ext cx="1313897" cy="664797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0F94D3B0-C991-0EF5-7B93-C5B906DB5A91}"/>
                </a:ext>
              </a:extLst>
            </p:cNvPr>
            <p:cNvGrpSpPr/>
            <p:nvPr/>
          </p:nvGrpSpPr>
          <p:grpSpPr>
            <a:xfrm>
              <a:off x="5944857" y="859782"/>
              <a:ext cx="560604" cy="525508"/>
              <a:chOff x="1148936" y="1993629"/>
              <a:chExt cx="560604" cy="525508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AE00771-39C9-8DEA-B057-FD98CD8D0BA0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1B59445F-1C4B-7A1C-CF2F-C9667B14A190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60CDFA85-0EB8-064D-95BD-B9EEF5573F22}"/>
                </a:ext>
              </a:extLst>
            </p:cNvPr>
            <p:cNvGrpSpPr/>
            <p:nvPr/>
          </p:nvGrpSpPr>
          <p:grpSpPr>
            <a:xfrm>
              <a:off x="6559477" y="869078"/>
              <a:ext cx="560604" cy="525508"/>
              <a:chOff x="1148936" y="1993629"/>
              <a:chExt cx="560604" cy="525508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832C4E2D-DA7E-6266-2A75-EBE2299E3EC9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C73CF20C-C82B-6096-B05A-EA768689AA01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3A70D03-2734-D81F-1379-D65D1BD92BAE}"/>
              </a:ext>
            </a:extLst>
          </p:cNvPr>
          <p:cNvGrpSpPr/>
          <p:nvPr/>
        </p:nvGrpSpPr>
        <p:grpSpPr>
          <a:xfrm>
            <a:off x="3533194" y="5064895"/>
            <a:ext cx="630315" cy="590923"/>
            <a:chOff x="6471172" y="779936"/>
            <a:chExt cx="719739" cy="664797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E455D4F-D664-80A8-7E25-F4BD7C24AB22}"/>
                </a:ext>
              </a:extLst>
            </p:cNvPr>
            <p:cNvSpPr/>
            <p:nvPr/>
          </p:nvSpPr>
          <p:spPr>
            <a:xfrm rot="10800000" flipV="1">
              <a:off x="6471172" y="779936"/>
              <a:ext cx="719739" cy="664797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BF8757BC-92B6-6921-6085-20B5192AF837}"/>
                </a:ext>
              </a:extLst>
            </p:cNvPr>
            <p:cNvGrpSpPr/>
            <p:nvPr/>
          </p:nvGrpSpPr>
          <p:grpSpPr>
            <a:xfrm>
              <a:off x="6559477" y="869078"/>
              <a:ext cx="560604" cy="525508"/>
              <a:chOff x="1148936" y="1993629"/>
              <a:chExt cx="560604" cy="525508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E2A5FB2-8AEE-28FE-0CB5-CEAB471A6015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4ECA5B83-4CB1-554F-1287-0479031CF3F5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5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6C30074-FC0C-86F4-463D-D6378904D921}"/>
              </a:ext>
            </a:extLst>
          </p:cNvPr>
          <p:cNvGrpSpPr/>
          <p:nvPr/>
        </p:nvGrpSpPr>
        <p:grpSpPr>
          <a:xfrm>
            <a:off x="3652761" y="4925924"/>
            <a:ext cx="403992" cy="170857"/>
            <a:chOff x="3656223" y="3458698"/>
            <a:chExt cx="403992" cy="170857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7AFABBD-226A-932A-5E84-B198620EC2E0}"/>
                </a:ext>
              </a:extLst>
            </p:cNvPr>
            <p:cNvSpPr/>
            <p:nvPr/>
          </p:nvSpPr>
          <p:spPr>
            <a:xfrm>
              <a:off x="3656223" y="3518404"/>
              <a:ext cx="147350" cy="1111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7D10E81-A269-2C60-A767-5523A61E3ED5}"/>
                </a:ext>
              </a:extLst>
            </p:cNvPr>
            <p:cNvSpPr/>
            <p:nvPr/>
          </p:nvSpPr>
          <p:spPr>
            <a:xfrm>
              <a:off x="3912865" y="3516906"/>
              <a:ext cx="147350" cy="111151"/>
            </a:xfrm>
            <a:prstGeom prst="rect">
              <a:avLst/>
            </a:prstGeom>
            <a:solidFill>
              <a:srgbClr val="B9D7FC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20" name="Arrow: Curved Right 119">
              <a:extLst>
                <a:ext uri="{FF2B5EF4-FFF2-40B4-BE49-F238E27FC236}">
                  <a16:creationId xmlns:a16="http://schemas.microsoft.com/office/drawing/2014/main" id="{AAF533B9-45C9-51CD-D19D-8720A3C83A92}"/>
                </a:ext>
              </a:extLst>
            </p:cNvPr>
            <p:cNvSpPr/>
            <p:nvPr/>
          </p:nvSpPr>
          <p:spPr>
            <a:xfrm rot="5400000" flipV="1">
              <a:off x="3836025" y="3396813"/>
              <a:ext cx="111153" cy="234924"/>
            </a:xfrm>
            <a:prstGeom prst="curvedRightArrow">
              <a:avLst>
                <a:gd name="adj1" fmla="val 17243"/>
                <a:gd name="adj2" fmla="val 50000"/>
                <a:gd name="adj3" fmla="val 3254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9C16E2F6-FD93-6419-58AB-1EF62454231D}"/>
              </a:ext>
            </a:extLst>
          </p:cNvPr>
          <p:cNvSpPr/>
          <p:nvPr/>
        </p:nvSpPr>
        <p:spPr>
          <a:xfrm>
            <a:off x="1137366" y="2549296"/>
            <a:ext cx="3042121" cy="141395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NEON –SIMD (up to ~38 GFOPS (FP32) / 4.8 per Core) </a:t>
            </a: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56EC6920-4174-E8CE-BE1A-99EE12C620B1}"/>
              </a:ext>
            </a:extLst>
          </p:cNvPr>
          <p:cNvSpPr/>
          <p:nvPr/>
        </p:nvSpPr>
        <p:spPr>
          <a:xfrm>
            <a:off x="6486545" y="5048058"/>
            <a:ext cx="748788" cy="7959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TUBE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Routing</a:t>
            </a:r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6D330B6A-BF4B-0E45-B9DB-88F7A2218403}"/>
              </a:ext>
            </a:extLst>
          </p:cNvPr>
          <p:cNvGrpSpPr/>
          <p:nvPr/>
        </p:nvGrpSpPr>
        <p:grpSpPr>
          <a:xfrm>
            <a:off x="7308265" y="5021597"/>
            <a:ext cx="2082772" cy="817922"/>
            <a:chOff x="7308265" y="5181617"/>
            <a:chExt cx="2082772" cy="81792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497F37-A204-6693-5523-60F91B5284F0}"/>
                </a:ext>
              </a:extLst>
            </p:cNvPr>
            <p:cNvSpPr/>
            <p:nvPr/>
          </p:nvSpPr>
          <p:spPr>
            <a:xfrm>
              <a:off x="7308265" y="5219017"/>
              <a:ext cx="2082772" cy="780522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B61B8E-5111-A389-A581-9D1CC2AA0B80}"/>
                </a:ext>
              </a:extLst>
            </p:cNvPr>
            <p:cNvSpPr/>
            <p:nvPr/>
          </p:nvSpPr>
          <p:spPr>
            <a:xfrm>
              <a:off x="7343984" y="5456023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793BDD-66CE-ACE5-F8BE-2FAFEE3CD533}"/>
                </a:ext>
              </a:extLst>
            </p:cNvPr>
            <p:cNvSpPr txBox="1"/>
            <p:nvPr/>
          </p:nvSpPr>
          <p:spPr>
            <a:xfrm>
              <a:off x="7633597" y="5181617"/>
              <a:ext cx="15656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Integrated Switch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43876D4-53C9-87E0-27D3-2DA3B7D381C1}"/>
                </a:ext>
              </a:extLst>
            </p:cNvPr>
            <p:cNvSpPr/>
            <p:nvPr/>
          </p:nvSpPr>
          <p:spPr>
            <a:xfrm>
              <a:off x="7710835" y="5455750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BDDB4AF-BC6F-4A93-414A-4F3C8CE035C0}"/>
                </a:ext>
              </a:extLst>
            </p:cNvPr>
            <p:cNvSpPr/>
            <p:nvPr/>
          </p:nvSpPr>
          <p:spPr>
            <a:xfrm>
              <a:off x="8078460" y="5456763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372" name="Rectangle: Rounded Corners 371">
              <a:extLst>
                <a:ext uri="{FF2B5EF4-FFF2-40B4-BE49-F238E27FC236}">
                  <a16:creationId xmlns:a16="http://schemas.microsoft.com/office/drawing/2014/main" id="{D5D80D72-145F-BBFE-6E71-79AF3577D12C}"/>
                </a:ext>
              </a:extLst>
            </p:cNvPr>
            <p:cNvSpPr/>
            <p:nvPr/>
          </p:nvSpPr>
          <p:spPr>
            <a:xfrm>
              <a:off x="7389205" y="5816261"/>
              <a:ext cx="1810000" cy="147839"/>
            </a:xfrm>
            <a:prstGeom prst="roundRect">
              <a:avLst/>
            </a:prstGeom>
            <a:solidFill>
              <a:schemeClr val="bg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HW MACSec</a:t>
              </a: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9C0B0158-AD94-52BA-26A1-CD6ED37C383A}"/>
                </a:ext>
              </a:extLst>
            </p:cNvPr>
            <p:cNvSpPr/>
            <p:nvPr/>
          </p:nvSpPr>
          <p:spPr>
            <a:xfrm>
              <a:off x="8460850" y="5454179"/>
              <a:ext cx="321745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100B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T1</a:t>
              </a: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6ADC0491-E8F1-0A19-90B5-372657DB30F2}"/>
                </a:ext>
              </a:extLst>
            </p:cNvPr>
            <p:cNvSpPr/>
            <p:nvPr/>
          </p:nvSpPr>
          <p:spPr>
            <a:xfrm>
              <a:off x="8827701" y="5455617"/>
              <a:ext cx="321745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100B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T1</a:t>
              </a:r>
            </a:p>
          </p:txBody>
        </p: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B71B8E19-F059-F50E-9BA1-0A5AA7A9FD5F}"/>
              </a:ext>
            </a:extLst>
          </p:cNvPr>
          <p:cNvGrpSpPr/>
          <p:nvPr/>
        </p:nvGrpSpPr>
        <p:grpSpPr>
          <a:xfrm>
            <a:off x="7332346" y="3421473"/>
            <a:ext cx="2082772" cy="817922"/>
            <a:chOff x="7308265" y="5181617"/>
            <a:chExt cx="2082772" cy="817922"/>
          </a:xfrm>
        </p:grpSpPr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3C516954-A948-155B-C8A7-186298810B9B}"/>
                </a:ext>
              </a:extLst>
            </p:cNvPr>
            <p:cNvSpPr/>
            <p:nvPr/>
          </p:nvSpPr>
          <p:spPr>
            <a:xfrm>
              <a:off x="7308265" y="5219017"/>
              <a:ext cx="2082772" cy="780522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3FFAB8F6-DB7C-A8A8-ED3D-D029F91B7F84}"/>
                </a:ext>
              </a:extLst>
            </p:cNvPr>
            <p:cNvSpPr/>
            <p:nvPr/>
          </p:nvSpPr>
          <p:spPr>
            <a:xfrm>
              <a:off x="7343984" y="5456023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AAFCC3E2-6DB0-805C-1890-594E76A86B9C}"/>
                </a:ext>
              </a:extLst>
            </p:cNvPr>
            <p:cNvSpPr txBox="1"/>
            <p:nvPr/>
          </p:nvSpPr>
          <p:spPr>
            <a:xfrm>
              <a:off x="7633597" y="5181617"/>
              <a:ext cx="15656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Integrated Switch</a:t>
              </a: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3F13895F-9EF9-8A2E-0D96-CF6020D055B8}"/>
                </a:ext>
              </a:extLst>
            </p:cNvPr>
            <p:cNvSpPr/>
            <p:nvPr/>
          </p:nvSpPr>
          <p:spPr>
            <a:xfrm>
              <a:off x="7710835" y="5455750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B3C58B97-3095-94B0-FC05-ED7922E28FED}"/>
                </a:ext>
              </a:extLst>
            </p:cNvPr>
            <p:cNvSpPr/>
            <p:nvPr/>
          </p:nvSpPr>
          <p:spPr>
            <a:xfrm>
              <a:off x="8078460" y="5456763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405" name="Rectangle: Rounded Corners 404">
              <a:extLst>
                <a:ext uri="{FF2B5EF4-FFF2-40B4-BE49-F238E27FC236}">
                  <a16:creationId xmlns:a16="http://schemas.microsoft.com/office/drawing/2014/main" id="{CEC19629-47F3-A880-8624-3B8F737B81F9}"/>
                </a:ext>
              </a:extLst>
            </p:cNvPr>
            <p:cNvSpPr/>
            <p:nvPr/>
          </p:nvSpPr>
          <p:spPr>
            <a:xfrm>
              <a:off x="7389205" y="5816261"/>
              <a:ext cx="1810000" cy="147839"/>
            </a:xfrm>
            <a:prstGeom prst="roundRect">
              <a:avLst/>
            </a:prstGeom>
            <a:solidFill>
              <a:schemeClr val="bg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HW MACSec</a:t>
              </a: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9DFE3DD5-1357-3C07-F1D6-BDD393EA1733}"/>
                </a:ext>
              </a:extLst>
            </p:cNvPr>
            <p:cNvSpPr/>
            <p:nvPr/>
          </p:nvSpPr>
          <p:spPr>
            <a:xfrm>
              <a:off x="8460850" y="5454179"/>
              <a:ext cx="321745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100B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T1</a:t>
              </a: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C50B702A-0DFD-ADFA-E149-95272F92DA3B}"/>
                </a:ext>
              </a:extLst>
            </p:cNvPr>
            <p:cNvSpPr/>
            <p:nvPr/>
          </p:nvSpPr>
          <p:spPr>
            <a:xfrm>
              <a:off x="8827701" y="5455617"/>
              <a:ext cx="321745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100B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T1</a:t>
              </a:r>
            </a:p>
          </p:txBody>
        </p:sp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BC037809-750F-085B-05B8-9836C57D1DB2}"/>
              </a:ext>
            </a:extLst>
          </p:cNvPr>
          <p:cNvGrpSpPr/>
          <p:nvPr/>
        </p:nvGrpSpPr>
        <p:grpSpPr>
          <a:xfrm>
            <a:off x="7352473" y="1883716"/>
            <a:ext cx="2082772" cy="817922"/>
            <a:chOff x="7308265" y="5181617"/>
            <a:chExt cx="2082772" cy="817922"/>
          </a:xfrm>
        </p:grpSpPr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0DF40EBC-7AE3-8A83-AFB8-B1E53BD2966C}"/>
                </a:ext>
              </a:extLst>
            </p:cNvPr>
            <p:cNvSpPr/>
            <p:nvPr/>
          </p:nvSpPr>
          <p:spPr>
            <a:xfrm>
              <a:off x="7308265" y="5219017"/>
              <a:ext cx="2082772" cy="780522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823AB059-20F6-3D59-DB59-75DB22673140}"/>
                </a:ext>
              </a:extLst>
            </p:cNvPr>
            <p:cNvSpPr/>
            <p:nvPr/>
          </p:nvSpPr>
          <p:spPr>
            <a:xfrm>
              <a:off x="7343984" y="5456023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223B9AF8-90EE-3C86-12FF-D76076B223B4}"/>
                </a:ext>
              </a:extLst>
            </p:cNvPr>
            <p:cNvSpPr txBox="1"/>
            <p:nvPr/>
          </p:nvSpPr>
          <p:spPr>
            <a:xfrm>
              <a:off x="7633597" y="5181617"/>
              <a:ext cx="15656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ea typeface="メイリオ"/>
                  <a:cs typeface="+mn-cs"/>
                </a:rPr>
                <a:t>Integrated Switch</a:t>
              </a: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2DFD563C-A70A-5EE7-3376-898698C302F5}"/>
                </a:ext>
              </a:extLst>
            </p:cNvPr>
            <p:cNvSpPr/>
            <p:nvPr/>
          </p:nvSpPr>
          <p:spPr>
            <a:xfrm>
              <a:off x="7710835" y="5455750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B17486B3-948F-D90D-CDBF-D20A63B3F961}"/>
                </a:ext>
              </a:extLst>
            </p:cNvPr>
            <p:cNvSpPr/>
            <p:nvPr/>
          </p:nvSpPr>
          <p:spPr>
            <a:xfrm>
              <a:off x="8078460" y="5456763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416" name="Rectangle: Rounded Corners 415">
              <a:extLst>
                <a:ext uri="{FF2B5EF4-FFF2-40B4-BE49-F238E27FC236}">
                  <a16:creationId xmlns:a16="http://schemas.microsoft.com/office/drawing/2014/main" id="{09EDF581-D193-3FFD-CA11-FBE76D054E56}"/>
                </a:ext>
              </a:extLst>
            </p:cNvPr>
            <p:cNvSpPr/>
            <p:nvPr/>
          </p:nvSpPr>
          <p:spPr>
            <a:xfrm>
              <a:off x="7389205" y="5816261"/>
              <a:ext cx="1810000" cy="147839"/>
            </a:xfrm>
            <a:prstGeom prst="roundRect">
              <a:avLst/>
            </a:prstGeom>
            <a:solidFill>
              <a:schemeClr val="bg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HW MACSec</a:t>
              </a: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476025F6-3024-BD93-E19D-B21928235CE3}"/>
                </a:ext>
              </a:extLst>
            </p:cNvPr>
            <p:cNvSpPr/>
            <p:nvPr/>
          </p:nvSpPr>
          <p:spPr>
            <a:xfrm>
              <a:off x="8460850" y="5454179"/>
              <a:ext cx="321745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100B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T1</a:t>
              </a: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3EA3EDAF-EDF3-7D5E-6B5A-20AF8CFC85AC}"/>
                </a:ext>
              </a:extLst>
            </p:cNvPr>
            <p:cNvSpPr/>
            <p:nvPr/>
          </p:nvSpPr>
          <p:spPr>
            <a:xfrm>
              <a:off x="8827701" y="5455617"/>
              <a:ext cx="321745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100B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T1</a:t>
              </a:r>
            </a:p>
          </p:txBody>
        </p:sp>
      </p:grpSp>
      <p:sp>
        <p:nvSpPr>
          <p:cNvPr id="428" name="Rectangle: Rounded Corners 427">
            <a:extLst>
              <a:ext uri="{FF2B5EF4-FFF2-40B4-BE49-F238E27FC236}">
                <a16:creationId xmlns:a16="http://schemas.microsoft.com/office/drawing/2014/main" id="{21C629D1-831D-D7F4-864B-FBC7F1A0BBB7}"/>
              </a:ext>
            </a:extLst>
          </p:cNvPr>
          <p:cNvSpPr/>
          <p:nvPr/>
        </p:nvSpPr>
        <p:spPr>
          <a:xfrm>
            <a:off x="6625693" y="2275831"/>
            <a:ext cx="638364" cy="14733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Tunneling</a:t>
            </a:r>
          </a:p>
        </p:txBody>
      </p:sp>
      <p:sp>
        <p:nvSpPr>
          <p:cNvPr id="429" name="Rectangle: Rounded Corners 428">
            <a:extLst>
              <a:ext uri="{FF2B5EF4-FFF2-40B4-BE49-F238E27FC236}">
                <a16:creationId xmlns:a16="http://schemas.microsoft.com/office/drawing/2014/main" id="{A48FDD34-4221-C3F7-B4AD-A6EC11A08EE6}"/>
              </a:ext>
            </a:extLst>
          </p:cNvPr>
          <p:cNvSpPr/>
          <p:nvPr/>
        </p:nvSpPr>
        <p:spPr>
          <a:xfrm>
            <a:off x="6625693" y="2450725"/>
            <a:ext cx="638364" cy="14733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Routing</a:t>
            </a:r>
          </a:p>
        </p:txBody>
      </p:sp>
      <p:sp>
        <p:nvSpPr>
          <p:cNvPr id="430" name="Rectangle: Rounded Corners 429">
            <a:extLst>
              <a:ext uri="{FF2B5EF4-FFF2-40B4-BE49-F238E27FC236}">
                <a16:creationId xmlns:a16="http://schemas.microsoft.com/office/drawing/2014/main" id="{47134216-96DA-F859-0349-6409BF2DA745}"/>
              </a:ext>
            </a:extLst>
          </p:cNvPr>
          <p:cNvSpPr/>
          <p:nvPr/>
        </p:nvSpPr>
        <p:spPr>
          <a:xfrm>
            <a:off x="6574109" y="3820068"/>
            <a:ext cx="638364" cy="14733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Tunneling</a:t>
            </a:r>
          </a:p>
        </p:txBody>
      </p:sp>
      <p:sp>
        <p:nvSpPr>
          <p:cNvPr id="431" name="Rectangle: Rounded Corners 430">
            <a:extLst>
              <a:ext uri="{FF2B5EF4-FFF2-40B4-BE49-F238E27FC236}">
                <a16:creationId xmlns:a16="http://schemas.microsoft.com/office/drawing/2014/main" id="{68C7AFA9-FC17-7617-1F73-5E36EB605E53}"/>
              </a:ext>
            </a:extLst>
          </p:cNvPr>
          <p:cNvSpPr/>
          <p:nvPr/>
        </p:nvSpPr>
        <p:spPr>
          <a:xfrm>
            <a:off x="6574109" y="4002582"/>
            <a:ext cx="638364" cy="14733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Routing</a:t>
            </a:r>
          </a:p>
        </p:txBody>
      </p:sp>
      <p:sp>
        <p:nvSpPr>
          <p:cNvPr id="432" name="Rectangle: Rounded Corners 431">
            <a:extLst>
              <a:ext uri="{FF2B5EF4-FFF2-40B4-BE49-F238E27FC236}">
                <a16:creationId xmlns:a16="http://schemas.microsoft.com/office/drawing/2014/main" id="{24A2D240-B368-9446-03D0-1F5E0B7EC371}"/>
              </a:ext>
            </a:extLst>
          </p:cNvPr>
          <p:cNvSpPr/>
          <p:nvPr/>
        </p:nvSpPr>
        <p:spPr>
          <a:xfrm>
            <a:off x="6543893" y="5442896"/>
            <a:ext cx="638364" cy="14733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Tunneling</a:t>
            </a:r>
          </a:p>
        </p:txBody>
      </p:sp>
      <p:sp>
        <p:nvSpPr>
          <p:cNvPr id="433" name="Rectangle: Rounded Corners 432">
            <a:extLst>
              <a:ext uri="{FF2B5EF4-FFF2-40B4-BE49-F238E27FC236}">
                <a16:creationId xmlns:a16="http://schemas.microsoft.com/office/drawing/2014/main" id="{F250F7F6-36D6-0B53-431B-F06A6128A55C}"/>
              </a:ext>
            </a:extLst>
          </p:cNvPr>
          <p:cNvSpPr/>
          <p:nvPr/>
        </p:nvSpPr>
        <p:spPr>
          <a:xfrm>
            <a:off x="6543893" y="5617790"/>
            <a:ext cx="638364" cy="14733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Routing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B5CD59-1334-42CD-88F0-EFB04A7DC11A}"/>
              </a:ext>
            </a:extLst>
          </p:cNvPr>
          <p:cNvSpPr/>
          <p:nvPr/>
        </p:nvSpPr>
        <p:spPr>
          <a:xfrm>
            <a:off x="1119338" y="4123623"/>
            <a:ext cx="3042121" cy="141395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NEON –SIMD (up to ~29 GFOPS (FP32) / 4.8 per Core)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C18343-D500-8628-BE31-AC762553F0DB}"/>
              </a:ext>
            </a:extLst>
          </p:cNvPr>
          <p:cNvSpPr/>
          <p:nvPr/>
        </p:nvSpPr>
        <p:spPr>
          <a:xfrm>
            <a:off x="1109221" y="5671363"/>
            <a:ext cx="3042121" cy="141395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NEON –SIMD (up to ~19 GFOPS (FP32) / 4.8 per Core)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8D4ABC-65F1-F4F5-0675-747F66FD9710}"/>
              </a:ext>
            </a:extLst>
          </p:cNvPr>
          <p:cNvSpPr/>
          <p:nvPr/>
        </p:nvSpPr>
        <p:spPr>
          <a:xfrm>
            <a:off x="9606059" y="2176228"/>
            <a:ext cx="708044" cy="22934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Audio PLL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1C1D86-7006-D3C5-9068-D3DCF7592593}"/>
              </a:ext>
            </a:extLst>
          </p:cNvPr>
          <p:cNvSpPr/>
          <p:nvPr/>
        </p:nvSpPr>
        <p:spPr>
          <a:xfrm>
            <a:off x="9606089" y="2456975"/>
            <a:ext cx="708044" cy="2099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SRC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8768AC-DB90-5402-42F0-7B2C180DA8E2}"/>
              </a:ext>
            </a:extLst>
          </p:cNvPr>
          <p:cNvSpPr/>
          <p:nvPr/>
        </p:nvSpPr>
        <p:spPr>
          <a:xfrm rot="10800000" flipV="1">
            <a:off x="9541315" y="3388499"/>
            <a:ext cx="854432" cy="902774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FD3177-89F9-337F-E050-A2A5008F5A34}"/>
              </a:ext>
            </a:extLst>
          </p:cNvPr>
          <p:cNvSpPr/>
          <p:nvPr/>
        </p:nvSpPr>
        <p:spPr>
          <a:xfrm>
            <a:off x="9607557" y="3481907"/>
            <a:ext cx="705225" cy="2099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I2S/TDM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CF5D02-1211-FD9A-96EA-FAA216228A6E}"/>
              </a:ext>
            </a:extLst>
          </p:cNvPr>
          <p:cNvSpPr/>
          <p:nvPr/>
        </p:nvSpPr>
        <p:spPr>
          <a:xfrm>
            <a:off x="9604739" y="3731416"/>
            <a:ext cx="708044" cy="22934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Audio PLL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CAF292-326F-E2CF-E4A6-BA20D0C945DF}"/>
              </a:ext>
            </a:extLst>
          </p:cNvPr>
          <p:cNvSpPr/>
          <p:nvPr/>
        </p:nvSpPr>
        <p:spPr>
          <a:xfrm>
            <a:off x="9604769" y="4012163"/>
            <a:ext cx="708044" cy="2099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SRC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26237D-4D8A-B722-329A-EEC826101FBE}"/>
              </a:ext>
            </a:extLst>
          </p:cNvPr>
          <p:cNvSpPr/>
          <p:nvPr/>
        </p:nvSpPr>
        <p:spPr>
          <a:xfrm rot="10800000" flipV="1">
            <a:off x="9479608" y="4985067"/>
            <a:ext cx="854432" cy="902774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CA6919-0075-59D8-D303-CE9FEBD3524E}"/>
              </a:ext>
            </a:extLst>
          </p:cNvPr>
          <p:cNvSpPr/>
          <p:nvPr/>
        </p:nvSpPr>
        <p:spPr>
          <a:xfrm>
            <a:off x="9545850" y="5078475"/>
            <a:ext cx="705225" cy="2099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I2S/TDM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63FD13-D041-003E-2984-957CA49A4EBF}"/>
              </a:ext>
            </a:extLst>
          </p:cNvPr>
          <p:cNvSpPr/>
          <p:nvPr/>
        </p:nvSpPr>
        <p:spPr>
          <a:xfrm>
            <a:off x="9543032" y="5327984"/>
            <a:ext cx="708044" cy="22934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Audio PLL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356F691-18E1-014B-7B07-735AE9F689F0}"/>
              </a:ext>
            </a:extLst>
          </p:cNvPr>
          <p:cNvSpPr/>
          <p:nvPr/>
        </p:nvSpPr>
        <p:spPr>
          <a:xfrm>
            <a:off x="9543062" y="5608731"/>
            <a:ext cx="708044" cy="2099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SRC</a:t>
            </a:r>
          </a:p>
        </p:txBody>
      </p:sp>
    </p:spTree>
    <p:extLst>
      <p:ext uri="{BB962C8B-B14F-4D97-AF65-F5344CB8AC3E}">
        <p14:creationId xmlns:p14="http://schemas.microsoft.com/office/powerpoint/2010/main" val="3095731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A3D9-9C77-2E82-5643-CA2E2667B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D8AA0-5736-FA2B-5875-52D428B2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966" y="283677"/>
            <a:ext cx="11540002" cy="775597"/>
          </a:xfrm>
        </p:spPr>
        <p:txBody>
          <a:bodyPr/>
          <a:lstStyle/>
          <a:p>
            <a:r>
              <a:rPr lang="en-US"/>
              <a:t>U5H Family Concept-Rationale</a:t>
            </a:r>
            <a:br>
              <a:rPr lang="en-US" sz="2400" b="0" noProof="0">
                <a:solidFill>
                  <a:srgbClr val="06418C"/>
                </a:solidFill>
                <a:effectLst/>
                <a:latin typeface="Arial" panose="020B0604020202020204" pitchFamily="34" charset="0"/>
              </a:rPr>
            </a:br>
            <a:endParaRPr lang="en-US" sz="2400" b="0" noProof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7531A9-ACF7-5CE8-007E-32015E4A7961}"/>
              </a:ext>
            </a:extLst>
          </p:cNvPr>
          <p:cNvSpPr txBox="1"/>
          <p:nvPr/>
        </p:nvSpPr>
        <p:spPr>
          <a:xfrm>
            <a:off x="116937" y="2841485"/>
            <a:ext cx="1088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U5H24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7CC6F781-2E40-0869-2824-EFE616D8EB8F}"/>
              </a:ext>
            </a:extLst>
          </p:cNvPr>
          <p:cNvSpPr/>
          <p:nvPr/>
        </p:nvSpPr>
        <p:spPr>
          <a:xfrm>
            <a:off x="10572550" y="2876003"/>
            <a:ext cx="708044" cy="9027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7MB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SRAM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AA8D5F8E-7F7A-F013-DB1F-360765161A15}"/>
              </a:ext>
            </a:extLst>
          </p:cNvPr>
          <p:cNvSpPr/>
          <p:nvPr/>
        </p:nvSpPr>
        <p:spPr>
          <a:xfrm>
            <a:off x="11315924" y="2875506"/>
            <a:ext cx="708044" cy="90277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24MB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(NVM)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ED07BFF-201A-D726-2952-5155F8AC20C5}"/>
              </a:ext>
            </a:extLst>
          </p:cNvPr>
          <p:cNvGrpSpPr/>
          <p:nvPr/>
        </p:nvGrpSpPr>
        <p:grpSpPr>
          <a:xfrm>
            <a:off x="5734185" y="2876293"/>
            <a:ext cx="754467" cy="906058"/>
            <a:chOff x="4986138" y="1744437"/>
            <a:chExt cx="754467" cy="906058"/>
          </a:xfrm>
        </p:grpSpPr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4866712C-2583-311D-32C9-C0D54DE9D264}"/>
                </a:ext>
              </a:extLst>
            </p:cNvPr>
            <p:cNvSpPr/>
            <p:nvPr/>
          </p:nvSpPr>
          <p:spPr>
            <a:xfrm rot="10800000" flipV="1">
              <a:off x="4991817" y="1754865"/>
              <a:ext cx="748788" cy="895630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Low Power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Sub-system</a:t>
              </a: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FD95AF4F-F80B-72B6-7B8A-770DF45D720C}"/>
                </a:ext>
              </a:extLst>
            </p:cNvPr>
            <p:cNvSpPr/>
            <p:nvPr/>
          </p:nvSpPr>
          <p:spPr>
            <a:xfrm>
              <a:off x="5113866" y="1893234"/>
              <a:ext cx="492544" cy="25372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M23</a:t>
              </a: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C4973573-909A-6EA7-B4E5-A7A3CE926627}"/>
                </a:ext>
              </a:extLst>
            </p:cNvPr>
            <p:cNvSpPr/>
            <p:nvPr/>
          </p:nvSpPr>
          <p:spPr>
            <a:xfrm>
              <a:off x="5112947" y="2189214"/>
              <a:ext cx="492544" cy="157509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ADCs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EEFA6D-B683-DD71-5BEB-4897DB4045CF}"/>
                </a:ext>
              </a:extLst>
            </p:cNvPr>
            <p:cNvSpPr/>
            <p:nvPr/>
          </p:nvSpPr>
          <p:spPr>
            <a:xfrm rot="10800000" flipV="1">
              <a:off x="4986138" y="1744437"/>
              <a:ext cx="748788" cy="906058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ea typeface="メイリオ"/>
                  <a:cs typeface="+mn-cs"/>
                </a:rPr>
                <a:t>Low Power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ea typeface="メイリオ"/>
                  <a:cs typeface="+mn-cs"/>
                </a:rPr>
                <a:t>Sub-system</a:t>
              </a: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3ED83DC2-648B-F077-18F7-EECB59D48BAE}"/>
                </a:ext>
              </a:extLst>
            </p:cNvPr>
            <p:cNvSpPr/>
            <p:nvPr/>
          </p:nvSpPr>
          <p:spPr>
            <a:xfrm>
              <a:off x="5074396" y="1836758"/>
              <a:ext cx="492544" cy="253720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M23</a:t>
              </a: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3E597182-2254-7F1E-6E4A-4364834E0920}"/>
                </a:ext>
              </a:extLst>
            </p:cNvPr>
            <p:cNvSpPr/>
            <p:nvPr/>
          </p:nvSpPr>
          <p:spPr>
            <a:xfrm>
              <a:off x="5071547" y="2112776"/>
              <a:ext cx="615364" cy="13037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LP-ADCs</a:t>
              </a: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F244482B-84C9-26BE-3725-B6F3FE43B483}"/>
                </a:ext>
              </a:extLst>
            </p:cNvPr>
            <p:cNvSpPr/>
            <p:nvPr/>
          </p:nvSpPr>
          <p:spPr>
            <a:xfrm>
              <a:off x="5072815" y="2261785"/>
              <a:ext cx="619245" cy="126321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LP-LIN/CAN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66C007BF-A7B9-E2CB-2979-C8C32F890F60}"/>
              </a:ext>
            </a:extLst>
          </p:cNvPr>
          <p:cNvSpPr/>
          <p:nvPr/>
        </p:nvSpPr>
        <p:spPr>
          <a:xfrm rot="10800000" flipV="1">
            <a:off x="1111978" y="2877432"/>
            <a:ext cx="3121525" cy="905862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F453FE-0673-A0D8-FE4B-0F77A35B6B3A}"/>
              </a:ext>
            </a:extLst>
          </p:cNvPr>
          <p:cNvSpPr txBox="1"/>
          <p:nvPr/>
        </p:nvSpPr>
        <p:spPr>
          <a:xfrm>
            <a:off x="118054" y="3157895"/>
            <a:ext cx="1001830" cy="1146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BGA476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BGA292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(0.8mm pitch)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6FA5E4-6534-13E7-4EDF-243560B1876A}"/>
              </a:ext>
            </a:extLst>
          </p:cNvPr>
          <p:cNvSpPr txBox="1"/>
          <p:nvPr/>
        </p:nvSpPr>
        <p:spPr>
          <a:xfrm>
            <a:off x="1845416" y="3803797"/>
            <a:ext cx="1149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5V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00ED1BC0-8627-7778-E0DD-BA09C512906E}"/>
              </a:ext>
            </a:extLst>
          </p:cNvPr>
          <p:cNvSpPr/>
          <p:nvPr/>
        </p:nvSpPr>
        <p:spPr>
          <a:xfrm rot="10800000" flipV="1">
            <a:off x="6515269" y="2880519"/>
            <a:ext cx="3003468" cy="902775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EA3C6F1C-956F-B69C-0160-DEF310F5EDA3}"/>
              </a:ext>
            </a:extLst>
          </p:cNvPr>
          <p:cNvSpPr/>
          <p:nvPr/>
        </p:nvSpPr>
        <p:spPr>
          <a:xfrm>
            <a:off x="6559477" y="2967624"/>
            <a:ext cx="748788" cy="7656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TUBE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Routing</a:t>
            </a:r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BF7C418F-8FD7-13C2-5164-1D6C9DBE71F0}"/>
              </a:ext>
            </a:extLst>
          </p:cNvPr>
          <p:cNvGrpSpPr/>
          <p:nvPr/>
        </p:nvGrpSpPr>
        <p:grpSpPr>
          <a:xfrm>
            <a:off x="5032987" y="2883923"/>
            <a:ext cx="666389" cy="895630"/>
            <a:chOff x="5624683" y="491189"/>
            <a:chExt cx="666389" cy="895630"/>
          </a:xfrm>
        </p:grpSpPr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BF950137-E318-2A8F-1D28-4A31F3C8F3F2}"/>
                </a:ext>
              </a:extLst>
            </p:cNvPr>
            <p:cNvSpPr/>
            <p:nvPr/>
          </p:nvSpPr>
          <p:spPr>
            <a:xfrm rot="10800000" flipV="1">
              <a:off x="5624683" y="491189"/>
              <a:ext cx="666389" cy="895630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ea typeface="メイリオ"/>
                  <a:cs typeface="+mn-cs"/>
                </a:rPr>
                <a:t>AI/ML/NN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F1DCA79-DF67-B6AB-4196-DB92CF6835FF}"/>
                </a:ext>
              </a:extLst>
            </p:cNvPr>
            <p:cNvSpPr/>
            <p:nvPr/>
          </p:nvSpPr>
          <p:spPr>
            <a:xfrm>
              <a:off x="5652897" y="554281"/>
              <a:ext cx="599026" cy="653841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Ethos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U55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150 GOPS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A0290EB-E9F6-635D-F067-A9BC126B6889}"/>
              </a:ext>
            </a:extLst>
          </p:cNvPr>
          <p:cNvSpPr txBox="1"/>
          <p:nvPr/>
        </p:nvSpPr>
        <p:spPr>
          <a:xfrm>
            <a:off x="1042897" y="2535910"/>
            <a:ext cx="5022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Core Configs: 5+5, 6+4, 7+3, 8+2 =&gt; DMIPS 6.8k – 10.6K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176F22-E609-B763-94C5-1F4C2620F189}"/>
              </a:ext>
            </a:extLst>
          </p:cNvPr>
          <p:cNvSpPr/>
          <p:nvPr/>
        </p:nvSpPr>
        <p:spPr>
          <a:xfrm>
            <a:off x="10621329" y="3371898"/>
            <a:ext cx="600719" cy="36133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256K Retention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1771778-FD70-0EC3-6AA9-030F2A1EA613}"/>
              </a:ext>
            </a:extLst>
          </p:cNvPr>
          <p:cNvGrpSpPr/>
          <p:nvPr/>
        </p:nvGrpSpPr>
        <p:grpSpPr>
          <a:xfrm>
            <a:off x="4259278" y="2884617"/>
            <a:ext cx="748788" cy="903088"/>
            <a:chOff x="3818202" y="1753029"/>
            <a:chExt cx="748788" cy="90308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A2F6606-99CA-9286-18F3-00F4AAEE2603}"/>
                </a:ext>
              </a:extLst>
            </p:cNvPr>
            <p:cNvSpPr/>
            <p:nvPr/>
          </p:nvSpPr>
          <p:spPr>
            <a:xfrm rot="10800000" flipV="1">
              <a:off x="3818202" y="1753029"/>
              <a:ext cx="748788" cy="903088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ea typeface="メイリオ"/>
                  <a:cs typeface="+mn-cs"/>
                </a:rPr>
                <a:t>System Manager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A46F1DE-30EB-10A8-813A-D4585C8951B8}"/>
                </a:ext>
              </a:extLst>
            </p:cNvPr>
            <p:cNvSpPr/>
            <p:nvPr/>
          </p:nvSpPr>
          <p:spPr>
            <a:xfrm>
              <a:off x="3883625" y="1822407"/>
              <a:ext cx="492544" cy="509965"/>
            </a:xfrm>
            <a:prstGeom prst="rect">
              <a:avLst/>
            </a:prstGeom>
            <a:solidFill>
              <a:schemeClr val="bg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M33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MHz</a:t>
              </a:r>
            </a:p>
          </p:txBody>
        </p:sp>
      </p:grpSp>
      <p:sp>
        <p:nvSpPr>
          <p:cNvPr id="246" name="TextBox 245">
            <a:extLst>
              <a:ext uri="{FF2B5EF4-FFF2-40B4-BE49-F238E27FC236}">
                <a16:creationId xmlns:a16="http://schemas.microsoft.com/office/drawing/2014/main" id="{63BB205D-2395-146D-CD56-296DF3760461}"/>
              </a:ext>
            </a:extLst>
          </p:cNvPr>
          <p:cNvSpPr txBox="1"/>
          <p:nvPr/>
        </p:nvSpPr>
        <p:spPr>
          <a:xfrm>
            <a:off x="1031956" y="3812597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~ 350 I/O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C21A56-05B9-D6F0-94AC-A32478B160AE}"/>
              </a:ext>
            </a:extLst>
          </p:cNvPr>
          <p:cNvSpPr/>
          <p:nvPr/>
        </p:nvSpPr>
        <p:spPr>
          <a:xfrm>
            <a:off x="4397199" y="3029727"/>
            <a:ext cx="492544" cy="509965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M33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2662E91-D44C-E48F-6E58-D972EFEEDAC6}"/>
              </a:ext>
            </a:extLst>
          </p:cNvPr>
          <p:cNvSpPr/>
          <p:nvPr/>
        </p:nvSpPr>
        <p:spPr>
          <a:xfrm rot="10800000" flipV="1">
            <a:off x="9542635" y="2884871"/>
            <a:ext cx="854432" cy="902774"/>
          </a:xfrm>
          <a:prstGeom prst="rect">
            <a:avLst/>
          </a:prstGeom>
          <a:solidFill>
            <a:schemeClr val="bg1"/>
          </a:solidFill>
          <a:ln w="31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18E23AA-86A2-CCF3-3230-2A96525E085F}"/>
              </a:ext>
            </a:extLst>
          </p:cNvPr>
          <p:cNvSpPr/>
          <p:nvPr/>
        </p:nvSpPr>
        <p:spPr>
          <a:xfrm>
            <a:off x="9608877" y="2978279"/>
            <a:ext cx="705225" cy="2099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I2S/TDM</a:t>
            </a:r>
          </a:p>
        </p:txBody>
      </p: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7DDEBA3-719E-BDB6-769E-49CECECDE8D5}"/>
              </a:ext>
            </a:extLst>
          </p:cNvPr>
          <p:cNvGrpSpPr/>
          <p:nvPr/>
        </p:nvGrpSpPr>
        <p:grpSpPr>
          <a:xfrm>
            <a:off x="1163339" y="2979141"/>
            <a:ext cx="1149007" cy="588833"/>
            <a:chOff x="5877015" y="779936"/>
            <a:chExt cx="1313897" cy="664797"/>
          </a:xfrm>
        </p:grpSpPr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AA7ACE46-F8E5-E3E9-728B-4AE8C844684D}"/>
                </a:ext>
              </a:extLst>
            </p:cNvPr>
            <p:cNvSpPr/>
            <p:nvPr/>
          </p:nvSpPr>
          <p:spPr>
            <a:xfrm rot="10800000" flipV="1">
              <a:off x="5877015" y="779936"/>
              <a:ext cx="1313897" cy="664797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958A5E66-5C43-AB29-310D-B00A8C095931}"/>
                </a:ext>
              </a:extLst>
            </p:cNvPr>
            <p:cNvGrpSpPr/>
            <p:nvPr/>
          </p:nvGrpSpPr>
          <p:grpSpPr>
            <a:xfrm>
              <a:off x="5944857" y="859782"/>
              <a:ext cx="560604" cy="525508"/>
              <a:chOff x="1148936" y="1993629"/>
              <a:chExt cx="560604" cy="525508"/>
            </a:xfrm>
          </p:grpSpPr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BA4C551E-5B32-AAF7-6494-D10D94579EFF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575963B-0857-B92E-6E11-13D8B8D7B31E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52D4AA33-C3D7-440F-65EE-846C7F5DA7DB}"/>
                </a:ext>
              </a:extLst>
            </p:cNvPr>
            <p:cNvGrpSpPr/>
            <p:nvPr/>
          </p:nvGrpSpPr>
          <p:grpSpPr>
            <a:xfrm>
              <a:off x="6559477" y="869078"/>
              <a:ext cx="560604" cy="525508"/>
              <a:chOff x="1148936" y="1993629"/>
              <a:chExt cx="560604" cy="525508"/>
            </a:xfrm>
          </p:grpSpPr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3FE234AA-E4C7-8A1F-B44B-2AA998A325EE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205CEBD6-E9E9-104E-1432-EA3B454C9171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3B7DD31-07B2-EBAB-E636-F41C098E083C}"/>
              </a:ext>
            </a:extLst>
          </p:cNvPr>
          <p:cNvGrpSpPr/>
          <p:nvPr/>
        </p:nvGrpSpPr>
        <p:grpSpPr>
          <a:xfrm>
            <a:off x="2346649" y="2978813"/>
            <a:ext cx="1149007" cy="588833"/>
            <a:chOff x="5877015" y="779936"/>
            <a:chExt cx="1313897" cy="66479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02C55B3-A2AC-54E6-08D7-95A98D0880AA}"/>
                </a:ext>
              </a:extLst>
            </p:cNvPr>
            <p:cNvSpPr/>
            <p:nvPr/>
          </p:nvSpPr>
          <p:spPr>
            <a:xfrm rot="10800000" flipV="1">
              <a:off x="5877015" y="779936"/>
              <a:ext cx="1313897" cy="664797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F88C5F3-CE96-8953-D8A1-33843DBF14D0}"/>
                </a:ext>
              </a:extLst>
            </p:cNvPr>
            <p:cNvGrpSpPr/>
            <p:nvPr/>
          </p:nvGrpSpPr>
          <p:grpSpPr>
            <a:xfrm>
              <a:off x="5944857" y="859782"/>
              <a:ext cx="560604" cy="525508"/>
              <a:chOff x="1148936" y="1993629"/>
              <a:chExt cx="560604" cy="52550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FF0DA10-D4D5-E95E-6A6F-E42C4B2596AA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CA7E3BF-38D9-B805-E4E4-D922FBA02F45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6787E4A-512A-F629-FDED-DF2FD618C5BF}"/>
                </a:ext>
              </a:extLst>
            </p:cNvPr>
            <p:cNvGrpSpPr/>
            <p:nvPr/>
          </p:nvGrpSpPr>
          <p:grpSpPr>
            <a:xfrm>
              <a:off x="6559477" y="869078"/>
              <a:ext cx="560604" cy="525508"/>
              <a:chOff x="1148936" y="1993629"/>
              <a:chExt cx="560604" cy="525508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44D7B5E-3F41-FF5D-01E5-60957446E5A2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90A5895-A4C0-F0FA-8180-BB1AC0E3E556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4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5F1A16D-5AB2-35C1-7B2C-1D71EA91C119}"/>
              </a:ext>
            </a:extLst>
          </p:cNvPr>
          <p:cNvGrpSpPr/>
          <p:nvPr/>
        </p:nvGrpSpPr>
        <p:grpSpPr>
          <a:xfrm>
            <a:off x="3543189" y="2974925"/>
            <a:ext cx="630315" cy="590923"/>
            <a:chOff x="6471172" y="779936"/>
            <a:chExt cx="719739" cy="664797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CC7AA47-2358-A13B-C9CF-8F9EB6A334A6}"/>
                </a:ext>
              </a:extLst>
            </p:cNvPr>
            <p:cNvSpPr/>
            <p:nvPr/>
          </p:nvSpPr>
          <p:spPr>
            <a:xfrm rot="10800000" flipV="1">
              <a:off x="6471172" y="779936"/>
              <a:ext cx="719739" cy="664797"/>
            </a:xfrm>
            <a:prstGeom prst="rect">
              <a:avLst/>
            </a:prstGeom>
            <a:solidFill>
              <a:schemeClr val="bg1"/>
            </a:solidFill>
            <a:ln w="3175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0BBEC1C7-618A-CF8E-77E7-B088BE0D8555}"/>
                </a:ext>
              </a:extLst>
            </p:cNvPr>
            <p:cNvGrpSpPr/>
            <p:nvPr/>
          </p:nvGrpSpPr>
          <p:grpSpPr>
            <a:xfrm>
              <a:off x="6559477" y="869078"/>
              <a:ext cx="560604" cy="525508"/>
              <a:chOff x="1148936" y="1993629"/>
              <a:chExt cx="560604" cy="525508"/>
            </a:xfrm>
          </p:grpSpPr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559F7934-0170-B5C9-E76B-E5F376629EF6}"/>
                  </a:ext>
                </a:extLst>
              </p:cNvPr>
              <p:cNvSpPr/>
              <p:nvPr/>
            </p:nvSpPr>
            <p:spPr>
              <a:xfrm>
                <a:off x="1148936" y="1993629"/>
                <a:ext cx="518813" cy="47769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2D2E6F09-5138-8A26-C891-E883CE9E66D5}"/>
                  </a:ext>
                </a:extLst>
              </p:cNvPr>
              <p:cNvSpPr/>
              <p:nvPr/>
            </p:nvSpPr>
            <p:spPr>
              <a:xfrm>
                <a:off x="1190726" y="2041443"/>
                <a:ext cx="518814" cy="47769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R52+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3C3C3B"/>
                    </a:solidFill>
                    <a:effectLst/>
                    <a:uLnTx/>
                    <a:uFillTx/>
                    <a:latin typeface="Arial"/>
                    <a:ea typeface="メイリオ"/>
                    <a:cs typeface="+mn-cs"/>
                  </a:rPr>
                  <a:t>600MHz</a:t>
                </a:r>
                <a:endParaRPr kumimoji="0" lang="en-US" sz="5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</p:grp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4CA055AC-3AA8-22B5-0298-694554936361}"/>
              </a:ext>
            </a:extLst>
          </p:cNvPr>
          <p:cNvGrpSpPr/>
          <p:nvPr/>
        </p:nvGrpSpPr>
        <p:grpSpPr>
          <a:xfrm>
            <a:off x="2726692" y="2896051"/>
            <a:ext cx="403992" cy="170857"/>
            <a:chOff x="3656223" y="3458698"/>
            <a:chExt cx="403992" cy="170857"/>
          </a:xfrm>
        </p:grpSpPr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29182C70-4DF3-64D5-72C3-340B59DAE9DD}"/>
                </a:ext>
              </a:extLst>
            </p:cNvPr>
            <p:cNvSpPr/>
            <p:nvPr/>
          </p:nvSpPr>
          <p:spPr>
            <a:xfrm>
              <a:off x="3656223" y="3518404"/>
              <a:ext cx="147350" cy="1111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289C08CE-827E-B259-1CAB-62C9AE807AB4}"/>
                </a:ext>
              </a:extLst>
            </p:cNvPr>
            <p:cNvSpPr/>
            <p:nvPr/>
          </p:nvSpPr>
          <p:spPr>
            <a:xfrm>
              <a:off x="3912865" y="3516906"/>
              <a:ext cx="147350" cy="111151"/>
            </a:xfrm>
            <a:prstGeom prst="rect">
              <a:avLst/>
            </a:prstGeom>
            <a:solidFill>
              <a:srgbClr val="B9D7FC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95" name="Arrow: Curved Right 294">
              <a:extLst>
                <a:ext uri="{FF2B5EF4-FFF2-40B4-BE49-F238E27FC236}">
                  <a16:creationId xmlns:a16="http://schemas.microsoft.com/office/drawing/2014/main" id="{D9A863CD-232F-9CE0-1FAF-E3AE650E39D2}"/>
                </a:ext>
              </a:extLst>
            </p:cNvPr>
            <p:cNvSpPr/>
            <p:nvPr/>
          </p:nvSpPr>
          <p:spPr>
            <a:xfrm rot="5400000" flipV="1">
              <a:off x="3836025" y="3396813"/>
              <a:ext cx="111153" cy="234924"/>
            </a:xfrm>
            <a:prstGeom prst="curvedRightArrow">
              <a:avLst>
                <a:gd name="adj1" fmla="val 17243"/>
                <a:gd name="adj2" fmla="val 50000"/>
                <a:gd name="adj3" fmla="val 3254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3E31C462-FD08-6941-A27F-1688DECD3C50}"/>
              </a:ext>
            </a:extLst>
          </p:cNvPr>
          <p:cNvGrpSpPr/>
          <p:nvPr/>
        </p:nvGrpSpPr>
        <p:grpSpPr>
          <a:xfrm>
            <a:off x="3667999" y="2897261"/>
            <a:ext cx="403992" cy="170857"/>
            <a:chOff x="3656223" y="3458698"/>
            <a:chExt cx="403992" cy="170857"/>
          </a:xfrm>
        </p:grpSpPr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A83EA354-6873-42C2-FEC6-4B9E36928F49}"/>
                </a:ext>
              </a:extLst>
            </p:cNvPr>
            <p:cNvSpPr/>
            <p:nvPr/>
          </p:nvSpPr>
          <p:spPr>
            <a:xfrm>
              <a:off x="3656223" y="3518404"/>
              <a:ext cx="147350" cy="1111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E3DD2633-EB18-216D-9F5D-D9099B7CF566}"/>
                </a:ext>
              </a:extLst>
            </p:cNvPr>
            <p:cNvSpPr/>
            <p:nvPr/>
          </p:nvSpPr>
          <p:spPr>
            <a:xfrm>
              <a:off x="3912865" y="3516906"/>
              <a:ext cx="147350" cy="111151"/>
            </a:xfrm>
            <a:prstGeom prst="rect">
              <a:avLst/>
            </a:prstGeom>
            <a:solidFill>
              <a:srgbClr val="B9D7FC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313" name="Arrow: Curved Right 312">
              <a:extLst>
                <a:ext uri="{FF2B5EF4-FFF2-40B4-BE49-F238E27FC236}">
                  <a16:creationId xmlns:a16="http://schemas.microsoft.com/office/drawing/2014/main" id="{1B0B3E75-18B8-A38C-3C1B-006407A68656}"/>
                </a:ext>
              </a:extLst>
            </p:cNvPr>
            <p:cNvSpPr/>
            <p:nvPr/>
          </p:nvSpPr>
          <p:spPr>
            <a:xfrm rot="5400000" flipV="1">
              <a:off x="3836025" y="3396813"/>
              <a:ext cx="111153" cy="234924"/>
            </a:xfrm>
            <a:prstGeom prst="curvedRightArrow">
              <a:avLst>
                <a:gd name="adj1" fmla="val 17243"/>
                <a:gd name="adj2" fmla="val 50000"/>
                <a:gd name="adj3" fmla="val 3254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E243647-4FF9-82AE-26B3-665C1B6FA3C9}"/>
              </a:ext>
            </a:extLst>
          </p:cNvPr>
          <p:cNvSpPr/>
          <p:nvPr/>
        </p:nvSpPr>
        <p:spPr>
          <a:xfrm>
            <a:off x="1137366" y="3600856"/>
            <a:ext cx="3042121" cy="141395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NEON –SIMD (up to ~38 GFOPS (FP32) / 4.8 per Core) </a:t>
            </a:r>
          </a:p>
        </p:txBody>
      </p: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C179D15B-EA54-D358-9CD8-ECF354EADB6F}"/>
              </a:ext>
            </a:extLst>
          </p:cNvPr>
          <p:cNvGrpSpPr/>
          <p:nvPr/>
        </p:nvGrpSpPr>
        <p:grpSpPr>
          <a:xfrm>
            <a:off x="7352473" y="2935276"/>
            <a:ext cx="2082772" cy="817922"/>
            <a:chOff x="7308265" y="5181617"/>
            <a:chExt cx="2082772" cy="817922"/>
          </a:xfrm>
        </p:grpSpPr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7443BCC8-EC00-4797-9A58-5EDCE9FD9F29}"/>
                </a:ext>
              </a:extLst>
            </p:cNvPr>
            <p:cNvSpPr/>
            <p:nvPr/>
          </p:nvSpPr>
          <p:spPr>
            <a:xfrm>
              <a:off x="7308265" y="5219017"/>
              <a:ext cx="2082772" cy="780522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D9997145-B542-B362-93A4-32CFFACC7728}"/>
                </a:ext>
              </a:extLst>
            </p:cNvPr>
            <p:cNvSpPr/>
            <p:nvPr/>
          </p:nvSpPr>
          <p:spPr>
            <a:xfrm>
              <a:off x="7343984" y="5456023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4E527A25-4BEB-D0AB-534E-E51B4FC8D9C3}"/>
                </a:ext>
              </a:extLst>
            </p:cNvPr>
            <p:cNvSpPr txBox="1"/>
            <p:nvPr/>
          </p:nvSpPr>
          <p:spPr>
            <a:xfrm>
              <a:off x="7633597" y="5181617"/>
              <a:ext cx="15656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ea typeface="メイリオ"/>
                  <a:cs typeface="+mn-cs"/>
                </a:rPr>
                <a:t>Integrated Switch</a:t>
              </a: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8A034DEB-F398-6A8C-9617-FE3C5F1B7FEB}"/>
                </a:ext>
              </a:extLst>
            </p:cNvPr>
            <p:cNvSpPr/>
            <p:nvPr/>
          </p:nvSpPr>
          <p:spPr>
            <a:xfrm>
              <a:off x="7710835" y="5455750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D525CE69-F852-2E16-B078-54B54F686668}"/>
                </a:ext>
              </a:extLst>
            </p:cNvPr>
            <p:cNvSpPr/>
            <p:nvPr/>
          </p:nvSpPr>
          <p:spPr>
            <a:xfrm>
              <a:off x="8078460" y="5456763"/>
              <a:ext cx="347309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2.5G ETH</a:t>
              </a:r>
            </a:p>
          </p:txBody>
        </p:sp>
        <p:sp>
          <p:nvSpPr>
            <p:cNvPr id="416" name="Rectangle: Rounded Corners 415">
              <a:extLst>
                <a:ext uri="{FF2B5EF4-FFF2-40B4-BE49-F238E27FC236}">
                  <a16:creationId xmlns:a16="http://schemas.microsoft.com/office/drawing/2014/main" id="{DB76D401-3E2F-FB37-AEE8-32201B9A4815}"/>
                </a:ext>
              </a:extLst>
            </p:cNvPr>
            <p:cNvSpPr/>
            <p:nvPr/>
          </p:nvSpPr>
          <p:spPr>
            <a:xfrm>
              <a:off x="7389205" y="5816261"/>
              <a:ext cx="1810000" cy="147839"/>
            </a:xfrm>
            <a:prstGeom prst="roundRect">
              <a:avLst/>
            </a:prstGeom>
            <a:solidFill>
              <a:schemeClr val="bg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HW MACSec</a:t>
              </a: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A8273B50-AA2D-DCDC-4E2B-C4E01F0A4FA3}"/>
                </a:ext>
              </a:extLst>
            </p:cNvPr>
            <p:cNvSpPr/>
            <p:nvPr/>
          </p:nvSpPr>
          <p:spPr>
            <a:xfrm>
              <a:off x="8460850" y="5454179"/>
              <a:ext cx="321745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100B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T1</a:t>
              </a: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F203951A-3BC0-221A-AB0D-9783AC49B17F}"/>
                </a:ext>
              </a:extLst>
            </p:cNvPr>
            <p:cNvSpPr/>
            <p:nvPr/>
          </p:nvSpPr>
          <p:spPr>
            <a:xfrm>
              <a:off x="8827701" y="5455617"/>
              <a:ext cx="321745" cy="2920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100B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T1</a:t>
              </a:r>
            </a:p>
          </p:txBody>
        </p:sp>
      </p:grpSp>
      <p:sp>
        <p:nvSpPr>
          <p:cNvPr id="428" name="Rectangle: Rounded Corners 427">
            <a:extLst>
              <a:ext uri="{FF2B5EF4-FFF2-40B4-BE49-F238E27FC236}">
                <a16:creationId xmlns:a16="http://schemas.microsoft.com/office/drawing/2014/main" id="{6A0E6902-9E8D-BA62-8EB3-B22DF0364565}"/>
              </a:ext>
            </a:extLst>
          </p:cNvPr>
          <p:cNvSpPr/>
          <p:nvPr/>
        </p:nvSpPr>
        <p:spPr>
          <a:xfrm>
            <a:off x="6625693" y="3327391"/>
            <a:ext cx="638364" cy="14733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Tunneling</a:t>
            </a:r>
          </a:p>
        </p:txBody>
      </p:sp>
      <p:sp>
        <p:nvSpPr>
          <p:cNvPr id="429" name="Rectangle: Rounded Corners 428">
            <a:extLst>
              <a:ext uri="{FF2B5EF4-FFF2-40B4-BE49-F238E27FC236}">
                <a16:creationId xmlns:a16="http://schemas.microsoft.com/office/drawing/2014/main" id="{1EC7E1D3-BF04-9CDF-13A1-AB6B3C6AC81B}"/>
              </a:ext>
            </a:extLst>
          </p:cNvPr>
          <p:cNvSpPr/>
          <p:nvPr/>
        </p:nvSpPr>
        <p:spPr>
          <a:xfrm>
            <a:off x="6625693" y="3502285"/>
            <a:ext cx="638364" cy="14733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Routing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4992B-9A6A-EDE9-9B2F-18E844A6882B}"/>
              </a:ext>
            </a:extLst>
          </p:cNvPr>
          <p:cNvSpPr/>
          <p:nvPr/>
        </p:nvSpPr>
        <p:spPr>
          <a:xfrm>
            <a:off x="9606059" y="3227788"/>
            <a:ext cx="708044" cy="22934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Audio PLL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269CC6-BBCA-44AD-B05F-033176A167C0}"/>
              </a:ext>
            </a:extLst>
          </p:cNvPr>
          <p:cNvSpPr/>
          <p:nvPr/>
        </p:nvSpPr>
        <p:spPr>
          <a:xfrm>
            <a:off x="9606089" y="3508535"/>
            <a:ext cx="708044" cy="2099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メイリオ"/>
                <a:cs typeface="+mn-cs"/>
              </a:rPr>
              <a:t>SRC</a:t>
            </a:r>
          </a:p>
        </p:txBody>
      </p:sp>
      <p:sp>
        <p:nvSpPr>
          <p:cNvPr id="225" name="Speech Bubble: Rectangle 224">
            <a:extLst>
              <a:ext uri="{FF2B5EF4-FFF2-40B4-BE49-F238E27FC236}">
                <a16:creationId xmlns:a16="http://schemas.microsoft.com/office/drawing/2014/main" id="{B1A33038-7C04-DA11-35DB-83B7145F1B9D}"/>
              </a:ext>
            </a:extLst>
          </p:cNvPr>
          <p:cNvSpPr/>
          <p:nvPr/>
        </p:nvSpPr>
        <p:spPr>
          <a:xfrm>
            <a:off x="139840" y="1268650"/>
            <a:ext cx="2339756" cy="1265690"/>
          </a:xfrm>
          <a:prstGeom prst="wedgeRectCallout">
            <a:avLst>
              <a:gd name="adj1" fmla="val 6085"/>
              <a:gd name="adj2" fmla="val 98202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/>
          <a:lstStyle/>
          <a:p>
            <a:r>
              <a:rPr lang="en-US" sz="1200" b="1">
                <a:solidFill>
                  <a:schemeClr val="tx1"/>
                </a:solidFill>
              </a:rPr>
              <a:t>R52+ Core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Modern ARM core / high perf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Hypervisor support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Flexible core config for perf or safety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NEON-SIMD for Vector Math Acceleration</a:t>
            </a: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5EE53851-D301-08B8-3B6D-C5C2946C67E6}"/>
              </a:ext>
            </a:extLst>
          </p:cNvPr>
          <p:cNvSpPr/>
          <p:nvPr/>
        </p:nvSpPr>
        <p:spPr>
          <a:xfrm>
            <a:off x="2020378" y="1180580"/>
            <a:ext cx="418181" cy="38404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228" name="Speech Bubble: Rectangle 227">
            <a:extLst>
              <a:ext uri="{FF2B5EF4-FFF2-40B4-BE49-F238E27FC236}">
                <a16:creationId xmlns:a16="http://schemas.microsoft.com/office/drawing/2014/main" id="{96672182-B8C0-3E4E-C8EF-70695B29DCA3}"/>
              </a:ext>
            </a:extLst>
          </p:cNvPr>
          <p:cNvSpPr/>
          <p:nvPr/>
        </p:nvSpPr>
        <p:spPr>
          <a:xfrm>
            <a:off x="2590392" y="1271120"/>
            <a:ext cx="2288390" cy="1260427"/>
          </a:xfrm>
          <a:prstGeom prst="wedgeRectCallout">
            <a:avLst>
              <a:gd name="adj1" fmla="val 29103"/>
              <a:gd name="adj2" fmla="val 88834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t"/>
          <a:lstStyle/>
          <a:p>
            <a:r>
              <a:rPr lang="en-US" sz="1200" b="1">
                <a:solidFill>
                  <a:schemeClr val="tx1"/>
                </a:solidFill>
              </a:rPr>
              <a:t>System Manager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Configures and manages protection mechanisms to ensure Freedom From Interference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endParaRPr lang="en-US" sz="1100">
              <a:solidFill>
                <a:schemeClr val="tx1"/>
              </a:solidFill>
            </a:endParaRP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Offloads CPUs from COMMs SW Stack</a:t>
            </a: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C2FC3E3C-616F-B651-E7FC-C5DA58CAD2AA}"/>
              </a:ext>
            </a:extLst>
          </p:cNvPr>
          <p:cNvSpPr/>
          <p:nvPr/>
        </p:nvSpPr>
        <p:spPr>
          <a:xfrm>
            <a:off x="4432383" y="1147255"/>
            <a:ext cx="418181" cy="38404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230" name="Speech Bubble: Rectangle 229">
            <a:extLst>
              <a:ext uri="{FF2B5EF4-FFF2-40B4-BE49-F238E27FC236}">
                <a16:creationId xmlns:a16="http://schemas.microsoft.com/office/drawing/2014/main" id="{8B6FC0A5-4C50-B30C-87A3-F0FB55D68921}"/>
              </a:ext>
            </a:extLst>
          </p:cNvPr>
          <p:cNvSpPr/>
          <p:nvPr/>
        </p:nvSpPr>
        <p:spPr>
          <a:xfrm>
            <a:off x="5034057" y="1268649"/>
            <a:ext cx="2233208" cy="1260427"/>
          </a:xfrm>
          <a:prstGeom prst="wedgeRectCallout">
            <a:avLst>
              <a:gd name="adj1" fmla="val -10947"/>
              <a:gd name="adj2" fmla="val 86966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</a:rPr>
              <a:t>Low Power Subsystem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Enable low power standby operation with access to key peripherals </a:t>
            </a: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39F86C4F-F1DC-16E7-CB58-0B59A9CE3C00}"/>
              </a:ext>
            </a:extLst>
          </p:cNvPr>
          <p:cNvSpPr/>
          <p:nvPr/>
        </p:nvSpPr>
        <p:spPr>
          <a:xfrm>
            <a:off x="6876048" y="1144784"/>
            <a:ext cx="418181" cy="38404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232" name="Speech Bubble: Rectangle 231">
            <a:extLst>
              <a:ext uri="{FF2B5EF4-FFF2-40B4-BE49-F238E27FC236}">
                <a16:creationId xmlns:a16="http://schemas.microsoft.com/office/drawing/2014/main" id="{6B05C836-12EF-9C52-F27B-8D3576FAF134}"/>
              </a:ext>
            </a:extLst>
          </p:cNvPr>
          <p:cNvSpPr/>
          <p:nvPr/>
        </p:nvSpPr>
        <p:spPr>
          <a:xfrm>
            <a:off x="7378061" y="1275296"/>
            <a:ext cx="2233208" cy="1260427"/>
          </a:xfrm>
          <a:prstGeom prst="wedgeRectCallout">
            <a:avLst>
              <a:gd name="adj1" fmla="val -35009"/>
              <a:gd name="adj2" fmla="val 89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</a:rPr>
              <a:t>Integrated Switch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Required in zones, external cost ~$2+, minimal cost to integrate  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F6A862E7-05DA-A11C-BB61-35916B81BB43}"/>
              </a:ext>
            </a:extLst>
          </p:cNvPr>
          <p:cNvSpPr/>
          <p:nvPr/>
        </p:nvSpPr>
        <p:spPr>
          <a:xfrm>
            <a:off x="9220052" y="1151431"/>
            <a:ext cx="418181" cy="38404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234" name="Speech Bubble: Rectangle 233">
            <a:extLst>
              <a:ext uri="{FF2B5EF4-FFF2-40B4-BE49-F238E27FC236}">
                <a16:creationId xmlns:a16="http://schemas.microsoft.com/office/drawing/2014/main" id="{99EC28F4-C355-D62E-15B6-DACBEE83E763}"/>
              </a:ext>
            </a:extLst>
          </p:cNvPr>
          <p:cNvSpPr/>
          <p:nvPr/>
        </p:nvSpPr>
        <p:spPr>
          <a:xfrm>
            <a:off x="8410445" y="4308281"/>
            <a:ext cx="2233208" cy="1607214"/>
          </a:xfrm>
          <a:prstGeom prst="wedgeRectCallout">
            <a:avLst>
              <a:gd name="adj1" fmla="val 8649"/>
              <a:gd name="adj2" fmla="val -87671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</a:rPr>
              <a:t>Audio PLL and SRC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Common use case for Audio in zones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Requires PLL, external cost ~$1, low cost to integrate, competition supports</a:t>
            </a:r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EEC28D3E-19D4-5EBE-94F5-1F0C92B62452}"/>
              </a:ext>
            </a:extLst>
          </p:cNvPr>
          <p:cNvSpPr/>
          <p:nvPr/>
        </p:nvSpPr>
        <p:spPr>
          <a:xfrm>
            <a:off x="10252436" y="4184416"/>
            <a:ext cx="418181" cy="38404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236" name="Speech Bubble: Rectangle 235">
            <a:extLst>
              <a:ext uri="{FF2B5EF4-FFF2-40B4-BE49-F238E27FC236}">
                <a16:creationId xmlns:a16="http://schemas.microsoft.com/office/drawing/2014/main" id="{1D1DFBD4-EC1B-7F9B-46EF-A9705222592F}"/>
              </a:ext>
            </a:extLst>
          </p:cNvPr>
          <p:cNvSpPr/>
          <p:nvPr/>
        </p:nvSpPr>
        <p:spPr>
          <a:xfrm>
            <a:off x="5889460" y="4308281"/>
            <a:ext cx="2233208" cy="1623930"/>
          </a:xfrm>
          <a:prstGeom prst="wedgeRectCallout">
            <a:avLst>
              <a:gd name="adj1" fmla="val 8649"/>
              <a:gd name="adj2" fmla="val -87671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</a:rPr>
              <a:t>TUBE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Routing accelerator for low-latency communication from end node to central compute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endParaRPr lang="en-US" sz="1100">
              <a:solidFill>
                <a:schemeClr val="tx1"/>
              </a:solidFill>
            </a:endParaRP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Tunneling in HW for fastest ETH-CAN conversion</a:t>
            </a: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E8ECEDC5-F606-3D87-E3E1-612F4EF9F637}"/>
              </a:ext>
            </a:extLst>
          </p:cNvPr>
          <p:cNvSpPr/>
          <p:nvPr/>
        </p:nvSpPr>
        <p:spPr>
          <a:xfrm>
            <a:off x="7731451" y="4184416"/>
            <a:ext cx="418181" cy="38404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38" name="Speech Bubble: Rectangle 237">
            <a:extLst>
              <a:ext uri="{FF2B5EF4-FFF2-40B4-BE49-F238E27FC236}">
                <a16:creationId xmlns:a16="http://schemas.microsoft.com/office/drawing/2014/main" id="{7FA88E88-22DA-52DA-4A8F-9801B5E326D8}"/>
              </a:ext>
            </a:extLst>
          </p:cNvPr>
          <p:cNvSpPr/>
          <p:nvPr/>
        </p:nvSpPr>
        <p:spPr>
          <a:xfrm>
            <a:off x="3466167" y="4312894"/>
            <a:ext cx="2268017" cy="1602601"/>
          </a:xfrm>
          <a:prstGeom prst="wedgeRectCallout">
            <a:avLst>
              <a:gd name="adj1" fmla="val 22200"/>
              <a:gd name="adj2" fmla="val -8691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</a:rPr>
              <a:t>AI/ML/NN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Integrated accelerator to support next gen edge AI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Target use cases:</a:t>
            </a:r>
          </a:p>
          <a:p>
            <a:pPr marL="548640" lvl="1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MPC, ML, Predictive Maintenance, Virtual Sensors, Intrusion detection…</a:t>
            </a: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8A3E1D62-DF60-373F-6AD6-C2AD49C60247}"/>
              </a:ext>
            </a:extLst>
          </p:cNvPr>
          <p:cNvSpPr/>
          <p:nvPr/>
        </p:nvSpPr>
        <p:spPr>
          <a:xfrm>
            <a:off x="5308159" y="4181885"/>
            <a:ext cx="418181" cy="38404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240" name="Speech Bubble: Rectangle 239">
            <a:extLst>
              <a:ext uri="{FF2B5EF4-FFF2-40B4-BE49-F238E27FC236}">
                <a16:creationId xmlns:a16="http://schemas.microsoft.com/office/drawing/2014/main" id="{7A7C3D91-537E-0007-FC5B-806520197785}"/>
              </a:ext>
            </a:extLst>
          </p:cNvPr>
          <p:cNvSpPr/>
          <p:nvPr/>
        </p:nvSpPr>
        <p:spPr>
          <a:xfrm>
            <a:off x="1069840" y="4324299"/>
            <a:ext cx="2233208" cy="1591196"/>
          </a:xfrm>
          <a:prstGeom prst="wedgeRectCallout">
            <a:avLst>
              <a:gd name="adj1" fmla="val -26423"/>
              <a:gd name="adj2" fmla="val -64596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</a:rPr>
              <a:t>IO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High IO count for zones in cost optimized 476BGA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endParaRPr lang="en-US" sz="1100">
              <a:solidFill>
                <a:schemeClr val="tx1"/>
              </a:solidFill>
            </a:endParaRP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5V IO support demanded by Japan, some interest in AMR</a:t>
            </a: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2B88B8DC-2EB1-C7E3-F79F-E1A640FC3090}"/>
              </a:ext>
            </a:extLst>
          </p:cNvPr>
          <p:cNvSpPr/>
          <p:nvPr/>
        </p:nvSpPr>
        <p:spPr>
          <a:xfrm>
            <a:off x="2928638" y="4196368"/>
            <a:ext cx="418181" cy="38404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242" name="Speech Bubble: Rectangle 241">
            <a:extLst>
              <a:ext uri="{FF2B5EF4-FFF2-40B4-BE49-F238E27FC236}">
                <a16:creationId xmlns:a16="http://schemas.microsoft.com/office/drawing/2014/main" id="{62460409-D6C0-6E51-C94D-24CCFBD8D13A}"/>
              </a:ext>
            </a:extLst>
          </p:cNvPr>
          <p:cNvSpPr/>
          <p:nvPr/>
        </p:nvSpPr>
        <p:spPr>
          <a:xfrm>
            <a:off x="9806988" y="1268649"/>
            <a:ext cx="2233208" cy="1260427"/>
          </a:xfrm>
          <a:prstGeom prst="wedgeRectCallout">
            <a:avLst>
              <a:gd name="adj1" fmla="val 25181"/>
              <a:gd name="adj2" fmla="val 84647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</a:rPr>
              <a:t>Memories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&gt;4:1 NVM/SRAM ratio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Large retention RAM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83EDA61C-0FED-09B0-43AC-9557AF711FA3}"/>
              </a:ext>
            </a:extLst>
          </p:cNvPr>
          <p:cNvSpPr/>
          <p:nvPr/>
        </p:nvSpPr>
        <p:spPr>
          <a:xfrm>
            <a:off x="11648979" y="1144784"/>
            <a:ext cx="418181" cy="38404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27847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8DB87-7941-E33F-D8AA-4BE3A01BB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6934D-6756-505E-794D-86F2ECACB9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964065"/>
          </a:xfrm>
        </p:spPr>
        <p:txBody>
          <a:bodyPr/>
          <a:lstStyle/>
          <a:p>
            <a:r>
              <a:rPr lang="en-US"/>
              <a:t>NEW IP REquired</a:t>
            </a:r>
          </a:p>
        </p:txBody>
      </p:sp>
    </p:spTree>
    <p:extLst>
      <p:ext uri="{BB962C8B-B14F-4D97-AF65-F5344CB8AC3E}">
        <p14:creationId xmlns:p14="http://schemas.microsoft.com/office/powerpoint/2010/main" val="1493299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2758-8BB5-0BE7-5856-0F7D80A60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IP required for U5H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7E0B6-92E1-1205-4E7D-2C5564B9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285" y="1177228"/>
            <a:ext cx="11387448" cy="4888326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sz="1400" b="1"/>
              <a:t>New </a:t>
            </a:r>
            <a:r>
              <a:rPr lang="en-US" sz="1400" b="1" err="1"/>
              <a:t>Devt</a:t>
            </a:r>
            <a:r>
              <a:rPr lang="en-US" sz="1400" b="1"/>
              <a:t> </a:t>
            </a:r>
            <a:r>
              <a:rPr lang="en-US" sz="1400" b="1" err="1"/>
              <a:t>Reqd</a:t>
            </a:r>
            <a:endParaRPr lang="en-US" sz="1400" b="1"/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DCLS Cortex-M33 as Partition / System Manager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Low Power Subsystem with Cortex-M23 core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Routing Accelerator (TUBE)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Audio PLL with Sample Rate Converters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BGA476 – new package</a:t>
            </a:r>
          </a:p>
          <a:p>
            <a:pPr>
              <a:spcAft>
                <a:spcPts val="0"/>
              </a:spcAft>
            </a:pPr>
            <a:endParaRPr lang="en-US" sz="1400" b="1"/>
          </a:p>
          <a:p>
            <a:pPr>
              <a:spcAft>
                <a:spcPts val="0"/>
              </a:spcAft>
            </a:pPr>
            <a:r>
              <a:rPr lang="en-US" sz="1400" b="1"/>
              <a:t>Partially Available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New Platform Subsystem for Cortex R52+ cores 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Memory Subsystem 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AI subsystem using ARM Ethos U55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OC-SGMII SERDES to support 2.5 Gbps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RSWITCH 3.1 subsystem for integrated Ethernet switch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I2S / TDM16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Debug IP for CR52+ / CM33 / CM23 / CM0+</a:t>
            </a:r>
          </a:p>
          <a:p>
            <a:pPr>
              <a:spcAft>
                <a:spcPts val="0"/>
              </a:spcAft>
            </a:pPr>
            <a:endParaRPr lang="en-US" sz="1400"/>
          </a:p>
          <a:p>
            <a:pPr>
              <a:spcAft>
                <a:spcPts val="0"/>
              </a:spcAft>
            </a:pPr>
            <a:r>
              <a:rPr lang="en-US" sz="1400" b="1"/>
              <a:t>Optional- continued evaluation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3.3 V max I/O library, 3.3 V ADC- if needed for cost reduction ( Technology development )</a:t>
            </a:r>
          </a:p>
          <a:p>
            <a:pPr marL="342900" indent="-342900">
              <a:spcAft>
                <a:spcPts val="0"/>
              </a:spcAft>
              <a:buFont typeface="+mj-lt"/>
              <a:buAutoNum type="arabicPeriod"/>
            </a:pPr>
            <a:r>
              <a:rPr lang="en-US" sz="1400"/>
              <a:t>External ADC interface (DS-ADC I/F)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EA438-C981-A4E1-7BE5-E4459CC63126}"/>
              </a:ext>
            </a:extLst>
          </p:cNvPr>
          <p:cNvSpPr txBox="1"/>
          <p:nvPr/>
        </p:nvSpPr>
        <p:spPr>
          <a:xfrm>
            <a:off x="7426837" y="964173"/>
            <a:ext cx="38739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Detailed requirements</a:t>
            </a:r>
          </a:p>
          <a:p>
            <a:endParaRPr lang="en-US" sz="1600">
              <a:hlinkClick r:id="rId2"/>
            </a:endParaRPr>
          </a:p>
          <a:p>
            <a:r>
              <a:rPr lang="en-US" sz="1600">
                <a:hlinkClick r:id="rId2"/>
              </a:rPr>
              <a:t>U5H_MRD_Inputs.pptx</a:t>
            </a:r>
            <a:endParaRPr lang="en-US" sz="1600"/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539085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D01C9-3E0B-CC48-66D4-782A0F960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A283D-42C5-0872-7754-087183477B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964065"/>
          </a:xfrm>
        </p:spPr>
        <p:txBody>
          <a:bodyPr/>
          <a:lstStyle/>
          <a:p>
            <a:r>
              <a:rPr lang="en-US" err="1"/>
              <a:t>SChedule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90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U5H High Level Schedule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925D020B-A302-EBEA-2C23-B8D6E7C50993}"/>
              </a:ext>
            </a:extLst>
          </p:cNvPr>
          <p:cNvGraphicFramePr>
            <a:graphicFrameLocks/>
          </p:cNvGraphicFramePr>
          <p:nvPr/>
        </p:nvGraphicFramePr>
        <p:xfrm>
          <a:off x="0" y="637573"/>
          <a:ext cx="11383657" cy="5069626"/>
        </p:xfrm>
        <a:graphic>
          <a:graphicData uri="http://schemas.openxmlformats.org/drawingml/2006/table">
            <a:tbl>
              <a:tblPr/>
              <a:tblGrid>
                <a:gridCol w="896209">
                  <a:extLst>
                    <a:ext uri="{9D8B030D-6E8A-4147-A177-3AD203B41FA5}">
                      <a16:colId xmlns:a16="http://schemas.microsoft.com/office/drawing/2014/main" val="673086496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000785811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4113628095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3797448124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525378224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084669079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901377534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37558997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353229625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74351361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479716057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740897107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902875731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4148729299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3925298678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180526284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307852331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3539504131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954974578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3177140231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733292784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745469512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350546380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3548838844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577757425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499720491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4102460522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153094063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365925672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018065094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791281235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654207320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830441109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3296071784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653698143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922735233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132117886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939841281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824021613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801170436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702590262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487268846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3977043883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3883105746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3638524830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478280168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885324760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4127279842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888107975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1508183135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3662105163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713786415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431663963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061801534"/>
                    </a:ext>
                  </a:extLst>
                </a:gridCol>
                <a:gridCol w="194212">
                  <a:extLst>
                    <a:ext uri="{9D8B030D-6E8A-4147-A177-3AD203B41FA5}">
                      <a16:colId xmlns:a16="http://schemas.microsoft.com/office/drawing/2014/main" val="2192432709"/>
                    </a:ext>
                  </a:extLst>
                </a:gridCol>
              </a:tblGrid>
              <a:tr h="273007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4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Products</a:t>
                      </a:r>
                    </a:p>
                  </a:txBody>
                  <a:tcPr marL="0" marR="0" marT="42203" marB="4220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2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CY26-1H</a:t>
                      </a: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2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CY26-2H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2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CY27-1H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2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CY27-2H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CY28-1H</a:t>
                      </a:r>
                    </a:p>
                  </a:txBody>
                  <a:tcPr marL="0" marR="0" marT="42203" marB="42203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CY28-2H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CY29-1H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CY29-2H</a:t>
                      </a: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b="1" kern="120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CY30-1H</a:t>
                      </a: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1200" b="1" kern="1200" noProof="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1200" b="1" kern="1200" noProof="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1200" b="1" kern="1200" noProof="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1200" b="1" kern="1200" noProof="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1200" b="1" kern="1200" noProof="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47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en-US" sz="1100" b="1" kern="1200" noProof="0">
                        <a:solidFill>
                          <a:schemeClr val="bg1"/>
                        </a:solidFill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 marL="0" marR="0" marT="42203" marB="42203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 marL="0" marR="0" marT="42203" marB="42203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8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sz="1100" b="1" kern="1200" noProof="0">
                          <a:solidFill>
                            <a:schemeClr val="bg1"/>
                          </a:solidFill>
                          <a:effectLst>
                            <a:outerShdw blurRad="25400" dir="5400000" algn="ctr" rotWithShape="0">
                              <a:schemeClr val="bg2"/>
                            </a:outerShdw>
                          </a:effectLst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 marL="0" marR="0" marT="42203" marB="42203" anchor="b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966138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956914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950995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92524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580205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113360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777659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312783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933762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867204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62755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915624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816815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528987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57536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122631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21152"/>
                  </a:ext>
                </a:extLst>
              </a:tr>
              <a:tr h="168141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216543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36245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127136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188657"/>
                  </a:ext>
                </a:extLst>
              </a:tr>
              <a:tr h="206326"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sz="800" noProof="0">
                        <a:effectLst>
                          <a:outerShdw blurRad="25400" dir="5400000" algn="ctr" rotWithShape="0">
                            <a:schemeClr val="bg2"/>
                          </a:outerShdw>
                        </a:effectLst>
                        <a:highlight>
                          <a:srgbClr val="E6F3DA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090919"/>
                  </a:ext>
                </a:extLst>
              </a:tr>
            </a:tbl>
          </a:graphicData>
        </a:graphic>
      </p:graphicFrame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C1C6DC14-AA7B-535B-C2CD-9BB72C7FC194}"/>
              </a:ext>
            </a:extLst>
          </p:cNvPr>
          <p:cNvGrpSpPr/>
          <p:nvPr/>
        </p:nvGrpSpPr>
        <p:grpSpPr>
          <a:xfrm>
            <a:off x="1648710" y="1150801"/>
            <a:ext cx="603223" cy="4945340"/>
            <a:chOff x="1951513" y="1915128"/>
            <a:chExt cx="603223" cy="4945340"/>
          </a:xfrm>
        </p:grpSpPr>
        <p:sp>
          <p:nvSpPr>
            <p:cNvPr id="485" name="二等辺三角形 484">
              <a:extLst>
                <a:ext uri="{FF2B5EF4-FFF2-40B4-BE49-F238E27FC236}">
                  <a16:creationId xmlns:a16="http://schemas.microsoft.com/office/drawing/2014/main" id="{D7E8C09F-2A41-3B48-3435-0316864327C0}"/>
                </a:ext>
              </a:extLst>
            </p:cNvPr>
            <p:cNvSpPr/>
            <p:nvPr/>
          </p:nvSpPr>
          <p:spPr>
            <a:xfrm>
              <a:off x="1951513" y="6698606"/>
              <a:ext cx="140677" cy="150505"/>
            </a:xfrm>
            <a:prstGeom prst="triangle">
              <a:avLst/>
            </a:prstGeom>
            <a:solidFill>
              <a:srgbClr val="0000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486" name="TextBox 58">
              <a:extLst>
                <a:ext uri="{FF2B5EF4-FFF2-40B4-BE49-F238E27FC236}">
                  <a16:creationId xmlns:a16="http://schemas.microsoft.com/office/drawing/2014/main" id="{8C163A62-E1E3-8060-F575-81D0E9B40BEE}"/>
                </a:ext>
              </a:extLst>
            </p:cNvPr>
            <p:cNvSpPr txBox="1"/>
            <p:nvPr/>
          </p:nvSpPr>
          <p:spPr>
            <a:xfrm>
              <a:off x="2093071" y="6737357"/>
              <a:ext cx="461665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メイリオ"/>
                  <a:cs typeface="+mn-cs"/>
                </a:rPr>
                <a:t>We are here</a:t>
              </a:r>
            </a:p>
          </p:txBody>
        </p:sp>
        <p:cxnSp>
          <p:nvCxnSpPr>
            <p:cNvPr id="487" name="直線コネクタ 486">
              <a:extLst>
                <a:ext uri="{FF2B5EF4-FFF2-40B4-BE49-F238E27FC236}">
                  <a16:creationId xmlns:a16="http://schemas.microsoft.com/office/drawing/2014/main" id="{C1C57B31-01B3-DEFA-C3C6-0825CF0D3856}"/>
                </a:ext>
              </a:extLst>
            </p:cNvPr>
            <p:cNvCxnSpPr>
              <a:cxnSpLocks/>
            </p:cNvCxnSpPr>
            <p:nvPr/>
          </p:nvCxnSpPr>
          <p:spPr>
            <a:xfrm>
              <a:off x="2023072" y="1915128"/>
              <a:ext cx="0" cy="4801585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4" name="グループ化 563">
            <a:extLst>
              <a:ext uri="{FF2B5EF4-FFF2-40B4-BE49-F238E27FC236}">
                <a16:creationId xmlns:a16="http://schemas.microsoft.com/office/drawing/2014/main" id="{64150A60-8289-E377-6D35-4AF28ACCCCA0}"/>
              </a:ext>
            </a:extLst>
          </p:cNvPr>
          <p:cNvGrpSpPr/>
          <p:nvPr/>
        </p:nvGrpSpPr>
        <p:grpSpPr>
          <a:xfrm>
            <a:off x="6909" y="3395269"/>
            <a:ext cx="10339374" cy="148400"/>
            <a:chOff x="560187" y="4504817"/>
            <a:chExt cx="9744936" cy="120923"/>
          </a:xfrm>
        </p:grpSpPr>
        <p:sp>
          <p:nvSpPr>
            <p:cNvPr id="565" name="AutoShape 245">
              <a:extLst>
                <a:ext uri="{FF2B5EF4-FFF2-40B4-BE49-F238E27FC236}">
                  <a16:creationId xmlns:a16="http://schemas.microsoft.com/office/drawing/2014/main" id="{6E5EEF56-D9A3-B5DE-A49C-DE5F8787F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8598" y="4504817"/>
              <a:ext cx="116525" cy="116525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cxnSp>
          <p:nvCxnSpPr>
            <p:cNvPr id="566" name="Straight Connector 35">
              <a:extLst>
                <a:ext uri="{FF2B5EF4-FFF2-40B4-BE49-F238E27FC236}">
                  <a16:creationId xmlns:a16="http://schemas.microsoft.com/office/drawing/2014/main" id="{7EA86E46-A600-BE3E-F5CC-DF2C6699E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7991" y="4564222"/>
              <a:ext cx="6648023" cy="5691"/>
            </a:xfrm>
            <a:prstGeom prst="line">
              <a:avLst/>
            </a:prstGeom>
            <a:ln w="28575">
              <a:solidFill>
                <a:schemeClr val="tx2">
                  <a:alpha val="34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7" name="AutoShape 245">
              <a:extLst>
                <a:ext uri="{FF2B5EF4-FFF2-40B4-BE49-F238E27FC236}">
                  <a16:creationId xmlns:a16="http://schemas.microsoft.com/office/drawing/2014/main" id="{1619DD3C-A0F9-C5F3-668E-18CE04E4E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9760" y="4504817"/>
              <a:ext cx="116525" cy="116525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68" name="AutoShape 245">
              <a:extLst>
                <a:ext uri="{FF2B5EF4-FFF2-40B4-BE49-F238E27FC236}">
                  <a16:creationId xmlns:a16="http://schemas.microsoft.com/office/drawing/2014/main" id="{69FE4B8C-924E-BF85-27A9-74EF7CF0D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4209" y="4504817"/>
              <a:ext cx="116525" cy="116525"/>
            </a:xfrm>
            <a:prstGeom prst="ellipse">
              <a:avLst/>
            </a:prstGeom>
            <a:solidFill>
              <a:srgbClr val="FFC000"/>
            </a:soli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69" name="AutoShape 245">
              <a:extLst>
                <a:ext uri="{FF2B5EF4-FFF2-40B4-BE49-F238E27FC236}">
                  <a16:creationId xmlns:a16="http://schemas.microsoft.com/office/drawing/2014/main" id="{3FBC1448-B5C4-210D-752E-5F8D0F59C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4680" y="4504829"/>
              <a:ext cx="116525" cy="116525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70" name="二等辺三角形 569">
              <a:extLst>
                <a:ext uri="{FF2B5EF4-FFF2-40B4-BE49-F238E27FC236}">
                  <a16:creationId xmlns:a16="http://schemas.microsoft.com/office/drawing/2014/main" id="{5F860E60-C68C-F70B-34A2-F3B732E920C7}"/>
                </a:ext>
              </a:extLst>
            </p:cNvPr>
            <p:cNvSpPr/>
            <p:nvPr/>
          </p:nvSpPr>
          <p:spPr>
            <a:xfrm>
              <a:off x="7285764" y="4508394"/>
              <a:ext cx="80964" cy="117346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571" name="テキスト ボックス 570">
              <a:extLst>
                <a:ext uri="{FF2B5EF4-FFF2-40B4-BE49-F238E27FC236}">
                  <a16:creationId xmlns:a16="http://schemas.microsoft.com/office/drawing/2014/main" id="{C69B2824-A77F-F8BE-36A4-CC344092C962}"/>
                </a:ext>
              </a:extLst>
            </p:cNvPr>
            <p:cNvSpPr txBox="1"/>
            <p:nvPr/>
          </p:nvSpPr>
          <p:spPr>
            <a:xfrm>
              <a:off x="560187" y="4508659"/>
              <a:ext cx="476218" cy="100316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t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U5H24</a:t>
              </a:r>
            </a:p>
          </p:txBody>
        </p:sp>
      </p:grpSp>
      <p:grpSp>
        <p:nvGrpSpPr>
          <p:cNvPr id="572" name="グループ化 571">
            <a:extLst>
              <a:ext uri="{FF2B5EF4-FFF2-40B4-BE49-F238E27FC236}">
                <a16:creationId xmlns:a16="http://schemas.microsoft.com/office/drawing/2014/main" id="{18FA4FC0-257E-2630-AA9A-A3DB76F5D2FC}"/>
              </a:ext>
            </a:extLst>
          </p:cNvPr>
          <p:cNvGrpSpPr/>
          <p:nvPr/>
        </p:nvGrpSpPr>
        <p:grpSpPr>
          <a:xfrm>
            <a:off x="6909" y="3636368"/>
            <a:ext cx="10769042" cy="137076"/>
            <a:chOff x="-1329681" y="4711607"/>
            <a:chExt cx="10769042" cy="137076"/>
          </a:xfrm>
        </p:grpSpPr>
        <p:sp>
          <p:nvSpPr>
            <p:cNvPr id="573" name="AutoShape 245">
              <a:extLst>
                <a:ext uri="{FF2B5EF4-FFF2-40B4-BE49-F238E27FC236}">
                  <a16:creationId xmlns:a16="http://schemas.microsoft.com/office/drawing/2014/main" id="{9D8F65C3-ADC6-9B56-1080-77A4FBE7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2836" y="4712107"/>
              <a:ext cx="116525" cy="116525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cxnSp>
          <p:nvCxnSpPr>
            <p:cNvPr id="574" name="Straight Connector 35">
              <a:extLst>
                <a:ext uri="{FF2B5EF4-FFF2-40B4-BE49-F238E27FC236}">
                  <a16:creationId xmlns:a16="http://schemas.microsoft.com/office/drawing/2014/main" id="{6C4385B7-A3D4-877D-49BC-57DBE2495054}"/>
                </a:ext>
              </a:extLst>
            </p:cNvPr>
            <p:cNvCxnSpPr>
              <a:cxnSpLocks/>
            </p:cNvCxnSpPr>
            <p:nvPr/>
          </p:nvCxnSpPr>
          <p:spPr>
            <a:xfrm>
              <a:off x="2099049" y="4769253"/>
              <a:ext cx="7287031" cy="0"/>
            </a:xfrm>
            <a:prstGeom prst="line">
              <a:avLst/>
            </a:prstGeom>
            <a:ln w="28575">
              <a:solidFill>
                <a:schemeClr val="tx2">
                  <a:alpha val="34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5" name="AutoShape 245">
              <a:extLst>
                <a:ext uri="{FF2B5EF4-FFF2-40B4-BE49-F238E27FC236}">
                  <a16:creationId xmlns:a16="http://schemas.microsoft.com/office/drawing/2014/main" id="{ED1F2621-D5DA-3410-0D47-79A1A12D1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3998" y="4712107"/>
              <a:ext cx="116525" cy="116525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76" name="AutoShape 245">
              <a:extLst>
                <a:ext uri="{FF2B5EF4-FFF2-40B4-BE49-F238E27FC236}">
                  <a16:creationId xmlns:a16="http://schemas.microsoft.com/office/drawing/2014/main" id="{FB8F77DE-7FA9-6397-8760-889174D40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8447" y="4712107"/>
              <a:ext cx="116525" cy="116525"/>
            </a:xfrm>
            <a:prstGeom prst="ellipse">
              <a:avLst/>
            </a:prstGeom>
            <a:solidFill>
              <a:srgbClr val="FFC000"/>
            </a:soli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77" name="AutoShape 245">
              <a:extLst>
                <a:ext uri="{FF2B5EF4-FFF2-40B4-BE49-F238E27FC236}">
                  <a16:creationId xmlns:a16="http://schemas.microsoft.com/office/drawing/2014/main" id="{7E505980-4318-78AD-5022-F841B3831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8918" y="4712107"/>
              <a:ext cx="116525" cy="116525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78" name="二等辺三角形 577">
              <a:extLst>
                <a:ext uri="{FF2B5EF4-FFF2-40B4-BE49-F238E27FC236}">
                  <a16:creationId xmlns:a16="http://schemas.microsoft.com/office/drawing/2014/main" id="{CB929A50-FA86-BC5E-5477-CDBF6574017F}"/>
                </a:ext>
              </a:extLst>
            </p:cNvPr>
            <p:cNvSpPr/>
            <p:nvPr/>
          </p:nvSpPr>
          <p:spPr>
            <a:xfrm>
              <a:off x="6427497" y="4711607"/>
              <a:ext cx="80964" cy="117346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579" name="テキスト ボックス 578">
              <a:extLst>
                <a:ext uri="{FF2B5EF4-FFF2-40B4-BE49-F238E27FC236}">
                  <a16:creationId xmlns:a16="http://schemas.microsoft.com/office/drawing/2014/main" id="{2EBD92CF-0FC0-C486-533F-FC8B86B22B50}"/>
                </a:ext>
              </a:extLst>
            </p:cNvPr>
            <p:cNvSpPr txBox="1"/>
            <p:nvPr/>
          </p:nvSpPr>
          <p:spPr>
            <a:xfrm>
              <a:off x="-1329681" y="4725572"/>
              <a:ext cx="505267" cy="12311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t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U5H16</a:t>
              </a:r>
            </a:p>
          </p:txBody>
        </p:sp>
      </p:grpSp>
      <p:grpSp>
        <p:nvGrpSpPr>
          <p:cNvPr id="580" name="グループ化 579">
            <a:extLst>
              <a:ext uri="{FF2B5EF4-FFF2-40B4-BE49-F238E27FC236}">
                <a16:creationId xmlns:a16="http://schemas.microsoft.com/office/drawing/2014/main" id="{92C89204-86B0-F689-2A32-31A08C080ADD}"/>
              </a:ext>
            </a:extLst>
          </p:cNvPr>
          <p:cNvGrpSpPr/>
          <p:nvPr/>
        </p:nvGrpSpPr>
        <p:grpSpPr>
          <a:xfrm>
            <a:off x="0" y="3848113"/>
            <a:ext cx="11340200" cy="158721"/>
            <a:chOff x="-1510011" y="4917373"/>
            <a:chExt cx="11340200" cy="158721"/>
          </a:xfrm>
        </p:grpSpPr>
        <p:sp>
          <p:nvSpPr>
            <p:cNvPr id="582" name="AutoShape 245">
              <a:extLst>
                <a:ext uri="{FF2B5EF4-FFF2-40B4-BE49-F238E27FC236}">
                  <a16:creationId xmlns:a16="http://schemas.microsoft.com/office/drawing/2014/main" id="{7AA26ACB-E9D9-959A-5E28-9DBF64CA4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1729" y="4917873"/>
              <a:ext cx="116525" cy="116525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83" name="二等辺三角形 582">
              <a:extLst>
                <a:ext uri="{FF2B5EF4-FFF2-40B4-BE49-F238E27FC236}">
                  <a16:creationId xmlns:a16="http://schemas.microsoft.com/office/drawing/2014/main" id="{E5F76A73-07C8-5721-1EEA-C872F0908F21}"/>
                </a:ext>
              </a:extLst>
            </p:cNvPr>
            <p:cNvSpPr/>
            <p:nvPr/>
          </p:nvSpPr>
          <p:spPr>
            <a:xfrm>
              <a:off x="7010308" y="4917373"/>
              <a:ext cx="80964" cy="117346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584" name="AutoShape 245">
              <a:extLst>
                <a:ext uri="{FF2B5EF4-FFF2-40B4-BE49-F238E27FC236}">
                  <a16:creationId xmlns:a16="http://schemas.microsoft.com/office/drawing/2014/main" id="{AFC131E9-03EF-1BDA-4C9D-B6A1410E4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3664" y="4917873"/>
              <a:ext cx="116525" cy="116525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85" name="AutoShape 245">
              <a:extLst>
                <a:ext uri="{FF2B5EF4-FFF2-40B4-BE49-F238E27FC236}">
                  <a16:creationId xmlns:a16="http://schemas.microsoft.com/office/drawing/2014/main" id="{B01A06D1-32FB-4ACB-D3B0-34DF4A684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4826" y="4917873"/>
              <a:ext cx="116525" cy="116525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86" name="AutoShape 245">
              <a:extLst>
                <a:ext uri="{FF2B5EF4-FFF2-40B4-BE49-F238E27FC236}">
                  <a16:creationId xmlns:a16="http://schemas.microsoft.com/office/drawing/2014/main" id="{A6D71069-E16A-1B7B-9A56-37A8CF720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9275" y="4917873"/>
              <a:ext cx="116525" cy="116525"/>
            </a:xfrm>
            <a:prstGeom prst="ellipse">
              <a:avLst/>
            </a:prstGeom>
            <a:solidFill>
              <a:srgbClr val="FFC000"/>
            </a:soli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lIns="0" r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587" name="テキスト ボックス 586">
              <a:extLst>
                <a:ext uri="{FF2B5EF4-FFF2-40B4-BE49-F238E27FC236}">
                  <a16:creationId xmlns:a16="http://schemas.microsoft.com/office/drawing/2014/main" id="{BE19D3B6-C0BA-3BB7-2A10-62F57534FF6A}"/>
                </a:ext>
              </a:extLst>
            </p:cNvPr>
            <p:cNvSpPr txBox="1"/>
            <p:nvPr/>
          </p:nvSpPr>
          <p:spPr>
            <a:xfrm>
              <a:off x="-1510011" y="4952983"/>
              <a:ext cx="505267" cy="12311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t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U5H10</a:t>
              </a:r>
            </a:p>
          </p:txBody>
        </p:sp>
      </p:grpSp>
      <p:cxnSp>
        <p:nvCxnSpPr>
          <p:cNvPr id="179" name="直線矢印コネクタ 178">
            <a:extLst>
              <a:ext uri="{FF2B5EF4-FFF2-40B4-BE49-F238E27FC236}">
                <a16:creationId xmlns:a16="http://schemas.microsoft.com/office/drawing/2014/main" id="{DD693680-CAA5-8BEF-7607-81EFB1527901}"/>
              </a:ext>
            </a:extLst>
          </p:cNvPr>
          <p:cNvCxnSpPr>
            <a:cxnSpLocks/>
          </p:cNvCxnSpPr>
          <p:nvPr/>
        </p:nvCxnSpPr>
        <p:spPr>
          <a:xfrm flipV="1">
            <a:off x="4671036" y="1783491"/>
            <a:ext cx="0" cy="3896479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吹き出し: 線 291">
            <a:extLst>
              <a:ext uri="{FF2B5EF4-FFF2-40B4-BE49-F238E27FC236}">
                <a16:creationId xmlns:a16="http://schemas.microsoft.com/office/drawing/2014/main" id="{9D25BB15-8C9A-E968-2D54-A4F38D86A7B6}"/>
              </a:ext>
            </a:extLst>
          </p:cNvPr>
          <p:cNvSpPr/>
          <p:nvPr/>
        </p:nvSpPr>
        <p:spPr>
          <a:xfrm>
            <a:off x="2670162" y="4018321"/>
            <a:ext cx="1376084" cy="343670"/>
          </a:xfrm>
          <a:prstGeom prst="borderCallout1">
            <a:avLst>
              <a:gd name="adj1" fmla="val 51554"/>
              <a:gd name="adj2" fmla="val 100109"/>
              <a:gd name="adj3" fmla="val -8511"/>
              <a:gd name="adj4" fmla="val 14602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 Narrow"/>
                <a:ea typeface="メイリオ"/>
                <a:cs typeface="+mn-cs"/>
              </a:rPr>
              <a:t>GF collaterals </a:t>
            </a:r>
            <a:r>
              <a:rPr kumimoji="1" lang="en-US" altLang="ja-JP" sz="1100" b="0" i="0" u="sng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 Narrow"/>
                <a:ea typeface="メイリオ"/>
                <a:cs typeface="+mn-cs"/>
              </a:rPr>
              <a:t>Mid-term 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 Narrow"/>
                <a:ea typeface="メイリオ"/>
                <a:cs typeface="+mn-cs"/>
              </a:rPr>
              <a:t>release</a:t>
            </a: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4101BC90-8312-B1AE-5400-6E274C1AB829}"/>
              </a:ext>
            </a:extLst>
          </p:cNvPr>
          <p:cNvCxnSpPr>
            <a:cxnSpLocks/>
          </p:cNvCxnSpPr>
          <p:nvPr/>
        </p:nvCxnSpPr>
        <p:spPr>
          <a:xfrm flipV="1">
            <a:off x="2143967" y="1783491"/>
            <a:ext cx="0" cy="3896479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吹き出し: 線 168">
            <a:extLst>
              <a:ext uri="{FF2B5EF4-FFF2-40B4-BE49-F238E27FC236}">
                <a16:creationId xmlns:a16="http://schemas.microsoft.com/office/drawing/2014/main" id="{52839680-BCD3-0B64-7B37-87A10AA7BDCA}"/>
              </a:ext>
            </a:extLst>
          </p:cNvPr>
          <p:cNvSpPr/>
          <p:nvPr/>
        </p:nvSpPr>
        <p:spPr>
          <a:xfrm>
            <a:off x="2670162" y="3601609"/>
            <a:ext cx="1376084" cy="343670"/>
          </a:xfrm>
          <a:prstGeom prst="borderCallout1">
            <a:avLst>
              <a:gd name="adj1" fmla="val 51554"/>
              <a:gd name="adj2" fmla="val -169"/>
              <a:gd name="adj3" fmla="val -7302"/>
              <a:gd name="adj4" fmla="val -38224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 Narrow"/>
                <a:ea typeface="メイリオ"/>
                <a:cs typeface="+mn-cs"/>
              </a:rPr>
              <a:t>GF collaterals </a:t>
            </a:r>
            <a:r>
              <a:rPr kumimoji="1" lang="en-US" altLang="ja-JP" sz="1100" b="0" i="0" u="sng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 Narrow"/>
                <a:ea typeface="メイリオ"/>
                <a:cs typeface="+mn-cs"/>
              </a:rPr>
              <a:t>Short-term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 Narrow"/>
                <a:ea typeface="メイリオ"/>
                <a:cs typeface="+mn-cs"/>
              </a:rPr>
              <a:t>release</a:t>
            </a:r>
          </a:p>
        </p:txBody>
      </p:sp>
      <p:grpSp>
        <p:nvGrpSpPr>
          <p:cNvPr id="339" name="グループ化 644">
            <a:extLst>
              <a:ext uri="{FF2B5EF4-FFF2-40B4-BE49-F238E27FC236}">
                <a16:creationId xmlns:a16="http://schemas.microsoft.com/office/drawing/2014/main" id="{7180CF27-4CBF-C883-ACA4-A14043567F07}"/>
              </a:ext>
            </a:extLst>
          </p:cNvPr>
          <p:cNvGrpSpPr/>
          <p:nvPr/>
        </p:nvGrpSpPr>
        <p:grpSpPr>
          <a:xfrm>
            <a:off x="10428872" y="1655490"/>
            <a:ext cx="461108" cy="691663"/>
            <a:chOff x="11661355" y="184421"/>
            <a:chExt cx="461108" cy="700084"/>
          </a:xfrm>
        </p:grpSpPr>
        <p:sp>
          <p:nvSpPr>
            <p:cNvPr id="340" name="正方形/長方形 645">
              <a:extLst>
                <a:ext uri="{FF2B5EF4-FFF2-40B4-BE49-F238E27FC236}">
                  <a16:creationId xmlns:a16="http://schemas.microsoft.com/office/drawing/2014/main" id="{ABA1882A-2E88-65CC-FDD2-9D717FE4D67F}"/>
                </a:ext>
              </a:extLst>
            </p:cNvPr>
            <p:cNvSpPr/>
            <p:nvPr/>
          </p:nvSpPr>
          <p:spPr>
            <a:xfrm>
              <a:off x="11661355" y="184421"/>
              <a:ext cx="428625" cy="7000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grpSp>
          <p:nvGrpSpPr>
            <p:cNvPr id="341" name="グループ化 646">
              <a:extLst>
                <a:ext uri="{FF2B5EF4-FFF2-40B4-BE49-F238E27FC236}">
                  <a16:creationId xmlns:a16="http://schemas.microsoft.com/office/drawing/2014/main" id="{73A622B6-2FFE-2869-98E5-338564E01242}"/>
                </a:ext>
              </a:extLst>
            </p:cNvPr>
            <p:cNvGrpSpPr/>
            <p:nvPr/>
          </p:nvGrpSpPr>
          <p:grpSpPr>
            <a:xfrm>
              <a:off x="11708144" y="212476"/>
              <a:ext cx="414319" cy="637995"/>
              <a:chOff x="11554722" y="113781"/>
              <a:chExt cx="414319" cy="637995"/>
            </a:xfrm>
          </p:grpSpPr>
          <p:sp>
            <p:nvSpPr>
              <p:cNvPr id="342" name="二等辺三角形 647">
                <a:extLst>
                  <a:ext uri="{FF2B5EF4-FFF2-40B4-BE49-F238E27FC236}">
                    <a16:creationId xmlns:a16="http://schemas.microsoft.com/office/drawing/2014/main" id="{20DB1935-DAC3-D2F9-9D6F-45C405FA63F0}"/>
                  </a:ext>
                </a:extLst>
              </p:cNvPr>
              <p:cNvSpPr/>
              <p:nvPr/>
            </p:nvSpPr>
            <p:spPr>
              <a:xfrm>
                <a:off x="11572722" y="117958"/>
                <a:ext cx="80964" cy="117346"/>
              </a:xfrm>
              <a:prstGeom prst="triangl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C3C3B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343" name="AutoShape 245">
                <a:extLst>
                  <a:ext uri="{FF2B5EF4-FFF2-40B4-BE49-F238E27FC236}">
                    <a16:creationId xmlns:a16="http://schemas.microsoft.com/office/drawing/2014/main" id="{5E9208D2-005B-DEB8-9A51-2F3B82C46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54941" y="245937"/>
                <a:ext cx="116525" cy="116525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lIns="0" rIns="0" anchor="ctr"/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344" name="AutoShape 245">
                <a:extLst>
                  <a:ext uri="{FF2B5EF4-FFF2-40B4-BE49-F238E27FC236}">
                    <a16:creationId xmlns:a16="http://schemas.microsoft.com/office/drawing/2014/main" id="{6A0AC622-D7EB-C9AB-0BA0-B6A698941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54722" y="372151"/>
                <a:ext cx="116525" cy="116525"/>
              </a:xfrm>
              <a:prstGeom prst="ellipse">
                <a:avLst/>
              </a:prstGeom>
              <a:solidFill>
                <a:srgbClr val="FFC000"/>
              </a:solidFill>
              <a:ln>
                <a:headEnd/>
                <a:tailEnd/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lIns="0" rIns="0" anchor="ctr"/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345" name="AutoShape 245">
                <a:extLst>
                  <a:ext uri="{FF2B5EF4-FFF2-40B4-BE49-F238E27FC236}">
                    <a16:creationId xmlns:a16="http://schemas.microsoft.com/office/drawing/2014/main" id="{C3D9A90F-1202-C819-57AB-6D8782379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54941" y="505157"/>
                <a:ext cx="116525" cy="116525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lIns="0" rIns="0" anchor="ctr"/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388" name="AutoShape 245">
                <a:extLst>
                  <a:ext uri="{FF2B5EF4-FFF2-40B4-BE49-F238E27FC236}">
                    <a16:creationId xmlns:a16="http://schemas.microsoft.com/office/drawing/2014/main" id="{B4AB5182-AD76-B8DC-DA75-A89630A56F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54941" y="631180"/>
                <a:ext cx="116525" cy="116525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anchor="ctr"/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389" name="テキスト ボックス 43">
                <a:extLst>
                  <a:ext uri="{FF2B5EF4-FFF2-40B4-BE49-F238E27FC236}">
                    <a16:creationId xmlns:a16="http://schemas.microsoft.com/office/drawing/2014/main" id="{62193CCD-3784-3F7F-B9D5-4C12928A6CD6}"/>
                  </a:ext>
                </a:extLst>
              </p:cNvPr>
              <p:cNvSpPr txBox="1"/>
              <p:nvPr/>
            </p:nvSpPr>
            <p:spPr>
              <a:xfrm>
                <a:off x="11724156" y="113781"/>
                <a:ext cx="244885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TO</a:t>
                </a:r>
              </a:p>
            </p:txBody>
          </p:sp>
          <p:sp>
            <p:nvSpPr>
              <p:cNvPr id="390" name="テキスト ボックス 43">
                <a:extLst>
                  <a:ext uri="{FF2B5EF4-FFF2-40B4-BE49-F238E27FC236}">
                    <a16:creationId xmlns:a16="http://schemas.microsoft.com/office/drawing/2014/main" id="{57B6F837-FDF4-E05C-A087-BB70A68F4772}"/>
                  </a:ext>
                </a:extLst>
              </p:cNvPr>
              <p:cNvSpPr txBox="1"/>
              <p:nvPr/>
            </p:nvSpPr>
            <p:spPr>
              <a:xfrm>
                <a:off x="11724156" y="243244"/>
                <a:ext cx="244885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WS</a:t>
                </a:r>
              </a:p>
            </p:txBody>
          </p:sp>
          <p:sp>
            <p:nvSpPr>
              <p:cNvPr id="391" name="テキスト ボックス 43">
                <a:extLst>
                  <a:ext uri="{FF2B5EF4-FFF2-40B4-BE49-F238E27FC236}">
                    <a16:creationId xmlns:a16="http://schemas.microsoft.com/office/drawing/2014/main" id="{21C5924F-49B7-6F8F-94FA-073B016BED73}"/>
                  </a:ext>
                </a:extLst>
              </p:cNvPr>
              <p:cNvSpPr txBox="1"/>
              <p:nvPr/>
            </p:nvSpPr>
            <p:spPr>
              <a:xfrm>
                <a:off x="11724156" y="371832"/>
                <a:ext cx="244885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ES</a:t>
                </a:r>
              </a:p>
            </p:txBody>
          </p:sp>
          <p:sp>
            <p:nvSpPr>
              <p:cNvPr id="392" name="テキスト ボックス 43">
                <a:extLst>
                  <a:ext uri="{FF2B5EF4-FFF2-40B4-BE49-F238E27FC236}">
                    <a16:creationId xmlns:a16="http://schemas.microsoft.com/office/drawing/2014/main" id="{226F9AB0-D857-027C-75ED-21A9B8CC5218}"/>
                  </a:ext>
                </a:extLst>
              </p:cNvPr>
              <p:cNvSpPr txBox="1"/>
              <p:nvPr/>
            </p:nvSpPr>
            <p:spPr>
              <a:xfrm>
                <a:off x="11724156" y="498834"/>
                <a:ext cx="244885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CS</a:t>
                </a:r>
              </a:p>
            </p:txBody>
          </p:sp>
          <p:sp>
            <p:nvSpPr>
              <p:cNvPr id="393" name="テキスト ボックス 43">
                <a:extLst>
                  <a:ext uri="{FF2B5EF4-FFF2-40B4-BE49-F238E27FC236}">
                    <a16:creationId xmlns:a16="http://schemas.microsoft.com/office/drawing/2014/main" id="{726C304D-FF25-82E4-BF37-5BCCFF770F1E}"/>
                  </a:ext>
                </a:extLst>
              </p:cNvPr>
              <p:cNvSpPr txBox="1"/>
              <p:nvPr/>
            </p:nvSpPr>
            <p:spPr>
              <a:xfrm>
                <a:off x="11724156" y="628665"/>
                <a:ext cx="244885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MP</a:t>
                </a:r>
              </a:p>
            </p:txBody>
          </p:sp>
        </p:grpSp>
      </p:grpSp>
      <p:sp>
        <p:nvSpPr>
          <p:cNvPr id="396" name="Diamond 395">
            <a:extLst>
              <a:ext uri="{FF2B5EF4-FFF2-40B4-BE49-F238E27FC236}">
                <a16:creationId xmlns:a16="http://schemas.microsoft.com/office/drawing/2014/main" id="{BDCF66D4-6E7E-E6E1-79B3-45F620BFBC67}"/>
              </a:ext>
            </a:extLst>
          </p:cNvPr>
          <p:cNvSpPr/>
          <p:nvPr/>
        </p:nvSpPr>
        <p:spPr>
          <a:xfrm>
            <a:off x="3255305" y="3252653"/>
            <a:ext cx="164589" cy="156931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397" name="Diamond 396">
            <a:extLst>
              <a:ext uri="{FF2B5EF4-FFF2-40B4-BE49-F238E27FC236}">
                <a16:creationId xmlns:a16="http://schemas.microsoft.com/office/drawing/2014/main" id="{5391966B-55F9-8165-E6D0-90EE467244E6}"/>
              </a:ext>
            </a:extLst>
          </p:cNvPr>
          <p:cNvSpPr/>
          <p:nvPr/>
        </p:nvSpPr>
        <p:spPr>
          <a:xfrm>
            <a:off x="4787515" y="3252653"/>
            <a:ext cx="164589" cy="156931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CE18575D-30E3-477C-A5FC-20261DFB2F99}"/>
              </a:ext>
            </a:extLst>
          </p:cNvPr>
          <p:cNvSpPr txBox="1"/>
          <p:nvPr/>
        </p:nvSpPr>
        <p:spPr>
          <a:xfrm>
            <a:off x="3085898" y="2868822"/>
            <a:ext cx="850872" cy="2462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IN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IP dev start</a:t>
            </a: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550D1FF3-0378-5BD4-01D3-58EF31F6F583}"/>
              </a:ext>
            </a:extLst>
          </p:cNvPr>
          <p:cNvSpPr txBox="1"/>
          <p:nvPr/>
        </p:nvSpPr>
        <p:spPr>
          <a:xfrm>
            <a:off x="4355486" y="2868822"/>
            <a:ext cx="1152009" cy="2462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IN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IP Dev Complete</a:t>
            </a:r>
          </a:p>
        </p:txBody>
      </p: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8DF7A810-A695-C5B9-F52A-90198C71C386}"/>
              </a:ext>
            </a:extLst>
          </p:cNvPr>
          <p:cNvCxnSpPr>
            <a:cxnSpLocks/>
            <a:stCxn id="407" idx="2"/>
          </p:cNvCxnSpPr>
          <p:nvPr/>
        </p:nvCxnSpPr>
        <p:spPr>
          <a:xfrm flipH="1">
            <a:off x="3332774" y="3115043"/>
            <a:ext cx="178560" cy="134271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C70CA2F1-1537-B937-8964-670945438E1C}"/>
              </a:ext>
            </a:extLst>
          </p:cNvPr>
          <p:cNvCxnSpPr>
            <a:cxnSpLocks/>
            <a:stCxn id="408" idx="2"/>
            <a:endCxn id="397" idx="0"/>
          </p:cNvCxnSpPr>
          <p:nvPr/>
        </p:nvCxnSpPr>
        <p:spPr>
          <a:xfrm flipH="1">
            <a:off x="4869810" y="3115043"/>
            <a:ext cx="61681" cy="13761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TextBox 498">
            <a:extLst>
              <a:ext uri="{FF2B5EF4-FFF2-40B4-BE49-F238E27FC236}">
                <a16:creationId xmlns:a16="http://schemas.microsoft.com/office/drawing/2014/main" id="{3C27E87C-369A-43A3-6114-0B0CD0678F55}"/>
              </a:ext>
            </a:extLst>
          </p:cNvPr>
          <p:cNvSpPr txBox="1"/>
          <p:nvPr/>
        </p:nvSpPr>
        <p:spPr>
          <a:xfrm>
            <a:off x="5507495" y="2875636"/>
            <a:ext cx="1798699" cy="2462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IN" sz="10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12 months from IP dev</a:t>
            </a:r>
          </a:p>
        </p:txBody>
      </p: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575845A7-6CEE-2D19-7EF4-B3E6D541C59F}"/>
              </a:ext>
            </a:extLst>
          </p:cNvPr>
          <p:cNvCxnSpPr>
            <a:cxnSpLocks/>
            <a:stCxn id="499" idx="2"/>
            <a:endCxn id="570" idx="5"/>
          </p:cNvCxnSpPr>
          <p:nvPr/>
        </p:nvCxnSpPr>
        <p:spPr>
          <a:xfrm>
            <a:off x="6406845" y="3121857"/>
            <a:ext cx="800326" cy="34980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35">
            <a:extLst>
              <a:ext uri="{FF2B5EF4-FFF2-40B4-BE49-F238E27FC236}">
                <a16:creationId xmlns:a16="http://schemas.microsoft.com/office/drawing/2014/main" id="{6531F330-C87D-9276-4EE1-0735B745D2FC}"/>
              </a:ext>
            </a:extLst>
          </p:cNvPr>
          <p:cNvCxnSpPr>
            <a:cxnSpLocks/>
          </p:cNvCxnSpPr>
          <p:nvPr/>
        </p:nvCxnSpPr>
        <p:spPr>
          <a:xfrm>
            <a:off x="3943052" y="3907993"/>
            <a:ext cx="7287031" cy="0"/>
          </a:xfrm>
          <a:prstGeom prst="line">
            <a:avLst/>
          </a:prstGeom>
          <a:ln w="28575">
            <a:solidFill>
              <a:schemeClr val="tx2">
                <a:alpha val="34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F14156-4711-539D-581D-E12C0CC097C9}"/>
              </a:ext>
            </a:extLst>
          </p:cNvPr>
          <p:cNvSpPr/>
          <p:nvPr/>
        </p:nvSpPr>
        <p:spPr>
          <a:xfrm>
            <a:off x="4731843" y="4278798"/>
            <a:ext cx="7337410" cy="19541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sz="1600" b="1" dirty="0">
                <a:solidFill>
                  <a:schemeClr val="tx1"/>
                </a:solidFill>
              </a:rPr>
              <a:t>Schedule Summary: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kumimoji="1" lang="en-US" sz="1600" dirty="0">
                <a:solidFill>
                  <a:schemeClr val="tx1"/>
                </a:solidFill>
              </a:rPr>
              <a:t>Current view: WS early 2029, MP early 2030 -&gt; OEM SOP2032+ (misses lead OEM programs)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kumimoji="1" lang="en-US" sz="1600" dirty="0">
                <a:solidFill>
                  <a:schemeClr val="tx1"/>
                </a:solidFill>
              </a:rPr>
              <a:t>Opportunities to accelerate: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kumimoji="1" lang="en-US" sz="1600" dirty="0">
                <a:solidFill>
                  <a:schemeClr val="tx1"/>
                </a:solidFill>
              </a:rPr>
              <a:t>IP dev start in 2026 with priority over U3B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kumimoji="1" lang="en-US" sz="1600" dirty="0">
                <a:solidFill>
                  <a:schemeClr val="tx1"/>
                </a:solidFill>
              </a:rPr>
              <a:t>Parallelized SOC and IP </a:t>
            </a:r>
            <a:r>
              <a:rPr kumimoji="1" lang="en-US" sz="1600" dirty="0" err="1">
                <a:solidFill>
                  <a:schemeClr val="tx1"/>
                </a:solidFill>
              </a:rPr>
              <a:t>devt</a:t>
            </a:r>
            <a:r>
              <a:rPr kumimoji="1" lang="en-US" sz="1600" dirty="0">
                <a:solidFill>
                  <a:schemeClr val="tx1"/>
                </a:solidFill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kumimoji="1" lang="en-US" sz="1600" dirty="0">
                <a:solidFill>
                  <a:schemeClr val="tx1"/>
                </a:solidFill>
              </a:rPr>
              <a:t>Target schedule- WS 2028, MP 2029 -&gt; support OEM SOP 2031+ 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dirty="0">
              <a:solidFill>
                <a:srgbClr val="3C3C3B"/>
              </a:solidFill>
              <a:latin typeface="Google Sans"/>
              <a:ea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77192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8D4DA-9B17-7F98-BA25-67A6486DD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FE57D-6B06-5908-4D1C-E415E843A0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964065"/>
          </a:xfrm>
        </p:spPr>
        <p:txBody>
          <a:bodyPr/>
          <a:lstStyle/>
          <a:p>
            <a:r>
              <a:rPr lang="en-US"/>
              <a:t>Pricing / Device cost / GM%</a:t>
            </a:r>
          </a:p>
        </p:txBody>
      </p:sp>
    </p:spTree>
    <p:extLst>
      <p:ext uri="{BB962C8B-B14F-4D97-AF65-F5344CB8AC3E}">
        <p14:creationId xmlns:p14="http://schemas.microsoft.com/office/powerpoint/2010/main" val="3332874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DDB7-D80F-768B-6B76-D91B8D5DB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F2A5-2684-147C-0846-9E52F8C8D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192802"/>
            <a:ext cx="11244575" cy="775597"/>
          </a:xfrm>
        </p:spPr>
        <p:txBody>
          <a:bodyPr/>
          <a:lstStyle/>
          <a:p>
            <a:r>
              <a:rPr lang="en-US"/>
              <a:t>Competitive market pricing analysis</a:t>
            </a:r>
            <a:br>
              <a:rPr lang="en-US"/>
            </a:br>
            <a:r>
              <a:rPr lang="en-US" sz="2400"/>
              <a:t> Economic Value Estimation (EVE)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7904-28E3-48CC-1708-B7BB53106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5101841"/>
            <a:ext cx="11244574" cy="1064394"/>
          </a:xfrm>
        </p:spPr>
        <p:txBody>
          <a:bodyPr/>
          <a:lstStyle/>
          <a:p>
            <a:r>
              <a:rPr lang="en-US" b="1"/>
              <a:t>Same pricing methodology applied across major competitors for each device U5H24/16/10</a:t>
            </a:r>
          </a:p>
          <a:p>
            <a:r>
              <a:rPr lang="en-US">
                <a:hlinkClick r:id="rId2"/>
              </a:rPr>
              <a:t>Economic_Valuation_Estimation_U5H.xlsx</a:t>
            </a:r>
            <a:endParaRPr lang="en-US"/>
          </a:p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07B95C-2B6D-7733-A502-1D0BA9379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2192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 panose="020B0604020202020204" pitchFamily="34" charset="0"/>
              <a:ea typeface="メイリオ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 panose="020B0604020202020204" pitchFamily="34" charset="0"/>
              <a:ea typeface="メイリオ"/>
              <a:cs typeface="+mn-cs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9A0B68DA-165C-1267-65EF-A9305D258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81549" y="1052736"/>
            <a:ext cx="5209149" cy="352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20F0277-BB22-2D88-4227-29758496FC2E}"/>
              </a:ext>
            </a:extLst>
          </p:cNvPr>
          <p:cNvGraphicFramePr>
            <a:graphicFrameLocks noGrp="1"/>
          </p:cNvGraphicFramePr>
          <p:nvPr/>
        </p:nvGraphicFramePr>
        <p:xfrm>
          <a:off x="467999" y="1326797"/>
          <a:ext cx="5470788" cy="3247510"/>
        </p:xfrm>
        <a:graphic>
          <a:graphicData uri="http://schemas.openxmlformats.org/drawingml/2006/table">
            <a:tbl>
              <a:tblPr/>
              <a:tblGrid>
                <a:gridCol w="1020423">
                  <a:extLst>
                    <a:ext uri="{9D8B030D-6E8A-4147-A177-3AD203B41FA5}">
                      <a16:colId xmlns:a16="http://schemas.microsoft.com/office/drawing/2014/main" val="143921642"/>
                    </a:ext>
                  </a:extLst>
                </a:gridCol>
                <a:gridCol w="1255231">
                  <a:extLst>
                    <a:ext uri="{9D8B030D-6E8A-4147-A177-3AD203B41FA5}">
                      <a16:colId xmlns:a16="http://schemas.microsoft.com/office/drawing/2014/main" val="1917081661"/>
                    </a:ext>
                  </a:extLst>
                </a:gridCol>
                <a:gridCol w="860228">
                  <a:extLst>
                    <a:ext uri="{9D8B030D-6E8A-4147-A177-3AD203B41FA5}">
                      <a16:colId xmlns:a16="http://schemas.microsoft.com/office/drawing/2014/main" val="373294409"/>
                    </a:ext>
                  </a:extLst>
                </a:gridCol>
                <a:gridCol w="860228">
                  <a:extLst>
                    <a:ext uri="{9D8B030D-6E8A-4147-A177-3AD203B41FA5}">
                      <a16:colId xmlns:a16="http://schemas.microsoft.com/office/drawing/2014/main" val="3348495634"/>
                    </a:ext>
                  </a:extLst>
                </a:gridCol>
                <a:gridCol w="1474678">
                  <a:extLst>
                    <a:ext uri="{9D8B030D-6E8A-4147-A177-3AD203B41FA5}">
                      <a16:colId xmlns:a16="http://schemas.microsoft.com/office/drawing/2014/main" val="755556964"/>
                    </a:ext>
                  </a:extLst>
                </a:gridCol>
              </a:tblGrid>
              <a:tr h="2561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Step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Take Rate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BOM Value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Notes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664638"/>
                  </a:ext>
                </a:extLst>
              </a:tr>
              <a:tr h="3298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AURIX </a:t>
                      </a:r>
                      <a:b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TC4Z BGA436 (24M)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$13.95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$15.50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2028 price, degraded 10% for 2032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849663"/>
                  </a:ext>
                </a:extLst>
              </a:tr>
              <a:tr h="3298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Audio PLL / Samp Rt Conv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$-  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$-  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Now supported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400813"/>
                  </a:ext>
                </a:extLst>
              </a:tr>
              <a:tr h="321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Single Voltage Supply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$-0.25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$-0.50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EVR on TC4Z reqs only 5V, not 3.3+5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500914"/>
                  </a:ext>
                </a:extLst>
              </a:tr>
              <a:tr h="6436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Performance/ Flexibility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$0.25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$0.50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6+6 Tricore at 500Mhz (no splitlock) vs 5+5 R52 at 600Mhz- similar ASIL-D DMIPs- advantage to REN in flexibility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732811"/>
                  </a:ext>
                </a:extLst>
              </a:tr>
              <a:tr h="1882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$0.38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$0.50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1M adtl SRAM  (8M vs 7M)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302680"/>
                  </a:ext>
                </a:extLst>
              </a:tr>
              <a:tr h="1882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Eth Switch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$1.50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$2.00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Switch on TC4z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314450"/>
                  </a:ext>
                </a:extLst>
              </a:tr>
              <a:tr h="1882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 extra IO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$0.20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$0.40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436 pin package vs 516 BGA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507692"/>
                  </a:ext>
                </a:extLst>
              </a:tr>
              <a:tr h="1882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Estimated Value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$16.03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81" marR="4681" marT="4681" marB="22471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81" marR="4681" marT="4681" marB="2247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112330"/>
                  </a:ext>
                </a:extLst>
              </a:tr>
              <a:tr h="6130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Target price vs IFX (Shared value to overcome switching costs)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$14.99 </a:t>
                      </a: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81" marR="4681" marT="4681" marB="22471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81" marR="4681" marT="4681" marB="2247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81" marR="4681" marT="4681" marB="2247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890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397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DD62-9D3B-04FE-CC64-3B8CCF3C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Price/Cost/Margin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4BAC1-0DA9-71EA-AFD0-8BD69CE79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97443"/>
          </a:xfrm>
        </p:spPr>
        <p:txBody>
          <a:bodyPr/>
          <a:lstStyle/>
          <a:p>
            <a:r>
              <a:rPr lang="en-US" b="1" dirty="0"/>
              <a:t>Revised cost model delivered 14MAY – rev 11</a:t>
            </a:r>
          </a:p>
          <a:p>
            <a:r>
              <a:rPr kumimoji="0" lang="en-US" altLang="en-US" dirty="0">
                <a:latin typeface="Arial" panose="020B0604020202020204" pitchFamily="34" charset="0"/>
                <a:hlinkClick r:id="rId2"/>
              </a:rPr>
              <a:t>cogs_U5Hx_for_internal_case_study_r11.xlsx</a:t>
            </a:r>
            <a:endParaRPr kumimoji="0" lang="en-US" altLang="en-US" dirty="0">
              <a:latin typeface="Arial" panose="020B0604020202020204" pitchFamily="34" charset="0"/>
            </a:endParaRPr>
          </a:p>
          <a:p>
            <a:endParaRPr lang="en-US" b="1" dirty="0"/>
          </a:p>
          <a:p>
            <a:r>
              <a:rPr lang="en-US" b="1" dirty="0"/>
              <a:t>GM% Estimates </a:t>
            </a:r>
          </a:p>
          <a:p>
            <a:endParaRPr lang="en-US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B775C8-7A77-944C-1B86-A8E0F96DF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2192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523ABC4-7B9A-3DFB-B236-369F92E22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007804"/>
              </p:ext>
            </p:extLst>
          </p:nvPr>
        </p:nvGraphicFramePr>
        <p:xfrm>
          <a:off x="479426" y="3022918"/>
          <a:ext cx="3606800" cy="1633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1603">
                  <a:extLst>
                    <a:ext uri="{9D8B030D-6E8A-4147-A177-3AD203B41FA5}">
                      <a16:colId xmlns:a16="http://schemas.microsoft.com/office/drawing/2014/main" val="3204487044"/>
                    </a:ext>
                  </a:extLst>
                </a:gridCol>
                <a:gridCol w="1653648">
                  <a:extLst>
                    <a:ext uri="{9D8B030D-6E8A-4147-A177-3AD203B41FA5}">
                      <a16:colId xmlns:a16="http://schemas.microsoft.com/office/drawing/2014/main" val="1034869004"/>
                    </a:ext>
                  </a:extLst>
                </a:gridCol>
                <a:gridCol w="1121549">
                  <a:extLst>
                    <a:ext uri="{9D8B030D-6E8A-4147-A177-3AD203B41FA5}">
                      <a16:colId xmlns:a16="http://schemas.microsoft.com/office/drawing/2014/main" val="2375161326"/>
                    </a:ext>
                  </a:extLst>
                </a:gridCol>
              </a:tblGrid>
              <a:tr h="184150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Rev 11 Cost Model GM Est 14May2026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88202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EVE Mkt pricing ~2032 (yen)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GM % (Rev 11 Cost)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03184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U5H24_476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47.0%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613082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U5H24_292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44.1%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326214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U5H16_476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36.2%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864547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U5H16_292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55686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U5H10_476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739285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U5H10_292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35.3%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4172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606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A1DE-4F32-2D27-D6FF-466B2228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8BF9B-6723-84F0-22E9-D295A166E0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964065"/>
          </a:xfrm>
        </p:spPr>
        <p:txBody>
          <a:bodyPr/>
          <a:lstStyle/>
          <a:p>
            <a:r>
              <a:rPr lang="en-US"/>
              <a:t>Next steps / remaining challenges</a:t>
            </a:r>
          </a:p>
        </p:txBody>
      </p:sp>
    </p:spTree>
    <p:extLst>
      <p:ext uri="{BB962C8B-B14F-4D97-AF65-F5344CB8AC3E}">
        <p14:creationId xmlns:p14="http://schemas.microsoft.com/office/powerpoint/2010/main" val="883945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4118-5156-E720-7AB8-E5B82845D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609538"/>
            <a:ext cx="11244575" cy="443198"/>
          </a:xfrm>
        </p:spPr>
        <p:txBody>
          <a:bodyPr/>
          <a:lstStyle/>
          <a:p>
            <a:r>
              <a:rPr lang="en-US"/>
              <a:t>U5H Next steps / remaining 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8B858-0DD6-F7FD-51E4-B9C12AC87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4431983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/>
              <a:t>Technical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/>
              <a:t>Conclude on GF 22FDX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/>
              <a:t>Assess impact of Neon and Ethos U55 integration on cost/power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/>
              <a:t>Confirm </a:t>
            </a:r>
            <a:r>
              <a:rPr lang="en-US" err="1"/>
              <a:t>Wirebond</a:t>
            </a:r>
            <a:r>
              <a:rPr lang="en-US"/>
              <a:t> BGA Feasibility = no FC Package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/>
              <a:t>Audio PLL + SRC integration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/>
              <a:t>Product Family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/>
              <a:t>Continue evaluation of family extensions: &lt;10M for low end IO Aggregators, &gt;24M for large domain controllers</a:t>
            </a:r>
          </a:p>
          <a:p>
            <a:pPr marL="520700" lvl="1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/>
              <a:t>Higher pin count option at 10M</a:t>
            </a:r>
          </a:p>
          <a:p>
            <a:pPr marL="520700" lvl="1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/>
              <a:t>Consider 32M with additional SRAM (12M) for ADAS SOC Level 3+ interface MCU –12M (Nvidia)</a:t>
            </a:r>
          </a:p>
          <a:p>
            <a:pPr marL="520700" lvl="1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/>
              <a:t>Evaluation of XEV Extension (Inverter/BMS supported, extension for DC-DC/OBC)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/>
              <a:t>Decision on RISC-V adoption 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/>
              <a:t>Pre-silicon VDK offering – requires initial version of Target Specification (TS)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/>
              <a:t>Cost/Schedule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en-US"/>
              <a:t>Cost optimization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en-US"/>
              <a:t>Schedule acceleration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/>
              <a:t>Customer engagement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en-US"/>
              <a:t>Promote updated spec solicit final inputs before DCP</a:t>
            </a:r>
          </a:p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en-US"/>
              <a:t>Must share updated target schedule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EB7939-A033-29D5-FC2E-F91B8D3A2C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9700" y="6510338"/>
            <a:ext cx="622300" cy="21907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06418C"/>
                </a:solidFill>
                <a:effectLst/>
                <a:uLnTx/>
                <a:uFillTx/>
                <a:latin typeface="Arial Narrow"/>
                <a:ea typeface="メイリオ"/>
                <a:cs typeface="+mn-cs"/>
              </a:rPr>
              <a:t>Page </a:t>
            </a:r>
            <a:fld id="{7CABC4B2-2886-4E0A-AABC-EDE495E6497B}" type="slidenum">
              <a:rPr kumimoji="0" lang="ja-JP" altLang="en-US" sz="1050" b="1" i="0" u="none" strike="noStrike" kern="1200" cap="none" spc="0" normalizeH="0" baseline="0" noProof="0" smtClean="0">
                <a:ln>
                  <a:noFill/>
                </a:ln>
                <a:solidFill>
                  <a:srgbClr val="06418C"/>
                </a:solidFill>
                <a:effectLst/>
                <a:uLnTx/>
                <a:uFillTx/>
                <a:latin typeface="Arial Narrow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06418C"/>
              </a:solidFill>
              <a:effectLst/>
              <a:uLnTx/>
              <a:uFillTx/>
              <a:latin typeface="Arial Narrow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441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FBC0-9E28-4A64-5674-15E6681D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Items captured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A58C5-5816-4B4D-C219-AE2A66222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60509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Deliver spec table to design team to enable schedule estimation by end of May prior to Strategy Meeting 8JUN (Juergen)</a:t>
            </a:r>
          </a:p>
          <a:p>
            <a:pPr marL="342900" indent="-342900">
              <a:buAutoNum type="arabicPeriod"/>
            </a:pPr>
            <a:r>
              <a:rPr lang="en-US" dirty="0"/>
              <a:t>Design team to communicate input needed to build estimated schedule (Abhijeet)</a:t>
            </a:r>
          </a:p>
          <a:p>
            <a:pPr marL="342900" indent="-342900">
              <a:buAutoNum type="arabicPeriod"/>
            </a:pPr>
            <a:r>
              <a:rPr lang="en-US" dirty="0"/>
              <a:t>Engage IP team for schedule input- deliver SRD completion schedule (Srikar)</a:t>
            </a:r>
          </a:p>
          <a:p>
            <a:pPr marL="520700" lvl="1" indent="-342900">
              <a:buFont typeface="Arial" panose="020B0604020202020204" pitchFamily="34" charset="0"/>
              <a:buAutoNum type="arabicPeriod"/>
            </a:pPr>
            <a:r>
              <a:rPr lang="en-US" dirty="0"/>
              <a:t>Aim to enable priority discussion at Strategy meeting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689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5F9A-69F4-7621-7667-938EC7CB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F089-405A-6A66-5422-F43A292D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94" y="471566"/>
            <a:ext cx="11061753" cy="443198"/>
          </a:xfrm>
        </p:spPr>
        <p:txBody>
          <a:bodyPr/>
          <a:lstStyle/>
          <a:p>
            <a:r>
              <a:rPr lang="en-US"/>
              <a:t>R-Car U5H Family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66FE39-DFC7-5A08-A66E-CD5026311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6418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Page </a:t>
            </a:r>
            <a:fld id="{7CABC4B2-2886-4E0A-AABC-EDE495E6497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6418C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6418C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73B909-B750-D6EE-A3D0-B5526F3E4204}"/>
              </a:ext>
            </a:extLst>
          </p:cNvPr>
          <p:cNvSpPr txBox="1"/>
          <p:nvPr/>
        </p:nvSpPr>
        <p:spPr>
          <a:xfrm>
            <a:off x="436095" y="1033454"/>
            <a:ext cx="11319807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U5H delivers Best‑in‑class perf, connectivity, and system efficiency — minimizes SW complexity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9E086-4529-6C4A-CE84-3F3BE00EFA8E}"/>
              </a:ext>
            </a:extLst>
          </p:cNvPr>
          <p:cNvSpPr txBox="1"/>
          <p:nvPr/>
        </p:nvSpPr>
        <p:spPr>
          <a:xfrm>
            <a:off x="457092" y="1545820"/>
            <a:ext cx="4841052" cy="33855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Target Applications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E838E546-407F-2B65-AD3E-0490BC85279B}"/>
              </a:ext>
            </a:extLst>
          </p:cNvPr>
          <p:cNvSpPr txBox="1">
            <a:spLocks/>
          </p:cNvSpPr>
          <p:nvPr/>
        </p:nvSpPr>
        <p:spPr>
          <a:xfrm>
            <a:off x="457091" y="1919974"/>
            <a:ext cx="4841053" cy="126188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fontAlgn="t">
              <a:lnSpc>
                <a:spcPts val="1500"/>
              </a:lnSpc>
              <a:buNone/>
              <a:defRPr sz="1400" b="1"/>
            </a:lvl1pPr>
            <a:lvl2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  <a:defRPr sz="1200"/>
            </a:lvl2pPr>
            <a:lvl3pPr marL="355600" lvl="2" indent="-177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200">
                <a:latin typeface="Google Sans"/>
              </a:defRPr>
            </a:lvl3pPr>
            <a:lvl4pPr marL="539750" indent="-18415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/>
            </a:lvl4pPr>
            <a:lvl5pPr marL="719138" indent="-179388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000"/>
            </a:lvl9pPr>
          </a:lstStyle>
          <a:p>
            <a:pPr marL="355600" marR="0" lvl="2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Zone Controllers</a:t>
            </a:r>
          </a:p>
          <a:p>
            <a:pPr marL="355600" marR="0" lvl="2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IO Aggregators</a:t>
            </a:r>
          </a:p>
          <a:p>
            <a:pPr marL="355600" marR="0" lvl="2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Domain Controllers</a:t>
            </a:r>
          </a:p>
          <a:p>
            <a:pPr marL="355600" marR="0" lvl="2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Central Body Controllers &amp; Gateway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4C8B79A-2CDC-123C-B081-EEC8BB7507FB}"/>
              </a:ext>
            </a:extLst>
          </p:cNvPr>
          <p:cNvSpPr txBox="1">
            <a:spLocks/>
          </p:cNvSpPr>
          <p:nvPr/>
        </p:nvSpPr>
        <p:spPr>
          <a:xfrm>
            <a:off x="446592" y="3621466"/>
            <a:ext cx="4851552" cy="271497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fontAlgn="t">
              <a:lnSpc>
                <a:spcPts val="1500"/>
              </a:lnSpc>
              <a:buNone/>
              <a:defRPr sz="1400" b="1"/>
            </a:lvl1pPr>
            <a:lvl2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  <a:defRPr sz="1200"/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ARM 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Cortex-R52+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</a:t>
            </a:r>
            <a:r>
              <a:rPr kumimoji="1" lang="en-US" altLang="ja-JP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up to (5+5 -&gt; 8+2) @ </a:t>
            </a:r>
            <a:r>
              <a:rPr kumimoji="1" lang="en-US" altLang="ja-JP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600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MHz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Edge AI Support: Up to 38 GFOPS (SIMD) + 150 GOPS (U55)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NVM: 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10-24 MB Flash 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/ up to 7 MB RAM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3 x 2.5 Gb </a:t>
            </a:r>
            <a:r>
              <a:rPr kumimoji="1" lang="en-US" altLang="ja-JP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Eth Switch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, 10BT1S, CAN FD/XL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Routing &amp; Tunneling Accelerators (TUBE)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Security: EVITA Full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, ISO21434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, 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HW </a:t>
            </a:r>
            <a:r>
              <a:rPr kumimoji="1" lang="en-US" altLang="zh-CN" sz="1300" b="1" i="0" u="none" strike="noStrike" kern="1200" cap="none" spc="0" normalizeH="0" baseline="0" noProof="0" err="1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MACSec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,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</a:t>
            </a:r>
            <a:r>
              <a:rPr kumimoji="1" lang="en-US" altLang="zh-CN" sz="1300" b="0" i="0" u="none" strike="noStrike" kern="1200" cap="none" spc="0" normalizeH="0" baseline="0" noProof="0" err="1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SecOC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Safety: 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ISO26262</a:t>
            </a: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 up to </a:t>
            </a:r>
            <a:r>
              <a:rPr kumimoji="1" lang="en-US" altLang="zh-CN" sz="13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ASIL-D</a:t>
            </a:r>
          </a:p>
          <a:p>
            <a:pPr marL="355600" marR="0" lvl="2" indent="-1778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6418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Google Sans"/>
                <a:ea typeface="メイリオ"/>
                <a:cs typeface="+mn-cs"/>
              </a:rPr>
              <a:t>Pin Packages: BGA292 and BGA476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EEF93-E7EF-1AB9-19C1-8447144F6C8F}"/>
              </a:ext>
            </a:extLst>
          </p:cNvPr>
          <p:cNvSpPr txBox="1"/>
          <p:nvPr/>
        </p:nvSpPr>
        <p:spPr>
          <a:xfrm>
            <a:off x="457091" y="3294726"/>
            <a:ext cx="4841053" cy="33855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Key Features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6F8FD-4411-2F89-7E3A-80D91543F1B5}"/>
              </a:ext>
            </a:extLst>
          </p:cNvPr>
          <p:cNvSpPr txBox="1"/>
          <p:nvPr/>
        </p:nvSpPr>
        <p:spPr>
          <a:xfrm>
            <a:off x="5348254" y="4175349"/>
            <a:ext cx="6407648" cy="33855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Benefits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404D3C-61BE-C307-00DC-FB2DE6D00FE1}"/>
              </a:ext>
            </a:extLst>
          </p:cNvPr>
          <p:cNvSpPr txBox="1"/>
          <p:nvPr/>
        </p:nvSpPr>
        <p:spPr>
          <a:xfrm>
            <a:off x="5348254" y="4596010"/>
            <a:ext cx="6407648" cy="171588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🔹High Performance with Split-lock Flexibly, FFI &amp; QoS: </a:t>
            </a:r>
          </a:p>
          <a:p>
            <a:pPr marL="628650" marR="0" lvl="1" indent="-1714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R52+ w/ Hypervisor support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🔹Built for Future E/E Networking: </a:t>
            </a:r>
          </a:p>
          <a:p>
            <a:pPr marL="628650" marR="0" lvl="1" indent="-1714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2.5Gb ETH, switch, MACSec, HW IEEE1722 tunneling, lower latency comms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🔹MRAM = Faster, Safer, Lower Power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Higher endurance, Faster updates, Better power efficiency</a:t>
            </a:r>
          </a:p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🔹Reduce BOM &amp; External ICs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  <a:p>
            <a:pPr marL="742950" marR="0" lvl="1" indent="-28575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High I/O count, 5V Support, Built‑in switch, Fewer expanders, fewer PHYs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0B543B-B4D8-3E33-23B6-EDBD37BDDB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123" y="1587217"/>
            <a:ext cx="6314779" cy="244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69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E8516-750C-915E-42AE-9B7A9F225A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1909606"/>
      </p:ext>
    </p:extLst>
  </p:cSld>
  <p:clrMapOvr>
    <a:masterClrMapping/>
  </p:clrMapOvr>
</p:sld>
</file>

<file path=ppt/theme/theme1.xml><?xml version="1.0" encoding="utf-8"?>
<a:theme xmlns:a="http://schemas.openxmlformats.org/drawingml/2006/main" name="Renesas Template 2022 - EN Confidential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FEA893EC-425D-4E51-94A6-0D6C423C55FD}" vid="{FF1C85DF-31A8-4994-B170-77A51C474603}"/>
    </a:ext>
  </a:extLst>
</a:theme>
</file>

<file path=ppt/theme/theme2.xml><?xml version="1.0" encoding="utf-8"?>
<a:theme xmlns:a="http://schemas.openxmlformats.org/drawingml/2006/main" name="renesas">
  <a:themeElements>
    <a:clrScheme name="Renesas配色パターン_2021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4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enesas Template 2022 - EN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A3D7036F-B2AD-4D23-BAAA-560B6A979CAD}" vid="{1AF16DA1-43FC-4928-B993-6E7388B52353}"/>
    </a:ext>
  </a:extLst>
</a:theme>
</file>

<file path=ppt/theme/theme4.xml><?xml version="1.0" encoding="utf-8"?>
<a:theme xmlns:a="http://schemas.openxmlformats.org/drawingml/2006/main" name="1_Renesas Template 2022 - EN Confidential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C53E3A13-6E23-49DB-A1B8-233744E45585}" vid="{ACB8AE75-90B4-4A8B-9C95-A45567A1CEC8}"/>
    </a:ext>
  </a:extLst>
</a:theme>
</file>

<file path=ppt/theme/theme5.xml><?xml version="1.0" encoding="utf-8"?>
<a:theme xmlns:a="http://schemas.openxmlformats.org/drawingml/2006/main" name="2_Renesas Template 2022 - EN Confidential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FEA893EC-425D-4E51-94A6-0D6C423C55FD}" vid="{FF1C85DF-31A8-4994-B170-77A51C474603}"/>
    </a:ext>
  </a:extLst>
</a:theme>
</file>

<file path=ppt/theme/theme6.xml><?xml version="1.0" encoding="utf-8"?>
<a:theme xmlns:a="http://schemas.openxmlformats.org/drawingml/2006/main" name="1_renesas">
  <a:themeElements>
    <a:clrScheme name="Renesas配色パターン_2021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5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3_Renesas Template 2022 - EN Confidential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FEA893EC-425D-4E51-94A6-0D6C423C55FD}" vid="{FF1C85DF-31A8-4994-B170-77A51C474603}"/>
    </a:ext>
  </a:extLst>
</a:theme>
</file>

<file path=ppt/theme/theme8.xml><?xml version="1.0" encoding="utf-8"?>
<a:theme xmlns:a="http://schemas.openxmlformats.org/drawingml/2006/main" name="4_Renesas Template 2022 - EN Confidential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FEA893EC-425D-4E51-94A6-0D6C423C55FD}" vid="{FF1C85DF-31A8-4994-B170-77A51C474603}"/>
    </a:ext>
  </a:extLst>
</a:theme>
</file>

<file path=ppt/theme/theme9.xml><?xml version="1.0" encoding="utf-8"?>
<a:theme xmlns:a="http://schemas.openxmlformats.org/drawingml/2006/main" name="Renesas Template 2026 - EN Confidential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D09D8994-F767-426F-BF4B-7C54BC02A9FE}" vid="{420BBB18-4DEC-42F0-8B27-DA64B73FF337}"/>
    </a:ext>
  </a:extLst>
</a:theme>
</file>

<file path=ppt/theme/theme10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e632a-4d9a-48c6-8c5a-07487651c665">
      <Terms xmlns="http://schemas.microsoft.com/office/infopath/2007/PartnerControls"/>
    </lcf76f155ced4ddcb4097134ff3c332f>
    <TaxCatchAll xmlns="d91799eb-a946-44fc-af70-6ce843751025" xsi:nil="true"/>
    <Date xmlns="dd5e632a-4d9a-48c6-8c5a-07487651c665" xsi:nil="true"/>
    <Time xmlns="dd5e632a-4d9a-48c6-8c5a-07487651c665" xsi:nil="true"/>
    <Status1 xmlns="dd5e632a-4d9a-48c6-8c5a-07487651c665">Working</Status1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CCB7ADB1B5584D85D6AE8084B2256F" ma:contentTypeVersion="17" ma:contentTypeDescription="Create a new document." ma:contentTypeScope="" ma:versionID="a4633c73ab1146aca16fdf23cb97174f">
  <xsd:schema xmlns:xsd="http://www.w3.org/2001/XMLSchema" xmlns:xs="http://www.w3.org/2001/XMLSchema" xmlns:p="http://schemas.microsoft.com/office/2006/metadata/properties" xmlns:ns2="dd5e632a-4d9a-48c6-8c5a-07487651c665" xmlns:ns3="d91799eb-a946-44fc-af70-6ce843751025" targetNamespace="http://schemas.microsoft.com/office/2006/metadata/properties" ma:root="true" ma:fieldsID="07a9eec0e6a53b39c51cb75755c43164" ns2:_="" ns3:_="">
    <xsd:import namespace="dd5e632a-4d9a-48c6-8c5a-07487651c665"/>
    <xsd:import namespace="d91799eb-a946-44fc-af70-6ce8437510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Status1" minOccurs="0"/>
                <xsd:element ref="ns2:MediaServiceBillingMetadata" minOccurs="0"/>
                <xsd:element ref="ns2:Date" minOccurs="0"/>
                <xsd:element ref="ns2: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e632a-4d9a-48c6-8c5a-07487651c6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31f0850-98f7-4372-8aa8-4aaf7edce8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1" ma:index="21" nillable="true" ma:displayName="Status1" ma:default="Working" ma:description="Working" ma:format="Dropdown" ma:internalName="Status1">
      <xsd:simpleType>
        <xsd:restriction base="dms:Text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Date" ma:index="23" nillable="true" ma:displayName="Date" ma:format="DateOnly" ma:internalName="Date">
      <xsd:simpleType>
        <xsd:restriction base="dms:DateTime"/>
      </xsd:simpleType>
    </xsd:element>
    <xsd:element name="Time" ma:index="24" nillable="true" ma:displayName="Time" ma:format="DateTime" ma:internalName="Tim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1799eb-a946-44fc-af70-6ce8437510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663b36f-ac21-4e84-9196-a52264017ed6}" ma:internalName="TaxCatchAll" ma:showField="CatchAllData" ma:web="d91799eb-a946-44fc-af70-6ce8437510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71853E-0EF3-4973-AB23-17AA5798BB66}">
  <ds:schemaRefs>
    <ds:schemaRef ds:uri="http://purl.org/dc/terms/"/>
    <ds:schemaRef ds:uri="d91799eb-a946-44fc-af70-6ce843751025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dd5e632a-4d9a-48c6-8c5a-07487651c665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D0C6047-66F2-4CD4-8A47-92B429FBD4DC}">
  <ds:schemaRefs>
    <ds:schemaRef ds:uri="d91799eb-a946-44fc-af70-6ce843751025"/>
    <ds:schemaRef ds:uri="dd5e632a-4d9a-48c6-8c5a-07487651c66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F3BE601-7F02-4240-9AF6-86A6A55D9AE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3d82571-da19-47e4-9cb4-625a166a4a2a}" enabled="0" method="" siteId="{53d82571-da19-47e4-9cb4-625a166a4a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EN_conf_2025_Renesas_PPTtemp</Template>
  <TotalTime>4</TotalTime>
  <Words>3946</Words>
  <Application>Microsoft Office PowerPoint</Application>
  <PresentationFormat>ワイド画面</PresentationFormat>
  <Paragraphs>1299</Paragraphs>
  <Slides>28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9</vt:i4>
      </vt:variant>
      <vt:variant>
        <vt:lpstr>スライド タイトル</vt:lpstr>
      </vt:variant>
      <vt:variant>
        <vt:i4>28</vt:i4>
      </vt:variant>
    </vt:vector>
  </HeadingPairs>
  <TitlesOfParts>
    <vt:vector size="50" baseType="lpstr">
      <vt:lpstr>Google Sans</vt:lpstr>
      <vt:lpstr>Meiryo UI</vt:lpstr>
      <vt:lpstr>Meiryo</vt:lpstr>
      <vt:lpstr>Meiryo</vt:lpstr>
      <vt:lpstr>游ゴシック</vt:lpstr>
      <vt:lpstr>Aptos Narrow</vt:lpstr>
      <vt:lpstr>Arial</vt:lpstr>
      <vt:lpstr>Arial Narrow</vt:lpstr>
      <vt:lpstr>Calibri</vt:lpstr>
      <vt:lpstr>Segoe UI</vt:lpstr>
      <vt:lpstr>Symbol</vt:lpstr>
      <vt:lpstr>Verdana</vt:lpstr>
      <vt:lpstr>Wingdings</vt:lpstr>
      <vt:lpstr>Renesas Template 2022 - EN Confidential</vt:lpstr>
      <vt:lpstr>renesas</vt:lpstr>
      <vt:lpstr>Renesas Template 2022 - EN</vt:lpstr>
      <vt:lpstr>1_Renesas Template 2022 - EN Confidential</vt:lpstr>
      <vt:lpstr>2_Renesas Template 2022 - EN Confidential</vt:lpstr>
      <vt:lpstr>1_renesas</vt:lpstr>
      <vt:lpstr>3_Renesas Template 2022 - EN Confidential</vt:lpstr>
      <vt:lpstr>4_Renesas Template 2022 - EN Confidential</vt:lpstr>
      <vt:lpstr>Renesas Template 2026 - EN Confidential</vt:lpstr>
      <vt:lpstr>PowerPoint プレゼンテーション</vt:lpstr>
      <vt:lpstr>OBEYA Final Readout Agenda</vt:lpstr>
      <vt:lpstr>U5Hx Obeya- original Mission</vt:lpstr>
      <vt:lpstr>PowerPoint プレゼンテーション</vt:lpstr>
      <vt:lpstr>Renesas R-Car U5x ARM-based family covering New E/E Architecture</vt:lpstr>
      <vt:lpstr>Top-down TAM and LTV analysis </vt:lpstr>
      <vt:lpstr>Global Heatmap and Bottom-up SAM</vt:lpstr>
      <vt:lpstr>Type of Zonal Integration Conceptual view (2029+)</vt:lpstr>
      <vt:lpstr>Type of Zonal Integration Conceptual view (2029+)</vt:lpstr>
      <vt:lpstr>R-Car U5H Family </vt:lpstr>
      <vt:lpstr>PowerPoint プレゼンテーション</vt:lpstr>
      <vt:lpstr>U5H Family  The most balanced high-performance zone controller mcu  </vt:lpstr>
      <vt:lpstr>PowerPoint プレゼンテーション</vt:lpstr>
      <vt:lpstr>U5H - Before/After Obeya spec</vt:lpstr>
      <vt:lpstr>U5H Family Concept- Obeya Updates </vt:lpstr>
      <vt:lpstr>U5H Family Concept-Rationale </vt:lpstr>
      <vt:lpstr>PowerPoint プレゼンテーション</vt:lpstr>
      <vt:lpstr>New IP required for U5H</vt:lpstr>
      <vt:lpstr>PowerPoint プレゼンテーション</vt:lpstr>
      <vt:lpstr>U5H High Level Schedule</vt:lpstr>
      <vt:lpstr>PowerPoint プレゼンテーション</vt:lpstr>
      <vt:lpstr>Competitive market pricing analysis  Economic Value Estimation (EVE)</vt:lpstr>
      <vt:lpstr>Price/Cost/Margin Estimates</vt:lpstr>
      <vt:lpstr>PowerPoint プレゼンテーション</vt:lpstr>
      <vt:lpstr>U5H Next steps / remaining challenges</vt:lpstr>
      <vt:lpstr>Action Items captured</vt:lpstr>
      <vt:lpstr>R-Car U5H Family 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Sarrat</dc:creator>
  <cp:lastModifiedBy>Tomokazu Ishida</cp:lastModifiedBy>
  <cp:revision>2</cp:revision>
  <dcterms:created xsi:type="dcterms:W3CDTF">2025-10-01T13:22:00Z</dcterms:created>
  <dcterms:modified xsi:type="dcterms:W3CDTF">2026-06-05T09:12:23Z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0x010100BBCCB7ADB1B5584D85D6AE8084B2256F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MediaServiceImageTags">
    <vt:lpwstr/>
  </property>
</Properties>
</file>